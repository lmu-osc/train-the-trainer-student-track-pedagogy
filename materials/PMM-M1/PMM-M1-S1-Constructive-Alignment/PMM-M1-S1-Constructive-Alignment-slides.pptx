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notesMaster" Target="notesMasters/notesMaster1.xml" /><Relationship Id="rId75" Type="http://schemas.openxmlformats.org/officeDocument/2006/relationships/viewProps" Target="viewProps.xml" /><Relationship Id="rId74" Type="http://schemas.openxmlformats.org/officeDocument/2006/relationships/presProps" Target="presProps.xml" /><Relationship Id="rId1" Type="http://schemas.openxmlformats.org/officeDocument/2006/relationships/slideMaster" Target="slideMasters/slideMaster1.xml" /><Relationship Id="rId77" Type="http://schemas.openxmlformats.org/officeDocument/2006/relationships/tableStyles" Target="tableStyles.xml" /><Relationship Id="rId7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teaching experience they have.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they think about didactics.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the audiences are they already train or teach. For online participants: Ask them to indicate their target audience size on the screen. Pick out two different people to discuss their repsectie target audiences.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of interactive white board/ interactive document.  Collect interactively: Which factors were important for your learnng process during your lest workshop/seminar/course? When do you learn worst?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what this could mean for the audience concretely. Call out specific names of audience members.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Example: Learning objective = conducting an anamnestic interview with a patient. Teaching activites = role plays. Assessment task = Anamnestic interview with fake/real patient.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Pick a learning goal from previous examples or collect learning goals interactively. Examine learning goals more closely in the group and discuss what could be a suitable learning goal and why/why not. Focus on what verbs are being used.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do you think are key aspects of a positive attitude towards your audience? Collect on papers and then try to sort into verbally, body language and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examples for each one of the bullet points and what they could mean - add to the existing papers.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Interactively ask participants to provide feedback on the selected method, delivery and improvement points.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 yourself on conceptual change theory and examine exisiting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90-minute lesson, the instructor should try to “lecture” for only 20 minutes, students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Constructional Alignment and Learning Goals</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Sarah von Grebmer</a:t>
            </a:r>
          </a:p>
        </p:txBody>
      </p:sp>
      <p:sp>
        <p:nvSpPr>
          <p:cNvPr id="4" name="Date Placeholder 3"/>
          <p:cNvSpPr>
            <a:spLocks noGrp="1"/>
          </p:cNvSpPr>
          <p:nvPr>
            <p:ph idx="10" sz="half" type="dt"/>
          </p:nvPr>
        </p:nvSpPr>
        <p:spPr/>
        <p:txBody>
          <a:bodyPr/>
          <a:lstStyle/>
          <a:p>
            <a:pPr lvl="0" indent="0" marL="0">
              <a:buNone/>
            </a:pPr>
            <a:r>
              <a:rPr/>
              <a:t>18/02/2026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sumodule’s topic.</a:t>
            </a:r>
          </a:p>
          <a:p>
            <a:pPr lvl="0"/>
            <a:r>
              <a:rPr/>
              <a:t>Use free survey software such as or other survey software (particify,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a:r>
              <a:rPr b="1"/>
              <a:t>Aim</a:t>
            </a:r>
            <a:r>
              <a:rPr/>
              <a:t>: Place the topic of the current submodule within a broader context.</a:t>
            </a:r>
          </a:p>
          <a:p>
            <a:pPr lvl="0"/>
            <a:r>
              <a:rPr/>
              <a:t>Remind students what you are working towards and what the bigger picture is.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in this session</a:t>
            </a:r>
          </a:p>
          <a:p>
            <a:pPr lvl="0"/>
            <a:r>
              <a:rPr b="1"/>
              <a:t>Aim</a:t>
            </a:r>
            <a:r>
              <a:rPr/>
              <a:t>: This slides serves as an overview of the topics that are discussed, presented as bullet point:</a:t>
            </a:r>
          </a:p>
          <a:p>
            <a:pPr lvl="0" indent="0" marL="0">
              <a:buNone/>
            </a:pPr>
            <a:r>
              <a:rPr b="1"/>
              <a:t>(for now copied from Didactis2 go, use as basis only)</a:t>
            </a:r>
          </a:p>
          <a:p>
            <a:pPr lvl="0"/>
            <a:r>
              <a:rPr/>
              <a:t>Constructivism</a:t>
            </a:r>
          </a:p>
          <a:p>
            <a:pPr lvl="0"/>
            <a:r>
              <a:rPr/>
              <a:t>Constructive alignment</a:t>
            </a:r>
          </a:p>
          <a:p>
            <a:pPr lvl="0"/>
            <a:r>
              <a:rPr/>
              <a:t>Setting learning goals</a:t>
            </a:r>
          </a:p>
          <a:p>
            <a:pPr lvl="0"/>
            <a:r>
              <a:rPr/>
              <a:t>AVIVA-Schema</a:t>
            </a:r>
          </a:p>
          <a:p>
            <a:pPr lvl="0"/>
            <a:r>
              <a:rPr/>
              <a:t>Activation methods</a:t>
            </a:r>
          </a:p>
          <a:p>
            <a:pPr lvl="0"/>
            <a:r>
              <a:rPr/>
              <a:t>Reflection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e.g., workshops, peer training, (guest) lectures etc.</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in learning</a:t>
            </a:r>
          </a:p>
          <a:p>
            <a:pPr lvl="0" indent="0" marL="0">
              <a:buNone/>
            </a:pPr>
            <a:r>
              <a:rPr/>
              <a:t>As a process, learning is …</a:t>
            </a:r>
          </a:p>
          <a:p>
            <a:pPr lvl="0"/>
            <a:r>
              <a:rPr/>
              <a:t>active and self-controlled</a:t>
            </a:r>
          </a:p>
          <a:p>
            <a:pPr lvl="0"/>
            <a:r>
              <a:rPr/>
              <a:t>student-centered</a:t>
            </a:r>
          </a:p>
          <a:p>
            <a:pPr lvl="0"/>
            <a:r>
              <a:rPr/>
              <a:t>integrated in a broader context and a positive learning atmosphere</a:t>
            </a:r>
          </a:p>
          <a:p>
            <a:pPr lvl="0"/>
            <a:r>
              <a:rPr/>
              <a:t>social and emotional</a:t>
            </a:r>
          </a:p>
          <a:p>
            <a:pPr lvl="0" indent="0" marL="0">
              <a:buNone/>
            </a:pPr>
            <a:r>
              <a:rPr/>
              <a:t>Efgivia et al., 2021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Core aspects</a:t>
            </a:r>
          </a:p>
          <a:p>
            <a:pPr lvl="0"/>
            <a:r>
              <a:rPr/>
              <a:t>Knowledge is actively constructed by the learner, not imposed</a:t>
            </a:r>
          </a:p>
          <a:p>
            <a:pPr lvl="0"/>
            <a:r>
              <a:rPr/>
              <a:t>Learners bring exisiting concepts to learning situations</a:t>
            </a:r>
          </a:p>
          <a:p>
            <a:pPr lvl="1"/>
            <a:r>
              <a:rPr/>
              <a:t>Existing ideas need to be incroporated into teaching in order to challenge/change these</a:t>
            </a:r>
          </a:p>
          <a:p>
            <a:pPr lvl="0"/>
            <a:r>
              <a:rPr/>
              <a:t>Learners construct knowledge through interaction with physical world/ social settings and within specific cultural/linguistic environments</a:t>
            </a:r>
          </a:p>
          <a:p>
            <a:pPr lvl="0"/>
            <a:r>
              <a:rPr/>
              <a:t>Learning environment is integrated into the learning process</a:t>
            </a:r>
          </a:p>
          <a:p>
            <a:pPr lvl="0" indent="0" marL="0">
              <a:buNone/>
            </a:pPr>
            <a:r>
              <a:rPr/>
              <a:t>Sjoberg, 2010; Tauber, 2006</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Constructional alignment</a:t>
            </a:r>
          </a:p>
          <a:p>
            <a:pPr lvl="0" indent="0" marL="0">
              <a:buNone/>
            </a:pPr>
            <a:r>
              <a:rPr/>
              <a:t>Focus here on learning objectives: what do we want (our audience)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“Hierarchy” learning objectives</a:t>
            </a:r>
          </a:p>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Bloom’s taxonomy</a:t>
            </a:r>
          </a:p>
          <a:p>
            <a:pPr lvl="0"/>
            <a:r>
              <a:rPr/>
              <a:t>Three learning domains: cognitive, affective, psychomotor (https://teaching.uic.edu/cate-teaching-guides/syllabus-course-design/blooms-taxonomy-of-educational-objectives/)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characterising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organising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slides on learning goals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Examples</a:t>
            </a:r>
          </a:p>
          <a:p>
            <a:pPr lvl="0" indent="0" marL="0">
              <a:buNone/>
            </a:pPr>
            <a:r>
              <a:rPr/>
              <a:t>Can you think of examples from your own experience on what aligned learning outcomes, assessment tasks and teaching activities could look like in practise?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Formulating learning objectives</a:t>
            </a:r>
          </a:p>
        </p:txBody>
      </p:sp>
      <p:pic>
        <p:nvPicPr>
          <p:cNvPr descr="images/formulating-learning-objectives.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Example: Formulate one learning objective for your own seminar.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Structuring your course</a:t>
            </a:r>
          </a:p>
          <a:p>
            <a:pPr lvl="0"/>
            <a:r>
              <a:rPr/>
              <a:t>Check your working conditions: how much time do I have? How long are the sessions? Mielstones?</a:t>
            </a:r>
          </a:p>
          <a:p>
            <a:pPr lvl="0"/>
            <a:r>
              <a:rPr/>
              <a:t>Plan time for orientation during first and last session: who is who? What is happening? What is expected? What remains unclear?</a:t>
            </a:r>
          </a:p>
          <a:p>
            <a:pPr lvl="0"/>
            <a:r>
              <a:rPr/>
              <a:t>Formulate learning objectives for course</a:t>
            </a:r>
          </a:p>
          <a:p>
            <a:pPr lvl="0"/>
            <a:r>
              <a:rPr/>
              <a:t>Formulate learning objectives for each session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 towards your audience</a:t>
            </a:r>
          </a:p>
          <a:p>
            <a:pPr lvl="0" indent="0" marL="0">
              <a:buNone/>
            </a:pPr>
            <a:r>
              <a:rPr/>
              <a:t>What can you do to create a positive learning environment?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Verbal</a:t>
            </a:r>
          </a:p>
          <a:p>
            <a:pPr lvl="0"/>
            <a:r>
              <a:rPr/>
              <a:t>Small-talk (yes, it is important)</a:t>
            </a:r>
          </a:p>
          <a:p>
            <a:pPr lvl="0"/>
            <a:r>
              <a:rPr/>
              <a:t>Call by name</a:t>
            </a:r>
          </a:p>
          <a:p>
            <a:pPr lvl="0"/>
            <a:r>
              <a:rPr/>
              <a:t>Validate and show appreciation</a:t>
            </a:r>
          </a:p>
          <a:p>
            <a:pPr lvl="0"/>
            <a:r>
              <a:rPr/>
              <a:t>Paraphrase what audience members express</a:t>
            </a:r>
          </a:p>
          <a:p>
            <a:pPr lvl="0"/>
            <a:r>
              <a:rPr/>
              <a:t>Give tangible examples</a:t>
            </a:r>
          </a:p>
          <a:p>
            <a:pPr lvl="0"/>
            <a:r>
              <a:rPr/>
              <a:t>Ask open questions</a:t>
            </a:r>
          </a:p>
          <a:p>
            <a:pPr lvl="0"/>
            <a:r>
              <a:rPr/>
              <a:t>Accept silences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body language</a:t>
            </a:r>
          </a:p>
          <a:p>
            <a:pPr lvl="0"/>
            <a:r>
              <a:rPr/>
              <a:t>Maintain eye contact with students</a:t>
            </a:r>
          </a:p>
          <a:p>
            <a:pPr lvl="0"/>
            <a:r>
              <a:rPr/>
              <a:t>Use non-verbal communication (shake head, use hands)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methods</a:t>
            </a:r>
          </a:p>
          <a:p>
            <a:pPr lvl="0"/>
            <a:r>
              <a:rPr/>
              <a:t>Have introductory round</a:t>
            </a:r>
          </a:p>
          <a:p>
            <a:pPr lvl="0"/>
            <a:r>
              <a:rPr/>
              <a:t>Motivate audience to get involved as early as possible</a:t>
            </a:r>
          </a:p>
          <a:p>
            <a:pPr lvl="0"/>
            <a:r>
              <a:rPr/>
              <a:t>Observe the room</a:t>
            </a:r>
          </a:p>
          <a:p>
            <a:pPr lvl="0"/>
            <a:r>
              <a:rPr/>
              <a:t>Use different visualisation methods/tools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Interactive teaching methods</a:t>
            </a:r>
          </a:p>
          <a:p>
            <a:pPr lvl="0" indent="0" marL="0">
              <a:buNone/>
            </a:pPr>
            <a:r>
              <a:rPr/>
              <a:t>transition to activation method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Take 20 minutes in pairs to practise an activation method of your choice in the context of a topic of your choice. Each pair demonstrates the activity in “class”, with the rest acting as audience.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Literature</a:t>
            </a:r>
          </a:p>
          <a:p>
            <a:pPr lvl="0"/>
            <a:r>
              <a:rPr/>
              <a:t>Antosch-Bardohn, J. (2018): Nicht-intentionale Lernprozesse im Alltag von Studierenden. Logos Verlag.</a:t>
            </a:r>
          </a:p>
          <a:p>
            <a:pPr lvl="0"/>
            <a:r>
              <a:rPr/>
              <a:t>Antosch-Bardohn, J., Beege, B., &amp; Primus, N. (2019). In die Lehre starten. UTB GmbH.</a:t>
            </a:r>
          </a:p>
          <a:p>
            <a:pPr lvl="0"/>
            <a:r>
              <a:rPr/>
              <a:t>Antosch-Bardohn, J. (2019): “Für mein Thema brennen die Studis” - Lernmotivation in der Hochschullehre. In: Neues Handbuch Hochschullehre. Nummer 89, S. 1-18.</a:t>
            </a:r>
          </a:p>
          <a:p>
            <a:pPr lvl="0"/>
            <a:r>
              <a:rPr/>
              <a:t>Hofmann, E. &amp; Löhle, M. (2004). Erfolgreich lernen. Hogrefe Verlag.</a:t>
            </a:r>
          </a:p>
          <a:p>
            <a:pPr lvl="0"/>
            <a:r>
              <a:rPr/>
              <a:t>Kergel, D. &amp; Heidkamp-Kergel, B. (2020). E-Learning, EDidaktik und digitales Lernen. Springer VS.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indent="0" marL="0">
              <a:spcBef>
                <a:spcPts val="3000"/>
              </a:spcBef>
              <a:buNone/>
            </a:pPr>
            <a:r>
              <a:rPr b="1"/>
              <a:t>Use free survey software such as or other survey software (particify, formR) to establish the following questions (shown on separate slides):</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1-S1-Constructive-Alignment-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Constructional Alignment and Learning Goals</dc:title>
  <dc:creator>Sarah von Grebmer</dc:creator>
  <cp:keywords/>
  <dcterms:created xsi:type="dcterms:W3CDTF">2026-02-18T12:14:48Z</dcterms:created>
  <dcterms:modified xsi:type="dcterms:W3CDTF">2026-02-18T12:14:48Z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18/02/2026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