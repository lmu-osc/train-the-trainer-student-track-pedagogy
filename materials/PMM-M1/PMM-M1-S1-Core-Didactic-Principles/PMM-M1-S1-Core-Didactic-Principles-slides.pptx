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notesMaster" Target="notesMasters/notesMaster1.xml" /><Relationship Id="rId74" Type="http://schemas.openxmlformats.org/officeDocument/2006/relationships/viewProps" Target="viewProps.xml" /><Relationship Id="rId73" Type="http://schemas.openxmlformats.org/officeDocument/2006/relationships/presProps" Target="presProps.xml" /><Relationship Id="rId1" Type="http://schemas.openxmlformats.org/officeDocument/2006/relationships/slideMaster" Target="slideMasters/slideMaster1.xml" /><Relationship Id="rId76" Type="http://schemas.openxmlformats.org/officeDocument/2006/relationships/tableStyles" Target="tableStyles.xml" /><Relationship Id="rId7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 Second, you will analyze how knowledge can be structured differently depending on the learner’s level of expertise, for example, how novices and experts organize information in different ways. 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define didactics in an educational context, it’s helpful to look at where the word comes from. It has its roots in Greek. The verb didaskó means to teach, to instruct, or to show. The adjective didaktos means taught, while didaktikos refers to someone who is able or apt to teach.</a:t>
            </a:r>
          </a:p>
          <a:p>
            <a:pPr lvl="0" indent="0" marL="0">
              <a:buNone/>
            </a:pPr>
          </a:p>
          <a:p>
            <a:pPr lvl="0" indent="0" marL="0">
              <a:buNone/>
            </a:pPr>
            <a:r>
              <a:rPr/>
              <a:t>Today, this definition has expanded a little, as we will see next.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Within the realm of school pedagogics, didactics consists in planning and organizing successful processes of students’ learning. According to Dolch’s (1967) seminal definition, didactics is the science of learning and teaching in general. It deals with learning in all possible forms and with teaching of all kinds at all levels, initially without any reference to the possible content of teaching. Dolch’s definition corresponds largely to approaches that are based on theories of learning and focus on the analyzing and planning teacher, who may refer to information about the design of class instruction provided by didactics.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particularly like the definition of didactics by Stockholm University, who have a strong focus on didactics and conduct research around the topic, didactics is the art and science of teaching and learning. It is a field within education that seeks to answer three central questions: What should be taught, how should it be taught, and why should it be taught? Didactics encompasses questions about the selection of knowledge, teaching methods, and how learning takes place in different contexts. It can be seen as the planning, implementation, and analysis of teaching, with a particular focus on why certain goals, content, and methods are chosen. The well-known didactic triangle – what, how, why – is often used as a tool for analyzing and planning teaching and learning. Thus, didactics concerns the relationships between the teacher’s choice of content and methods, and what students actually learn.</a:t>
            </a:r>
          </a:p>
          <a:p>
            <a:pPr lvl="0" indent="0" marL="0">
              <a:buNone/>
            </a:pPr>
          </a:p>
          <a:p>
            <a:pPr lvl="0" indent="0" marL="0">
              <a:buNone/>
            </a:pPr>
            <a:r>
              <a:rPr/>
              <a:t>Here we have an important key point: the instructors choice of content and methods, and what learners learn. You can view didactics as a framework in which knowledge and skills are not passively presented, but understood, retained and applied across different contexts.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natural follow-up question from didactics: What is learning to you? How would you define it? What expectations or assumptions come with it?</a:t>
            </a:r>
          </a:p>
          <a:p>
            <a:pPr lvl="0" indent="0" marL="0">
              <a:buNone/>
            </a:pPr>
          </a:p>
          <a:p>
            <a:pPr lvl="0" indent="0" marL="0">
              <a:buNone/>
            </a:pPr>
            <a:r>
              <a:rPr b="1"/>
              <a:t>Instructor Notes</a:t>
            </a:r>
            <a:r>
              <a:rPr/>
              <a:t>: Use an interactive tool such as wordcloud for this to engage your learners.</a:t>
            </a:r>
          </a:p>
          <a:p>
            <a:pPr lvl="0" indent="0" marL="0">
              <a:buNone/>
            </a:pPr>
          </a:p>
          <a:p>
            <a:pPr lvl="0" indent="0" marL="0">
              <a:buNone/>
            </a:pPr>
            <a:r>
              <a:rPr/>
              <a:t>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of learning comes from Ambrose and colleagues. It is useful because it shifts our focus away from learning as something that simply “happens” when information is presented. Instead, learning is described here as a process, something ongoing rather than a single event, that results in change. That change might be in knowledge, skills, attitudes, or even how someone approaches problems.</a:t>
            </a:r>
          </a:p>
          <a:p>
            <a:pPr lvl="0" indent="0" marL="0">
              <a:buNone/>
            </a:pPr>
          </a:p>
          <a:p>
            <a:pPr lvl="0" indent="0" marL="0">
              <a:buNone/>
            </a:pPr>
            <a:r>
              <a:rPr/>
              <a:t>A key point in this definition is that change occurs as a result of experience. This highlights that learners need to actively engage with material; simply being exposed to information is not enough for meaningful learning to occur.</a:t>
            </a:r>
          </a:p>
          <a:p>
            <a:pPr lvl="0" indent="0" marL="0">
              <a:buNone/>
            </a:pPr>
          </a:p>
          <a:p>
            <a:pPr lvl="0" indent="0" marL="0">
              <a:buNone/>
            </a:pPr>
            <a:r>
              <a:rPr/>
              <a:t>The final part of the definition is important as well: learning increases the potential for improved performance and future learning. So learning is not only about immediate outcomes, but also about building capacity for continued growth over time.</a:t>
            </a:r>
          </a:p>
          <a:p>
            <a:pPr lvl="0" indent="0" marL="0">
              <a:buNone/>
            </a:pPr>
          </a:p>
          <a:p>
            <a:pPr lvl="0" indent="0" marL="0">
              <a:buNone/>
            </a:pPr>
            <a:r>
              <a:rPr/>
              <a:t>Overall, this definition aligns well with what in educational sciences is known as constructivism, which emphasizes active engagement, experience, and the development of understanding over time rather than passive reception of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 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 Take 5 minutes for this exercise.</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practitioner, and expert. Here, the differences between these levels of learners can be summarized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a:t>
            </a:r>
          </a:p>
          <a:p>
            <a:pPr lvl="0" indent="0" marL="0">
              <a:buNone/>
            </a:pPr>
          </a:p>
          <a:p>
            <a:pPr lvl="0"/>
            <a:r>
              <a:rPr b="1"/>
              <a:t>Expert</a:t>
            </a:r>
            <a:r>
              <a:rPr/>
              <a:t>: someone who can easily handle typical situations and those that are out of the ordinary.</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b="1"/>
              <a:t>Example from daily life: Cooking a meal</a:t>
            </a:r>
          </a:p>
          <a:p>
            <a:pPr lvl="0" indent="0" marL="0">
              <a:buNone/>
            </a:pPr>
          </a:p>
          <a:p>
            <a:pPr lvl="0"/>
            <a:r>
              <a:rPr/>
              <a:t>Novice: A beginner follows a recipe step by step and may not know which questions to ask or how to adjust when something goes wrong.</a:t>
            </a:r>
          </a:p>
          <a:p>
            <a:pPr lvl="0" indent="0" marL="0">
              <a:buNone/>
            </a:pPr>
          </a:p>
          <a:p>
            <a:pPr lvl="0"/>
            <a:r>
              <a:rPr/>
              <a:t>Competent practitioner: An experienced cook can prepare familiar meals independently and make small adjustments in terms of quantities, but may still need guidance for unfamiliar dishes.</a:t>
            </a:r>
          </a:p>
          <a:p>
            <a:pPr lvl="0" indent="0" marL="0">
              <a:buNone/>
            </a:pPr>
          </a:p>
          <a:p>
            <a:pPr lvl="0"/>
            <a:r>
              <a:rPr/>
              <a:t>Expert: A skilled chef understands ingredients and techniques deeply, adapts recipes creatively, and can quickly solve unexpected problems while cooking.</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Let us look at a concrete example next.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Open Access as an example.</a:t>
            </a:r>
          </a:p>
          <a:p>
            <a:pPr lvl="0" indent="0" marL="0">
              <a:buNone/>
            </a:pPr>
          </a:p>
          <a:p>
            <a:pPr lvl="0"/>
            <a:r>
              <a:rPr/>
              <a:t>A </a:t>
            </a:r>
            <a:r>
              <a:rPr b="1"/>
              <a:t>novice</a:t>
            </a:r>
            <a:r>
              <a:rPr/>
              <a:t>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a:t>A </a:t>
            </a:r>
            <a:r>
              <a:rPr b="1"/>
              <a:t>competent practitioner</a:t>
            </a:r>
            <a:r>
              <a:rPr/>
              <a:t> in the context of an Open Access workshop might be able to check funder’s requirements, publish papers Open Access and uses open licenses like Creative Commons licenses. What they maybe do not know are the in-depth differences between Gold, Green and Diamond OA and the legal subtleties of copyright and all the different licenses.</a:t>
            </a:r>
          </a:p>
          <a:p>
            <a:pPr lvl="0" indent="0" marL="0">
              <a:buNone/>
            </a:pPr>
          </a:p>
          <a:p>
            <a:pPr lvl="0"/>
            <a:r>
              <a:rPr/>
              <a:t>An </a:t>
            </a:r>
            <a:r>
              <a:rPr b="1"/>
              <a:t>expert</a:t>
            </a:r>
            <a:r>
              <a:rPr/>
              <a:t> publishes perhaps strategically across gold, green and diamond open access routes. Selects and applies different Creative Commons licenses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 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 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organization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briefly recap what we have learned so far:</a:t>
            </a:r>
          </a:p>
          <a:p>
            <a:pPr lvl="0" indent="0" marL="0">
              <a:buNone/>
            </a:pPr>
          </a:p>
          <a:p>
            <a:pPr lvl="0"/>
            <a:r>
              <a:rPr/>
              <a:t>First, didactics is about the planning and organization of successful learning processes. The emphasis is on designing teaching in a way that helps learners achieve meaningful learning outcomes.</a:t>
            </a:r>
          </a:p>
          <a:p>
            <a:pPr lvl="0" indent="0" marL="0">
              <a:buNone/>
            </a:pPr>
          </a:p>
          <a:p>
            <a:pPr lvl="0"/>
            <a:r>
              <a:rPr/>
              <a:t>Second, learning is an active process. According to the constructivist perspective, learners do not simply absorb information that we present to them. Instead, they actively construct understanding by making sense of new information in relation to what they already know. Importantly, prior knowledge and the learning context play a crucial role. Every learner brings existing experiences, beliefs, and mental models to the classroom, and these influence how new concepts are interpreted. The environment and learning activities also shape what and how learners learn.</a:t>
            </a:r>
          </a:p>
          <a:p>
            <a:pPr lvl="0" indent="0" marL="0">
              <a:buNone/>
            </a:pPr>
          </a:p>
          <a:p>
            <a:pPr lvl="0"/>
            <a:r>
              <a:rPr/>
              <a:t>Third, in terms of different mental models, novices have limited and often fragmented mental models, making it harder to integrate new information, while competent practitioners have functional knowledge structures that support everyday problem solving. Experts have highly connected and sophisticated mental models that allow them to quickly identify relationships, solve complex problems, and apply knowledge flexibly.</a:t>
            </a:r>
          </a:p>
          <a:p>
            <a:pPr lvl="0" indent="0" marL="0">
              <a:buNone/>
            </a:pPr>
          </a:p>
          <a:p>
            <a:pPr lvl="0"/>
            <a:r>
              <a:rPr/>
              <a:t>Finally, effective teaching starts from where learners are. Our role is to build on their existing knowledge and design learning experiences that help them progress, from being novices, to competent practitioners, and ultimately towards expertise.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a:t>
            </a:r>
          </a:p>
          <a:p>
            <a:pPr lvl="0" indent="0" marL="0">
              <a:buNone/>
            </a:pPr>
          </a:p>
          <a:p>
            <a:pPr lvl="0" indent="0" marL="0">
              <a:buNone/>
            </a:pPr>
            <a:r>
              <a:rPr b="1"/>
              <a:t>Instructor Notes</a:t>
            </a:r>
            <a:r>
              <a:rPr/>
              <a:t>: Ask for interaction from the audience.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organized.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out expectations and what you want your learners to achieve for a given workshop is key to help with the organization of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objective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objective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objective. We will learn more about learning objectives and how to formulate them later. For now, focus on the alignment aspect: does the learning objective match with the assessment type? Take five minutes for this task.</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didactic principle besides prior knowledge, constructivism, mental models and constructive alignment, namely setting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quotes here represent the famous conversation between Alice and the Cheshire Cat in Alice in Wonderland. The key idea of the scene is decision-making and the importance of having an objective before choosing a direction. If you do not know where you are going, any road could potentially take you there. In this case, before asking how to get somewhere, you first need to know where you want to go. Just like Alice cannot choose the right path without knowing where she wants to go, instructors cannot effectively teach and get progress in return without clear learning objectives. Without clearly defined learning objectives, teaching and learning may lack direction and intentionality. Therefore, formulating and setting suitable learning objectives is a key skill of instructors, particularly in Open Science, which as a broad, interdisciplinary field with many obstacles that can sometimes feel too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we talk about learning objectives, we are referring to more than simply describing what a teacher will cover or what content will be presented. A learning objective describes what learners should be able to do after an instructional activity. According to Mager, well-formulated objectives specify three important elements: the intended performance, what learners should demonstrate; the conditions under which this performance takes place; and the criteria for success, how we determine whether the learning goal has been achieved.</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objectives,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explanations, let us practice!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objectives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(1973; Bloom et al., 1956)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objective focuses on analysis. Learners are expected to critically examine how open science practices contribute to transparency and reproducibility in research. This moves beyond memorization and requires higher-order thinking, such as comparing, evaluating, and interpreting research processes. The teaching activity supports this objective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objectives associated with the cognitive learning domain. What you see is the pyramid of learning objective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(Krathwohl et al, 1964). The affective domain outlines skills and behaviors that correspond to attitudes and values and as the learner progresses through the levels of the affective domain, they become self-reliant and internally motivated. Learning objectives aligned to the affective domain tend to be the hardest to articulate initially and often appear difficult to assess at first glance. However, affective outcomes often represent the outcomes most closely related to deeper thinking and lifelong learning. They can still be assessed through observable behaviors, such as showing appreciation for alternative perspectives, demonstrating commitment to a discussion, asking thoughtful questions, or recognizing the nuances and complexities of an issue.</a:t>
            </a:r>
          </a:p>
          <a:p>
            <a:pPr lvl="0" indent="0" marL="0">
              <a:buNone/>
            </a:pPr>
          </a:p>
          <a:p>
            <a:pPr lvl="0" indent="0" marL="0">
              <a:buNone/>
            </a:pPr>
            <a:r>
              <a:rPr/>
              <a:t>In this example, the learning objective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objective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 Valuing: Finds value and worth in one’s learning with motivation to continue. Organizing: Integrates and compares values, resolves conflict between these values, and orders them according to priorities. 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(Simpson 1966, 1972; Dave, 1970; Harrow,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 </a:t>
            </a:r>
            <a:r>
              <a:rPr i="1"/>
              <a:t>The learning objective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organize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to practice! In pairs, design one assessment task for each learning objective (cognitive, affective, psychomotor). For each assessment, specify:</a:t>
            </a:r>
          </a:p>
          <a:p>
            <a:pPr lvl="0" indent="0" marL="0">
              <a:buNone/>
            </a:pPr>
          </a:p>
          <a:p>
            <a:pPr lvl="0"/>
            <a:r>
              <a:rPr/>
              <a:t>an appropriate assessment method (e.g., checklist, rubric)</a:t>
            </a:r>
          </a:p>
          <a:p>
            <a:pPr lvl="0" indent="0" marL="0">
              <a:buNone/>
            </a:pPr>
          </a:p>
          <a:p>
            <a:pPr lvl="0"/>
            <a:r>
              <a:rPr/>
              <a:t>at least one observable criterion that demonstrates successful achievement of the learning objective.</a:t>
            </a:r>
          </a:p>
          <a:p>
            <a:pPr lvl="0" indent="0" marL="0">
              <a:buNone/>
            </a:pPr>
          </a:p>
          <a:p>
            <a:pPr lvl="0" indent="0" marL="0">
              <a:buNone/>
            </a:pPr>
            <a:r>
              <a:rPr i="1"/>
              <a:t>Write your ideas into the workbook</a:t>
            </a:r>
            <a:r>
              <a:rPr/>
              <a:t> to keep track of your thoughts.</a:t>
            </a:r>
          </a:p>
          <a:p>
            <a:pPr lvl="0" indent="0" marL="0">
              <a:buNone/>
            </a:pPr>
          </a:p>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a:t>This is individual work, take 10 minutes.</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objectives,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 Bloom’s taxonomy helps instructors create valid and reliable assessments by aligning course learning objectives to any given level of student understanding or proficiency. Crooks (1998)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and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www.su.se/english/research/research-catalogue/research-subjects/d/didactics"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20.xml" /><Relationship Id="rId4" Type="http://schemas.openxmlformats.org/officeDocument/2006/relationships/image" Target="../media/image5.png"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carpentries.github.io/instructor-training/02-practice-learning.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carpentries.github.io/instructor-training/04-expertise.html"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 Id="rId3" Type="http://schemas.openxmlformats.org/officeDocument/2006/relationships/image" Target="../media/image8.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image" Target="../media/image10.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5.xml" /><Relationship Id="rId3" Type="http://schemas.openxmlformats.org/officeDocument/2006/relationships/image" Target="../media/image11.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2.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teaching.uic.edu/blooms-taxonomy-of-educational-objectives/"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13.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3" Type="http://schemas.openxmlformats.org/officeDocument/2006/relationships/image" Target="../media/image14.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image" Target="../media/image15.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 Id="rId3" Type="http://schemas.openxmlformats.org/officeDocument/2006/relationships/hyperlink" Target="https://lmu-osc.github.io/introduction-to-zotero/"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13/08/2026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License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licensed under a CC0 1.0 </a:t>
            </a:r>
            <a:r>
              <a:rPr>
                <a:hlinkClick r:id="rId4"/>
              </a:rPr>
              <a:t>Creative Commons Universal License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working definition in mind and sometimes implement it in my teaching.</a:t>
            </a:r>
          </a:p>
          <a:p>
            <a:pPr lvl="0" indent="-342900" marL="342900">
              <a:buAutoNum type="alphaLcPeriod"/>
            </a:pPr>
            <a:r>
              <a:rPr/>
              <a:t>I am very familiar and have routinely applied this in my teaching.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Learning objectives</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a:t>
            </a:r>
          </a:p>
          <a:p>
            <a:pPr lvl="0"/>
            <a:r>
              <a:rPr b="1"/>
              <a:t>Constructive alignment</a:t>
            </a:r>
            <a:r>
              <a:rPr/>
              <a:t>: A teaching approach in which learning objectives, teaching activities, and assessment tasks are aligned so that learners actively construct knowledge and skills.</a:t>
            </a:r>
          </a:p>
          <a:p>
            <a:pPr lvl="0"/>
            <a:r>
              <a:rPr b="1"/>
              <a:t>Learning objectives</a:t>
            </a:r>
            <a:r>
              <a:rPr/>
              <a:t>: Describe what learners should be able to do after instruction and should specify the intended performance, conditions, and criteria for success.</a:t>
            </a:r>
          </a:p>
          <a:p>
            <a:pPr lvl="0"/>
            <a:r>
              <a:rPr b="1"/>
              <a:t>Bloom’s taxonomy</a:t>
            </a:r>
            <a:r>
              <a:rPr/>
              <a:t>: A framework for classifying levels of learning and cognitive skills, organized from lower-order thinking skills (e.g., remembering and understanding to higher-order skills (analyzing, evaluating).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Getting started!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teaching experience do you have?</a:t>
            </a:r>
          </a:p>
        </p:txBody>
      </p:sp>
      <p:sp>
        <p:nvSpPr>
          <p:cNvPr id="4" name="Text Placeholder 3"/>
          <p:cNvSpPr>
            <a:spLocks noGrp="1"/>
          </p:cNvSpPr>
          <p:nvPr>
            <p:ph idx="2" sz="half" type="body"/>
          </p:nvPr>
        </p:nvSpPr>
        <p:spPr/>
        <p:txBody>
          <a:bodyPr/>
          <a:lstStyle/>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have you already thought about didactics?</a:t>
            </a:r>
          </a:p>
        </p:txBody>
      </p:sp>
      <p:sp>
        <p:nvSpPr>
          <p:cNvPr id="4" name="Text Placeholder 3"/>
          <p:cNvSpPr>
            <a:spLocks noGrp="1"/>
          </p:cNvSpPr>
          <p:nvPr>
            <p:ph idx="2" sz="half" type="body"/>
          </p:nvPr>
        </p:nvSpPr>
        <p:spPr/>
        <p:txBody>
          <a:bodyPr/>
          <a:lstStyle/>
          <a:p>
            <a:pPr lvl="0"/>
            <a:r>
              <a:rPr/>
              <a:t>If and when you teach about open research, do you or would you consider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big are your teaching/training audiences?</a:t>
            </a:r>
          </a:p>
        </p:txBody>
      </p:sp>
      <p:sp>
        <p:nvSpPr>
          <p:cNvPr id="4" name="Text Placeholder 3"/>
          <p:cNvSpPr>
            <a:spLocks noGrp="1"/>
          </p:cNvSpPr>
          <p:nvPr>
            <p:ph idx="2" sz="half" type="body"/>
          </p:nvPr>
        </p:nvSpPr>
        <p:spPr/>
        <p:txBody>
          <a:bodyPr/>
          <a:lstStyle/>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t>
            </a:r>
            <a:r>
              <a:rPr i="1"/>
              <a:t>is</a:t>
            </a:r>
            <a:r>
              <a:rPr/>
              <a:t> didactics?</a:t>
            </a:r>
          </a:p>
        </p:txBody>
      </p:sp>
      <p:sp>
        <p:nvSpPr>
          <p:cNvPr id="4" name="Text Placeholder 3"/>
          <p:cNvSpPr>
            <a:spLocks noGrp="1"/>
          </p:cNvSpPr>
          <p:nvPr>
            <p:ph idx="2" sz="half" type="body"/>
          </p:nvPr>
        </p:nvSpPr>
        <p:spPr/>
        <p:txBody>
          <a:bodyPr/>
          <a:lstStyle/>
          <a:p>
            <a:pPr lvl="0" indent="0" marL="1270000">
              <a:buNone/>
            </a:pPr>
            <a:r>
              <a:rPr sz="2000"/>
              <a:t>The Greek origins: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79500"/>
                <a:gridCol w="2628900"/>
                <a:gridCol w="1397000"/>
              </a:tblGrid>
              <a:tr h="0">
                <a:tc>
                  <a:txBody>
                    <a:bodyPr/>
                    <a:lstStyle/>
                    <a:p>
                      <a:pPr lvl="0" indent="0" marL="0" algn="l">
                        <a:buNone/>
                      </a:pPr>
                      <a:r>
                        <a:rPr/>
                        <a:t>Greek</a:t>
                      </a:r>
                    </a:p>
                  </a:txBody>
                  <a:tcPr/>
                </a:tc>
                <a:tc>
                  <a:txBody>
                    <a:bodyPr/>
                    <a:lstStyle/>
                    <a:p>
                      <a:pPr lvl="0" indent="0" marL="0" algn="l">
                        <a:buNone/>
                      </a:pPr>
                      <a:r>
                        <a:rPr/>
                        <a:t>Transliteration</a:t>
                      </a:r>
                    </a:p>
                  </a:txBody>
                  <a:tcPr/>
                </a:tc>
                <a:tc>
                  <a:txBody>
                    <a:bodyPr/>
                    <a:lstStyle/>
                    <a:p>
                      <a:pPr lvl="0" indent="0" marL="0" algn="l">
                        <a:buNone/>
                      </a:pPr>
                      <a:r>
                        <a:rPr/>
                        <a:t>Meaning</a:t>
                      </a:r>
                    </a:p>
                  </a:txBody>
                  <a:tcPr/>
                </a:tc>
              </a:tr>
              <a:tr h="0">
                <a:tc>
                  <a:txBody>
                    <a:bodyPr/>
                    <a:lstStyle/>
                    <a:p>
                      <a:pPr lvl="0" indent="0" marL="0" algn="l">
                        <a:buNone/>
                      </a:pPr>
                      <a:r>
                        <a:rPr b="1"/>
                        <a:t>διδάσκω</a:t>
                      </a:r>
                    </a:p>
                  </a:txBody>
                </a:tc>
                <a:tc>
                  <a:txBody>
                    <a:bodyPr/>
                    <a:lstStyle/>
                    <a:p>
                      <a:pPr lvl="0" indent="0" marL="0" algn="l">
                        <a:buNone/>
                      </a:pPr>
                      <a:r>
                        <a:rPr i="1"/>
                        <a:t>didaskó</a:t>
                      </a:r>
                    </a:p>
                  </a:txBody>
                </a:tc>
                <a:tc>
                  <a:txBody>
                    <a:bodyPr/>
                    <a:lstStyle/>
                    <a:p>
                      <a:pPr lvl="0" indent="0" marL="0" algn="l">
                        <a:buNone/>
                      </a:pPr>
                      <a:r>
                        <a:rPr/>
                        <a:t>to teach; to instruct; to show; to indicate</a:t>
                      </a:r>
                    </a:p>
                  </a:txBody>
                </a:tc>
              </a:tr>
              <a:tr h="0">
                <a:tc>
                  <a:txBody>
                    <a:bodyPr/>
                    <a:lstStyle/>
                    <a:p>
                      <a:pPr lvl="0" indent="0" marL="0" algn="l">
                        <a:buNone/>
                      </a:pPr>
                      <a:r>
                        <a:rPr b="1"/>
                        <a:t>διδακτός</a:t>
                      </a:r>
                    </a:p>
                  </a:txBody>
                </a:tc>
                <a:tc>
                  <a:txBody>
                    <a:bodyPr/>
                    <a:lstStyle/>
                    <a:p>
                      <a:pPr lvl="0" indent="0" marL="0" algn="l">
                        <a:buNone/>
                      </a:pPr>
                      <a:r>
                        <a:rPr i="1"/>
                        <a:t>didaktos</a:t>
                      </a:r>
                    </a:p>
                  </a:txBody>
                </a:tc>
                <a:tc>
                  <a:txBody>
                    <a:bodyPr/>
                    <a:lstStyle/>
                    <a:p>
                      <a:pPr lvl="0" indent="0" marL="0" algn="l">
                        <a:buNone/>
                      </a:pPr>
                      <a:r>
                        <a:rPr/>
                        <a:t>taught</a:t>
                      </a:r>
                    </a:p>
                  </a:txBody>
                </a:tc>
              </a:tr>
              <a:tr h="0">
                <a:tc>
                  <a:txBody>
                    <a:bodyPr/>
                    <a:lstStyle/>
                    <a:p>
                      <a:pPr lvl="0" indent="0" marL="0" algn="l">
                        <a:buNone/>
                      </a:pPr>
                      <a:r>
                        <a:rPr b="1"/>
                        <a:t>διδακτικός</a:t>
                      </a:r>
                    </a:p>
                  </a:txBody>
                </a:tc>
                <a:tc>
                  <a:txBody>
                    <a:bodyPr/>
                    <a:lstStyle/>
                    <a:p>
                      <a:pPr lvl="0" indent="0" marL="0" algn="l">
                        <a:buNone/>
                      </a:pPr>
                      <a:r>
                        <a:rPr i="1"/>
                        <a:t>didaktikos</a:t>
                      </a:r>
                    </a:p>
                  </a:txBody>
                </a:tc>
                <a:tc>
                  <a:txBody>
                    <a:bodyPr/>
                    <a:lstStyle/>
                    <a:p>
                      <a:pPr lvl="0" indent="0" marL="0" algn="l">
                        <a:buNone/>
                      </a:pPr>
                      <a:r>
                        <a:rPr/>
                        <a:t>apt to teach; able to teach</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Liddell et al. (1996). </a:t>
            </a:r>
            <a:r>
              <a:rPr i="1"/>
              <a:t>A Greek–English Lexicon</a:t>
            </a:r>
            <a:r>
              <a:rPr/>
              <a:t>. Oxford University Press.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“…is the </a:t>
            </a:r>
            <a:r>
              <a:rPr b="1"/>
              <a:t>science of learning and teaching in general</a:t>
            </a:r>
            <a:r>
              <a:rPr/>
              <a:t>” (</a:t>
            </a:r>
            <a:r>
              <a:rPr i="1"/>
              <a:t>Dolch, 1967</a:t>
            </a:r>
            <a:r>
              <a:rPr/>
              <a:t>) “…includes </a:t>
            </a:r>
            <a:r>
              <a:rPr b="1"/>
              <a:t>teaching and learning strategies</a:t>
            </a:r>
            <a:r>
              <a:rPr/>
              <a:t> […] referring to the </a:t>
            </a:r>
            <a:r>
              <a:rPr b="1"/>
              <a:t>design</a:t>
            </a:r>
            <a:r>
              <a:rPr/>
              <a:t>, programming, elaboration and </a:t>
            </a:r>
            <a:r>
              <a:rPr b="1"/>
              <a:t>formulation</a:t>
            </a:r>
            <a:r>
              <a:rPr/>
              <a:t> of </a:t>
            </a:r>
            <a:r>
              <a:rPr b="1"/>
              <a:t>learning contents</a:t>
            </a:r>
            <a:r>
              <a:rPr/>
              <a:t> in verbal or written form.” (</a:t>
            </a:r>
            <a:r>
              <a:rPr i="1"/>
              <a:t>Casasola, 2020</a:t>
            </a:r>
            <a:r>
              <a:rPr/>
              <a:t>)</a:t>
            </a:r>
          </a:p>
          <a:p>
            <a:pPr lvl="0" indent="0" marL="0">
              <a:buNone/>
            </a:pPr>
            <a:r>
              <a:rPr/>
              <a:t>[@casasolariveraPapelDidacticaProcesos2020] [@duitDidaktik2015] [@riskulovaTheRoleofDidactics2020]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 encompasses questions about the </a:t>
            </a:r>
            <a:r>
              <a:rPr b="1"/>
              <a:t>selection of knowledge, teaching methods</a:t>
            </a:r>
            <a:r>
              <a:rPr/>
              <a:t>, and how learning takes place in different </a:t>
            </a:r>
            <a:r>
              <a:rPr b="1"/>
              <a:t>contexts</a:t>
            </a:r>
            <a:r>
              <a:rPr/>
              <a:t>. It can be seen as the </a:t>
            </a:r>
            <a:r>
              <a:rPr b="1"/>
              <a:t>planning, implementation, and analysis of teaching</a:t>
            </a:r>
            <a:r>
              <a:rPr/>
              <a:t>, with a particular focus on </a:t>
            </a:r>
            <a:r>
              <a:rPr b="1"/>
              <a:t>why certain objectives, content, and methods are chosen</a:t>
            </a:r>
            <a:r>
              <a:rPr/>
              <a:t>.”</a:t>
            </a:r>
          </a:p>
          <a:p>
            <a:pPr lvl="0" indent="0" marL="0">
              <a:buNone/>
            </a:pPr>
            <a:r>
              <a:rPr/>
              <a:t>@ 2026 </a:t>
            </a:r>
            <a:r>
              <a:rPr>
                <a:hlinkClick r:id="rId3"/>
              </a:rPr>
              <a:t>Stockholm University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
        <p:nvSpPr>
          <p:cNvPr id="3" name="Content Placeholder 2"/>
          <p:cNvSpPr>
            <a:spLocks noGrp="1"/>
          </p:cNvSpPr>
          <p:nvPr>
            <p:ph idx="1"/>
          </p:nvPr>
        </p:nvSpPr>
        <p:spPr/>
        <p:txBody>
          <a:bodyPr/>
          <a:lstStyle/>
          <a:p>
            <a:pPr lvl="0" indent="0" marL="0">
              <a:buNone/>
            </a:pPr>
            <a:r>
              <a:rPr/>
              <a:t>What do you </a:t>
            </a:r>
            <a:r>
              <a:rPr b="1"/>
              <a:t>connect</a:t>
            </a:r>
            <a:r>
              <a:rPr/>
              <a:t> with this concept? First thoughts? Assumptions? Expectations?</a:t>
            </a:r>
          </a:p>
          <a:p>
            <a:pPr lvl="0" indent="0" marL="0">
              <a:buNone/>
            </a:pPr>
            <a:r>
              <a:rPr/>
              <a:t>WORDCLOUD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Ambrose, S. A., Bridges, M. W., DiPietro, M., Lovett, M. C., Norman, M. K., &amp; Mayer, R. E. (2023), page 2-3.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1270000">
              <a:buNone/>
            </a:pPr>
            <a:r>
              <a:rPr sz="2000"/>
              <a:t>As a </a:t>
            </a:r>
            <a:r>
              <a:rPr sz="2000" i="1"/>
              <a:t>process</a:t>
            </a:r>
            <a:r>
              <a:rPr sz="2000"/>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Ambrose, S. A., Bridges, M. W., DiPietro, M., Lovett, M. C., Norman, M. K., &amp; Mayer, R. E. (2023), page 2-3. Efgivia et al. (2023)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p>
          <a:p>
            <a:pPr lvl="0" indent="0" marL="0">
              <a:buNone/>
            </a:pPr>
            <a:r>
              <a:rPr b="1"/>
              <a:t>Constructivism</a:t>
            </a:r>
            <a:r>
              <a:rPr/>
              <a:t>: Learning is not passively received, but </a:t>
            </a:r>
            <a:r>
              <a:rPr b="1"/>
              <a:t>actively built and shaped</a:t>
            </a:r>
            <a:r>
              <a:rPr/>
              <a:t> by prior knowledge and the learning context.</a:t>
            </a:r>
          </a:p>
          <a:p>
            <a:pPr lvl="0" indent="0" marL="0">
              <a:buNone/>
            </a:pPr>
          </a:p>
          <a:p>
            <a:pPr lvl="0"/>
            <a:r>
              <a:rPr/>
              <a:t>Learners are </a:t>
            </a:r>
            <a:r>
              <a:rPr b="1"/>
              <a:t>not empty “vessels”</a:t>
            </a:r>
            <a:r>
              <a:rPr/>
              <a:t> to be filled</a:t>
            </a:r>
          </a:p>
          <a:p>
            <a:pPr lvl="1"/>
            <a:r>
              <a:rPr/>
              <a:t>They </a:t>
            </a:r>
            <a:r>
              <a:rPr b="1"/>
              <a:t>interpret new ideas</a:t>
            </a:r>
            <a:r>
              <a:rPr/>
              <a:t> through the lens of </a:t>
            </a:r>
            <a:r>
              <a:rPr b="1"/>
              <a:t>what they already know</a:t>
            </a:r>
          </a:p>
          <a:p>
            <a:pPr lvl="0"/>
            <a:r>
              <a:rPr/>
              <a:t>The </a:t>
            </a:r>
            <a:r>
              <a:rPr b="1"/>
              <a:t>learning context matters</a:t>
            </a:r>
            <a:r>
              <a:rPr/>
              <a:t>!</a:t>
            </a:r>
          </a:p>
          <a:p>
            <a:pPr lvl="1"/>
            <a:r>
              <a:rPr/>
              <a:t>Learning does </a:t>
            </a:r>
            <a:r>
              <a:rPr b="1"/>
              <a:t>not happen in isolation</a:t>
            </a:r>
            <a:r>
              <a:rPr/>
              <a:t>, but is </a:t>
            </a:r>
            <a:r>
              <a:rPr b="1"/>
              <a:t>shaped by the environment</a:t>
            </a:r>
          </a:p>
          <a:p>
            <a:pPr lvl="0" indent="0" marL="0">
              <a:buNone/>
            </a:pPr>
            <a:r>
              <a:rPr/>
              <a:t>[@fosnotConstructivismTheoryPerspectives2013]</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a:r>
              <a:rPr/>
              <a:t>Knowledge = </a:t>
            </a:r>
            <a:r>
              <a:rPr b="1"/>
              <a:t>facts, concepts, beliefs, values, models, perceptions, attitudes …</a:t>
            </a:r>
          </a:p>
          <a:p>
            <a:pPr lvl="0" indent="0" marL="0">
              <a:buNone/>
            </a:pPr>
          </a:p>
          <a:p>
            <a:pPr lvl="0" indent="0" marL="1270000">
              <a:buNone/>
            </a:pPr>
            <a:r>
              <a:rPr sz="2000" b="1"/>
              <a:t>Prior knowledge</a:t>
            </a:r>
            <a:r>
              <a:rPr sz="2000"/>
              <a:t> … can </a:t>
            </a:r>
            <a:r>
              <a:rPr sz="2000" b="1"/>
              <a:t>help</a:t>
            </a:r>
            <a:r>
              <a:rPr sz="2000"/>
              <a:t> or </a:t>
            </a:r>
            <a:r>
              <a:rPr sz="2000" b="1"/>
              <a:t>hinder</a:t>
            </a:r>
            <a:r>
              <a:rPr sz="2000"/>
              <a:t> learning!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Can be </a:t>
            </a:r>
            <a:r>
              <a:rPr b="1"/>
              <a:t>accurate</a:t>
            </a:r>
            <a:r>
              <a:rPr/>
              <a:t>, complete and appropriate for context</a:t>
            </a:r>
          </a:p>
        </p:txBody>
      </p:sp>
      <p:pic>
        <p:nvPicPr>
          <p:cNvPr descr="images/progress.png" id="0" name="Picture 1"/>
          <p:cNvPicPr>
            <a:picLocks noGrp="1" noChangeAspect="1"/>
          </p:cNvPicPr>
          <p:nvPr/>
        </p:nvPicPr>
        <p:blipFill>
          <a:blip r:embed="rId3"/>
          <a:stretch>
            <a:fillRect/>
          </a:stretch>
        </p:blipFill>
        <p:spPr bwMode="auto">
          <a:xfrm>
            <a:off x="990600" y="1625600"/>
            <a:ext cx="2959100" cy="29591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Can be </a:t>
            </a:r>
            <a:r>
              <a:rPr b="1"/>
              <a:t>inaccurate</a:t>
            </a:r>
            <a:r>
              <a:rPr/>
              <a:t>, incomplete or inappropriate for context</a:t>
            </a:r>
          </a:p>
        </p:txBody>
      </p:sp>
      <p:pic>
        <p:nvPicPr>
          <p:cNvPr descr="images/obstacles.png" id="0" name="Picture 1"/>
          <p:cNvPicPr>
            <a:picLocks noGrp="1" noChangeAspect="1"/>
          </p:cNvPicPr>
          <p:nvPr/>
        </p:nvPicPr>
        <p:blipFill>
          <a:blip r:embed="rId4"/>
          <a:stretch>
            <a:fillRect/>
          </a:stretch>
        </p:blipFill>
        <p:spPr bwMode="auto">
          <a:xfrm>
            <a:off x="5181600" y="1625600"/>
            <a:ext cx="2959100" cy="29591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A model of acquiring Open Access skills</a:t>
            </a:r>
          </a:p>
        </p:txBody>
      </p:sp>
      <p:sp>
        <p:nvSpPr>
          <p:cNvPr id="3" name="Content Placeholder 2"/>
          <p:cNvSpPr>
            <a:spLocks noGrp="1"/>
          </p:cNvSpPr>
          <p:nvPr>
            <p:ph idx="1"/>
          </p:nvPr>
        </p:nvSpPr>
        <p:spPr/>
        <p:txBody>
          <a:bodyPr/>
          <a:lstStyle/>
          <a:p>
            <a:pPr lvl="0" indent="0" marL="0">
              <a:buNone/>
            </a:pPr>
            <a:r>
              <a:rPr/>
              <a:t>Level</a:t>
            </a:r>
          </a:p>
          <a:p>
            <a:pPr lvl="0" indent="0" marL="0">
              <a:buNone/>
            </a:pPr>
            <a:r>
              <a:rPr/>
              <a:t>Can do✅</a:t>
            </a:r>
          </a:p>
          <a:p>
            <a:pPr lvl="0" indent="0" marL="0">
              <a:buNone/>
            </a:pPr>
            <a:r>
              <a:rPr/>
              <a:t>Cannot (yet) do❌</a:t>
            </a:r>
          </a:p>
          <a:p>
            <a:pPr lvl="0" indent="0" marL="0">
              <a:buNone/>
            </a:pPr>
            <a:r>
              <a:rPr/>
              <a:t>Novice learner</a:t>
            </a:r>
          </a:p>
          <a:p>
            <a:pPr lvl="0" indent="0" marL="0">
              <a:buNone/>
            </a:pPr>
            <a:r>
              <a:rPr/>
              <a:t>Recognize that Open Access and publishing licenses exist</a:t>
            </a:r>
          </a:p>
          <a:p>
            <a:pPr lvl="0" indent="0" marL="0">
              <a:buNone/>
            </a:pPr>
            <a:r>
              <a:rPr/>
              <a:t>Identify different publishing licenses or explain their effects on authors and readers</a:t>
            </a:r>
          </a:p>
          <a:p>
            <a:pPr lvl="0" indent="0" marL="0">
              <a:buNone/>
            </a:pPr>
            <a:r>
              <a:rPr/>
              <a:t>Competent practitioner</a:t>
            </a:r>
          </a:p>
          <a:p>
            <a:pPr lvl="0" indent="0" marL="0">
              <a:buNone/>
            </a:pPr>
            <a:r>
              <a:rPr/>
              <a:t>Publish papers Open Access and apply open licenses (e.g., Creative Commons)</a:t>
            </a:r>
          </a:p>
          <a:p>
            <a:pPr lvl="0" indent="0" marL="0">
              <a:buNone/>
            </a:pPr>
            <a:r>
              <a:rPr/>
              <a:t>Explain in-depth differences between Gold, Green, and Diamond OA or navigate complex copyright and licensing issues</a:t>
            </a:r>
          </a:p>
          <a:p>
            <a:pPr lvl="0" indent="0" marL="0">
              <a:buNone/>
            </a:pPr>
            <a:r>
              <a:rPr/>
              <a:t>Expert</a:t>
            </a:r>
          </a:p>
          <a:p>
            <a:pPr lvl="0" indent="0" marL="0">
              <a:buNone/>
            </a:pPr>
            <a:r>
              <a:rPr/>
              <a:t>Strategically select and apply Open Access routes (Gold, Green, Diamond); choose Creative Commons licenses based on reuse goals; support and train others</a:t>
            </a:r>
          </a:p>
          <a:p>
            <a:pPr lvl="0" indent="0" marL="0">
              <a:buNone/>
            </a:pP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organization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Pick a topic</a:t>
            </a:r>
            <a:r>
              <a:rPr/>
              <a:t> from open research (different from open access).</a:t>
            </a:r>
          </a:p>
          <a:p>
            <a:pPr lvl="0" indent="-342900" marL="342900">
              <a:buAutoNum type="arabicPeriod"/>
            </a:pPr>
            <a:r>
              <a:rPr b="1"/>
              <a:t>Sketch out</a:t>
            </a:r>
            <a:r>
              <a:rPr/>
              <a:t> the mental model of a novice in comparison to a competent practitioner and an expert</a:t>
            </a:r>
          </a:p>
          <a:p>
            <a:pPr lvl="0" indent="-342900" marL="342900">
              <a:buAutoNum type="arabicPeriod"/>
            </a:pPr>
            <a:r>
              <a:rPr b="1"/>
              <a:t>Provide concrete examples</a:t>
            </a:r>
            <a:r>
              <a:rPr/>
              <a:t> of how the organization of knowledge differs among these three types of learners.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Didactics</a:t>
            </a:r>
            <a:r>
              <a:rPr/>
              <a:t> = </a:t>
            </a:r>
            <a:r>
              <a:rPr b="1"/>
              <a:t>planning and organizing</a:t>
            </a:r>
            <a:r>
              <a:rPr/>
              <a:t> successful processes of learners’ learning</a:t>
            </a:r>
          </a:p>
          <a:p>
            <a:pPr lvl="0"/>
            <a:r>
              <a:rPr b="1"/>
              <a:t>Learning</a:t>
            </a:r>
            <a:r>
              <a:rPr/>
              <a:t> = learners actively </a:t>
            </a:r>
            <a:r>
              <a:rPr b="1"/>
              <a:t>construct knowledge</a:t>
            </a:r>
            <a:r>
              <a:rPr/>
              <a:t> through prior knowledge and context rather than passively receive information (</a:t>
            </a:r>
            <a:r>
              <a:rPr b="1"/>
              <a:t>constructivism</a:t>
            </a:r>
            <a:r>
              <a:rPr/>
              <a:t>)</a:t>
            </a:r>
          </a:p>
          <a:p>
            <a:pPr lvl="0"/>
            <a:r>
              <a:rPr b="1"/>
              <a:t>Mental models of knowledge acquisition</a:t>
            </a:r>
            <a:r>
              <a:rPr/>
              <a:t> develop with expertise</a:t>
            </a:r>
          </a:p>
          <a:p>
            <a:pPr lvl="0"/>
            <a:r>
              <a:rPr/>
              <a:t>Effective teaching </a:t>
            </a:r>
            <a:r>
              <a:rPr b="1"/>
              <a:t>builds</a:t>
            </a:r>
            <a:r>
              <a:rPr/>
              <a:t> on learners’ existing knowledge and supports their </a:t>
            </a:r>
            <a:r>
              <a:rPr b="1"/>
              <a:t>progression from novice to competent practitioner to expert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 </a:t>
            </a:r>
          </a:p>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Enhancing the organization of knowledge</a:t>
            </a:r>
          </a:p>
        </p:txBody>
      </p:sp>
      <p:sp>
        <p:nvSpPr>
          <p:cNvPr id="4" name="Text Placeholder 3"/>
          <p:cNvSpPr>
            <a:spLocks noGrp="1"/>
          </p:cNvSpPr>
          <p:nvPr>
            <p:ph idx="2" sz="half" type="body"/>
          </p:nvPr>
        </p:nvSpPr>
        <p:spPr/>
        <p:txBody>
          <a:bodyPr/>
          <a:lstStyle/>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a:p>
            <a:pPr lvl="0"/>
            <a:r>
              <a:rPr/>
              <a:t>Provide direction through clear </a:t>
            </a:r>
            <a:r>
              <a:rPr b="1"/>
              <a:t>learning objectives</a:t>
            </a:r>
          </a:p>
        </p:txBody>
      </p:sp>
      <p:pic>
        <p:nvPicPr>
          <p:cNvPr descr="images/picture-in-picture.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1270000">
              <a:buNone/>
            </a:pPr>
            <a:r>
              <a:rPr sz="2000"/>
              <a:t>Focus on </a:t>
            </a:r>
            <a:r>
              <a:rPr sz="2000" b="1"/>
              <a:t>learning objectives</a:t>
            </a:r>
            <a:r>
              <a:rPr sz="2000"/>
              <a:t>: what do we want our learners to </a:t>
            </a:r>
            <a:r>
              <a:rPr sz="2000" b="1"/>
              <a:t>achieve</a:t>
            </a:r>
            <a:r>
              <a:rPr sz="2000"/>
              <a:t>?</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0" marL="0">
              <a:buNone/>
            </a:pPr>
            <a:r>
              <a:rPr/>
              <a:t>Match each </a:t>
            </a:r>
            <a:r>
              <a:rPr b="1"/>
              <a:t>learning objective</a:t>
            </a:r>
            <a:r>
              <a:rPr/>
              <a:t> with an </a:t>
            </a:r>
            <a:r>
              <a:rPr b="1"/>
              <a:t>assessment type</a:t>
            </a:r>
            <a:r>
              <a:rPr/>
              <a:t> and reflect the following:</a:t>
            </a:r>
          </a:p>
          <a:p>
            <a:pPr lvl="0"/>
            <a:r>
              <a:rPr/>
              <a:t>Why does the assessment type fit the specific learning objective?</a:t>
            </a:r>
          </a:p>
          <a:p>
            <a:pPr lvl="0"/>
            <a:r>
              <a:rPr/>
              <a:t>What teaching activities can you think of that would align with the learning objective and the corresponding assessment type?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A definition</a:t>
            </a:r>
          </a:p>
        </p:txBody>
      </p:sp>
      <p:sp>
        <p:nvSpPr>
          <p:cNvPr id="3" name="Content Placeholder 2"/>
          <p:cNvSpPr>
            <a:spLocks noGrp="1"/>
          </p:cNvSpPr>
          <p:nvPr>
            <p:ph idx="1"/>
          </p:nvPr>
        </p:nvSpPr>
        <p:spPr/>
        <p:txBody>
          <a:bodyPr/>
          <a:lstStyle/>
          <a:p>
            <a:pPr lvl="0" indent="0" marL="0">
              <a:buNone/>
            </a:pPr>
          </a:p>
          <a:p>
            <a:pPr lvl="0" indent="0" marL="0">
              <a:buNone/>
            </a:pPr>
            <a:r>
              <a:rPr/>
              <a:t>“… describes what </a:t>
            </a:r>
            <a:r>
              <a:rPr b="1"/>
              <a:t>learners should be able to do</a:t>
            </a:r>
            <a:r>
              <a:rPr/>
              <a:t> after instruction and should specify the </a:t>
            </a:r>
            <a:r>
              <a:rPr b="1"/>
              <a:t>intended performance</a:t>
            </a:r>
            <a:r>
              <a:rPr/>
              <a:t>, </a:t>
            </a:r>
            <a:r>
              <a:rPr b="1"/>
              <a:t>conditions</a:t>
            </a:r>
            <a:r>
              <a:rPr/>
              <a:t>, and </a:t>
            </a:r>
            <a:r>
              <a:rPr b="1"/>
              <a:t>criteria for success</a:t>
            </a:r>
            <a:r>
              <a:rPr/>
              <a:t>.”</a:t>
            </a:r>
          </a:p>
          <a:p>
            <a:pPr lvl="0" indent="0" marL="0">
              <a:buNone/>
            </a:pPr>
            <a:r>
              <a:rPr/>
              <a:t>Mager, R. F. (1997). Preparing instructional objectives: A critical tool in the development of effective instruction (3rd ed.). Atlanta, GA: Center for Effective Performance.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“Hierarchy” of learning objectives</a:t>
            </a:r>
          </a:p>
        </p:txBody>
      </p:sp>
      <p:sp>
        <p:nvSpPr>
          <p:cNvPr id="3" name="Content Placeholder 2"/>
          <p:cNvSpPr>
            <a:spLocks noGrp="1"/>
          </p:cNvSpPr>
          <p:nvPr>
            <p:ph idx="1" sz="half"/>
          </p:nvPr>
        </p:nvSpPr>
        <p:spPr/>
        <p:txBody>
          <a:bodyPr/>
          <a:lstStyle/>
          <a:p>
            <a:pPr lvl="0" indent="0" marL="1270000">
              <a:buNone/>
            </a:pPr>
            <a:r>
              <a:rPr sz="2000"/>
              <a:t>What is the </a:t>
            </a:r>
            <a:r>
              <a:rPr sz="2000" b="1"/>
              <a:t>general objective</a:t>
            </a:r>
            <a:r>
              <a:rPr sz="2000"/>
              <a:t> of this course?</a:t>
            </a:r>
          </a:p>
          <a:p>
            <a:pPr lvl="0" indent="0" marL="1270000">
              <a:buNone/>
            </a:pPr>
            <a:r>
              <a:rPr sz="2000"/>
              <a:t>What are </a:t>
            </a:r>
            <a:r>
              <a:rPr sz="2000" b="1"/>
              <a:t>specific individual learning objectives</a:t>
            </a:r>
            <a:r>
              <a:rPr sz="2000"/>
              <a:t> within the course?</a:t>
            </a:r>
          </a:p>
        </p:txBody>
      </p:sp>
      <p:pic>
        <p:nvPicPr>
          <p:cNvPr descr="images/objectives-hierarchy.png" id="0" name="Picture 1"/>
          <p:cNvPicPr>
            <a:picLocks noGrp="1" noChangeAspect="1"/>
          </p:cNvPicPr>
          <p:nvPr/>
        </p:nvPicPr>
        <p:blipFill>
          <a:blip r:embed="rId3"/>
          <a:stretch>
            <a:fillRect/>
          </a:stretch>
        </p:blipFill>
        <p:spPr bwMode="auto">
          <a:xfrm>
            <a:off x="4648200" y="1752600"/>
            <a:ext cx="4038600" cy="22733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463800"/>
                <a:gridCol w="5765800"/>
              </a:tblGrid>
              <a:tr h="0">
                <a:tc>
                  <a:txBody>
                    <a:bodyPr/>
                    <a:lstStyle/>
                    <a:p>
                      <a:pPr lvl="0" indent="0" marL="0" algn="l">
                        <a:buNone/>
                      </a:pPr>
                      <a:r>
                        <a:rPr/>
                        <a:t>Domain</a:t>
                      </a:r>
                    </a:p>
                  </a:txBody>
                  <a:tcPr/>
                </a:tc>
                <a:tc>
                  <a:txBody>
                    <a:bodyPr/>
                    <a:lstStyle/>
                    <a:p>
                      <a:pPr lvl="0" indent="0" marL="0" algn="l">
                        <a:buNone/>
                      </a:pPr>
                      <a:r>
                        <a:rPr/>
                        <a:t>Focus</a:t>
                      </a:r>
                    </a:p>
                  </a:txBody>
                  <a:tcPr/>
                </a:tc>
              </a:tr>
              <a:tr h="0">
                <a:tc>
                  <a:txBody>
                    <a:bodyPr/>
                    <a:lstStyle/>
                    <a:p>
                      <a:pPr lvl="0" indent="0" marL="0" algn="l">
                        <a:buNone/>
                      </a:pPr>
                      <a:r>
                        <a:rPr b="1"/>
                        <a:t>Cognitive</a:t>
                      </a:r>
                    </a:p>
                  </a:txBody>
                </a:tc>
                <a:tc>
                  <a:txBody>
                    <a:bodyPr/>
                    <a:lstStyle/>
                    <a:p>
                      <a:pPr lvl="0" indent="0" marL="0" algn="l">
                        <a:buNone/>
                      </a:pPr>
                      <a:r>
                        <a:rPr/>
                        <a:t>Knowledge or thinking</a:t>
                      </a:r>
                    </a:p>
                  </a:txBody>
                </a:tc>
              </a:tr>
              <a:tr h="0">
                <a:tc>
                  <a:txBody>
                    <a:bodyPr/>
                    <a:lstStyle/>
                    <a:p>
                      <a:pPr lvl="0" indent="0" marL="0" algn="l">
                        <a:buNone/>
                      </a:pPr>
                      <a:r>
                        <a:rPr b="1"/>
                        <a:t>Affective</a:t>
                      </a:r>
                    </a:p>
                  </a:txBody>
                </a:tc>
                <a:tc>
                  <a:txBody>
                    <a:bodyPr/>
                    <a:lstStyle/>
                    <a:p>
                      <a:pPr lvl="0" indent="0" marL="0" algn="l">
                        <a:buNone/>
                      </a:pPr>
                      <a:r>
                        <a:rPr/>
                        <a:t>Growth in feelings or emotional areas (attitude or self), values</a:t>
                      </a:r>
                    </a:p>
                  </a:txBody>
                </a:tc>
              </a:tr>
              <a:tr h="0">
                <a:tc>
                  <a:txBody>
                    <a:bodyPr/>
                    <a:lstStyle/>
                    <a:p>
                      <a:pPr lvl="0" indent="0" marL="0" algn="l">
                        <a:buNone/>
                      </a:pPr>
                      <a:r>
                        <a:rPr b="1"/>
                        <a:t>Psychomotor</a:t>
                      </a:r>
                    </a:p>
                  </a:txBody>
                </a:tc>
                <a:tc>
                  <a:txBody>
                    <a:bodyPr/>
                    <a:lstStyle/>
                    <a:p>
                      <a:pPr lvl="0" indent="0" marL="0" algn="l">
                        <a:buNone/>
                      </a:pPr>
                      <a:r>
                        <a:rPr/>
                        <a:t>Manual or physical skills, change in behaviors</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Stapleton-Corcoran, E. (2023). “Bloom’s Taxonomy of Educational Objectives.” Center for the Advancement of Teaching Excellence at the University of Illinois Chicago. Retrieved 10. Augut 2026 from </a:t>
            </a:r>
            <a:r>
              <a:rPr>
                <a:hlinkClick r:id="rId3"/>
              </a:rPr>
              <a:t>https://teaching.uic.edu/blooms-taxonomy-of-educational-objectives/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sp>
        <p:nvSpPr>
          <p:cNvPr id="3" name="Content Placeholder 2"/>
          <p:cNvSpPr>
            <a:spLocks noGrp="1"/>
          </p:cNvSpPr>
          <p:nvPr>
            <p:ph idx="1"/>
          </p:nvPr>
        </p:nvSpPr>
        <p:spPr/>
        <p:txBody>
          <a:bodyPr/>
          <a:lstStyle/>
          <a:p>
            <a:pPr lvl="0"/>
            <a:r>
              <a:rPr/>
              <a:t>Learning focused on expanding or building up </a:t>
            </a:r>
            <a:r>
              <a:rPr b="1"/>
              <a:t>knowledge and thinking skills</a:t>
            </a:r>
            <a:r>
              <a:rPr/>
              <a:t> as a learning outcome</a:t>
            </a:r>
          </a:p>
          <a:p>
            <a:pPr lvl="0"/>
            <a:r>
              <a:rPr/>
              <a:t>Widely implemented in education and typically connected to </a:t>
            </a:r>
            <a:r>
              <a:rPr i="1"/>
              <a:t>Bloom’s taxonomy</a:t>
            </a:r>
          </a:p>
          <a:p>
            <a:pPr lvl="0"/>
            <a:r>
              <a:rPr i="1"/>
              <a:t>Example</a:t>
            </a:r>
            <a:r>
              <a:rPr/>
              <a:t>:</a:t>
            </a:r>
          </a:p>
          <a:p>
            <a:pPr lvl="1"/>
            <a:r>
              <a:rPr b="1"/>
              <a:t>Learning objective</a:t>
            </a:r>
            <a:r>
              <a:rPr/>
              <a:t>: Learners will be able to analyze how open science practices improve research transparency and reproducibility</a:t>
            </a:r>
          </a:p>
          <a:p>
            <a:pPr lvl="1"/>
            <a:r>
              <a:rPr b="1"/>
              <a:t>Teaching activity</a:t>
            </a:r>
            <a:r>
              <a:rPr/>
              <a:t>: Evaluation and comparisons of reproducible and non-reproducible research workflows or published studies in groups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pic>
        <p:nvPicPr>
          <p:cNvPr descr="images/cognitive-domain.png" id="0" name="Picture 1"/>
          <p:cNvPicPr>
            <a:picLocks noGrp="1" noChangeAspect="1"/>
          </p:cNvPicPr>
          <p:nvPr/>
        </p:nvPicPr>
        <p:blipFill>
          <a:blip r:embed="rId3"/>
          <a:stretch>
            <a:fillRect/>
          </a:stretch>
        </p:blipFill>
        <p:spPr bwMode="auto">
          <a:xfrm>
            <a:off x="2209800" y="1193800"/>
            <a:ext cx="47117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sp>
        <p:nvSpPr>
          <p:cNvPr id="3" name="Content Placeholder 2"/>
          <p:cNvSpPr>
            <a:spLocks noGrp="1"/>
          </p:cNvSpPr>
          <p:nvPr>
            <p:ph idx="1"/>
          </p:nvPr>
        </p:nvSpPr>
        <p:spPr/>
        <p:txBody>
          <a:bodyPr/>
          <a:lstStyle/>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objective</a:t>
            </a:r>
            <a:r>
              <a:rPr/>
              <a:t>: Learners will actively engage with differing views on the pros and cons of preregistration by asking 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pic>
        <p:nvPicPr>
          <p:cNvPr descr="images/affective-domain.png" id="0" name="Picture 1"/>
          <p:cNvPicPr>
            <a:picLocks noGrp="1" noChangeAspect="1"/>
          </p:cNvPicPr>
          <p:nvPr/>
        </p:nvPicPr>
        <p:blipFill>
          <a:blip r:embed="rId3"/>
          <a:stretch>
            <a:fillRect/>
          </a:stretch>
        </p:blipFill>
        <p:spPr bwMode="auto">
          <a:xfrm>
            <a:off x="2298700" y="1193800"/>
            <a:ext cx="4533900" cy="33909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sp>
        <p:nvSpPr>
          <p:cNvPr id="3" name="Content Placeholder 2"/>
          <p:cNvSpPr>
            <a:spLocks noGrp="1"/>
          </p:cNvSpPr>
          <p:nvPr>
            <p:ph idx="1"/>
          </p:nvPr>
        </p:nvSpPr>
        <p:spPr/>
        <p:txBody>
          <a:bodyPr/>
          <a:lstStyle/>
          <a:p>
            <a:pPr lvl="0"/>
            <a:r>
              <a:rPr/>
              <a:t>Learning focused on implementing, expanding and building </a:t>
            </a:r>
            <a:r>
              <a:rPr b="1"/>
              <a:t>physical skills and behaviors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licenses and uploading to an open repository.</a:t>
            </a:r>
          </a:p>
          <a:p>
            <a:pPr lvl="1"/>
            <a:r>
              <a:rPr b="1"/>
              <a:t>Assessment task</a:t>
            </a:r>
            <a:r>
              <a:rPr/>
              <a:t>: Each learner independently uploads a dataset and accompanying documentation to a repository with a suitable license.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pic>
        <p:nvPicPr>
          <p:cNvPr descr="images/psychomotor-domain.png" id="0" name="Picture 1"/>
          <p:cNvPicPr>
            <a:picLocks noGrp="1" noChangeAspect="1"/>
          </p:cNvPicPr>
          <p:nvPr/>
        </p:nvPicPr>
        <p:blipFill>
          <a:blip r:embed="rId3"/>
          <a:stretch>
            <a:fillRect/>
          </a:stretch>
        </p:blipFill>
        <p:spPr bwMode="auto">
          <a:xfrm>
            <a:off x="2362200" y="1193800"/>
            <a:ext cx="4432300" cy="33909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Learning objectives within learning domains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analyze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10 minutes</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In pairs, </a:t>
            </a:r>
            <a:r>
              <a:rPr b="1" i="1"/>
              <a:t>design one assessment task</a:t>
            </a:r>
            <a:r>
              <a:rPr i="1"/>
              <a:t> and </a:t>
            </a:r>
            <a:r>
              <a:rPr b="1" i="1"/>
              <a:t>define one observable metric</a:t>
            </a:r>
            <a:r>
              <a:rPr i="1"/>
              <a:t> of successfully achieving the learning objective for each </a:t>
            </a:r>
            <a:r>
              <a:rPr b="1" i="1"/>
              <a:t>learning objective</a:t>
            </a:r>
            <a:r>
              <a:rPr i="1"/>
              <a:t> below.</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appropriate license.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10 minutes</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b="1"/>
              <a:t>= 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a:t>
            </a:r>
            <a:r>
              <a:rPr b="1"/>
              <a:t>learning objectives</a:t>
            </a:r>
            <a:r>
              <a:rPr/>
              <a:t>, the </a:t>
            </a:r>
            <a:r>
              <a:rPr b="1"/>
              <a:t>assessment tasks</a:t>
            </a:r>
            <a:r>
              <a:rPr/>
              <a:t> and the </a:t>
            </a:r>
            <a:r>
              <a:rPr b="1"/>
              <a:t>teaching activities</a:t>
            </a:r>
            <a:r>
              <a:rPr/>
              <a:t> </a:t>
            </a:r>
            <a:r>
              <a:rPr b="1"/>
              <a:t>align</a:t>
            </a:r>
            <a:r>
              <a:rPr/>
              <a:t> is key for a successful learning process (</a:t>
            </a:r>
            <a:r>
              <a:rPr b="1"/>
              <a:t>= constructive alignment</a:t>
            </a:r>
            <a:r>
              <a:rPr/>
              <a:t>)</a:t>
            </a:r>
          </a:p>
          <a:p>
            <a:pPr lvl="0"/>
            <a:r>
              <a:rPr/>
              <a:t>Before teaching, we need to know where we are going, i.e., </a:t>
            </a:r>
            <a:r>
              <a:rPr b="1"/>
              <a:t>formulate learning objectives</a:t>
            </a:r>
            <a:r>
              <a:rPr/>
              <a:t> according to the fitting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(cognitive,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with these concepts and routinely apply them in my teaching.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now…</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(Eds.). (2001). </a:t>
            </a:r>
            <a:r>
              <a:rPr i="1"/>
              <a:t>A taxonomy for learning, teaching, and assessing: A revision of Bloom’s taxonomy of educational objectives</a:t>
            </a:r>
            <a:r>
              <a:rPr/>
              <a:t>. Addison Wesley Longman.</a:t>
            </a:r>
          </a:p>
          <a:p>
            <a:pPr lvl="0" indent="0" marL="0">
              <a:buNone/>
            </a:pPr>
            <a:r>
              <a:rPr/>
              <a:t>Bloom, B. S. (Ed.). (1973). </a:t>
            </a:r>
            <a:r>
              <a:rPr i="1"/>
              <a:t>Taxonomie von Lernzielen im kognitiven Bereich</a:t>
            </a:r>
            <a:r>
              <a:rPr/>
              <a:t> (3. Aufl.). Beltz.</a:t>
            </a:r>
          </a:p>
          <a:p>
            <a:pPr lvl="0" indent="0" marL="0">
              <a:buNone/>
            </a:pPr>
            <a:r>
              <a:rPr/>
              <a:t>Bloom, B. S., Engelhart, M. D., Furst, E. J., Hill, W. H., &amp; Krathwohl, D. R. (Eds.). (1956). </a:t>
            </a:r>
            <a:r>
              <a:rPr i="1"/>
              <a:t>Taxonomy of educational objectives: The classification of educational goals. Handbook I: Cognitive domain</a:t>
            </a:r>
            <a:r>
              <a:rPr/>
              <a:t>. David McKay Company.</a:t>
            </a:r>
          </a:p>
          <a:p>
            <a:pPr lvl="0" indent="0" marL="0">
              <a:buNone/>
            </a:pPr>
            <a:r>
              <a:rPr/>
              <a:t>Bruner, J. S. (1960). </a:t>
            </a:r>
            <a:r>
              <a:rPr i="1"/>
              <a:t>The process of education</a:t>
            </a:r>
            <a:r>
              <a:rPr/>
              <a:t>. Harvard University Press.</a:t>
            </a:r>
          </a:p>
          <a:p>
            <a:pPr lvl="0" indent="0" marL="0">
              <a:buNone/>
            </a:pPr>
            <a:r>
              <a:rPr/>
              <a:t>Fosnot, C. T. (Ed.). (2013). </a:t>
            </a:r>
            <a:r>
              <a:rPr i="1"/>
              <a:t>Constructivism: Theory, perspectives, and practice</a:t>
            </a:r>
            <a:r>
              <a:rPr/>
              <a:t> (2nd ed.). Teachers College Press.</a:t>
            </a:r>
          </a:p>
          <a:p>
            <a:pPr lvl="0" indent="0" marL="0">
              <a:buNone/>
            </a:pPr>
            <a:r>
              <a:rPr/>
              <a:t>Piaget, J. (1950). </a:t>
            </a:r>
            <a:r>
              <a:rPr i="1"/>
              <a:t>The psychology of intelligence</a:t>
            </a:r>
            <a:r>
              <a:rPr/>
              <a:t>. Routledge &amp; Kegan Paul.</a:t>
            </a:r>
          </a:p>
          <a:p>
            <a:pPr lvl="0" indent="0" marL="0">
              <a:buNone/>
            </a:pPr>
            <a:r>
              <a:rPr/>
              <a:t>von Glasersfeld, E. (1995). </a:t>
            </a:r>
            <a:r>
              <a:rPr i="1"/>
              <a:t>Radical constructivism: A way of knowing and learning</a:t>
            </a:r>
            <a:r>
              <a:rPr/>
              <a:t>. Falmer Press.</a:t>
            </a:r>
          </a:p>
          <a:p>
            <a:pPr lvl="0" indent="0" marL="0">
              <a:buNone/>
            </a:pPr>
            <a:r>
              <a:rPr/>
              <a:t>Vygotsky, L. S. (1978). </a:t>
            </a:r>
            <a:r>
              <a:rPr i="1"/>
              <a:t>Mind in society: The development of higher psychological processes</a:t>
            </a:r>
            <a:r>
              <a:rPr/>
              <a:t>. Harvard University Press.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Sjoberg, 2010; Tauber, 2006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a:t>
            </a:r>
            <a:r>
              <a:rPr b="1"/>
              <a:t>support</a:t>
            </a:r>
            <a:r>
              <a:rPr/>
              <a:t> the creation of matching, reliable assessments that </a:t>
            </a:r>
            <a:r>
              <a:rPr b="1"/>
              <a:t>target </a:t>
            </a:r>
            <a:r>
              <a:rPr b="1" i="1"/>
              <a:t>all</a:t>
            </a:r>
            <a:r>
              <a:rPr b="1"/>
              <a:t> levels of understanding</a:t>
            </a:r>
            <a:r>
              <a:rPr/>
              <a:t> (not just memorization)</a:t>
            </a:r>
          </a:p>
          <a:p>
            <a:pPr lvl="0"/>
            <a:r>
              <a:rPr/>
              <a:t>To </a:t>
            </a:r>
            <a:r>
              <a:rPr b="1"/>
              <a:t>enhance higher-order thinking</a:t>
            </a:r>
            <a:r>
              <a:rPr/>
              <a:t> (e.g., critical thinking) while </a:t>
            </a:r>
            <a:r>
              <a:rPr b="1"/>
              <a:t>improving metacognition</a:t>
            </a:r>
            <a:r>
              <a:rPr/>
              <a:t>,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dc:creator>
  <cp:keywords/>
  <dcterms:created xsi:type="dcterms:W3CDTF">2026-08-13T15:27:57Z</dcterms:created>
  <dcterms:modified xsi:type="dcterms:W3CDTF">2026-08-13T15:27:57Z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13/08/2026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