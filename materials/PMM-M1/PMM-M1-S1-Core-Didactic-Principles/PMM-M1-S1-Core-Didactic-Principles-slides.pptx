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notesMaster" Target="notesMasters/notesMaster1.xml" /><Relationship Id="rId66" Type="http://schemas.openxmlformats.org/officeDocument/2006/relationships/viewProps" Target="viewProps.xml" /><Relationship Id="rId65" Type="http://schemas.openxmlformats.org/officeDocument/2006/relationships/presProps" Target="presProps.xml" /><Relationship Id="rId1" Type="http://schemas.openxmlformats.org/officeDocument/2006/relationships/slideMaster" Target="slideMasters/slideMaster1.xml" /><Relationship Id="rId68" Type="http://schemas.openxmlformats.org/officeDocument/2006/relationships/tableStyles" Target="tableStyles.xml" /><Relationship Id="rId6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a bit more of a sense of who is in the room with you and what teaching or didactics experience they bring with you. </a:t>
            </a:r>
            <a:r>
              <a:rPr i="1"/>
              <a:t>For in-person learnerS</a:t>
            </a:r>
            <a:r>
              <a:rPr/>
              <a:t>: I would like for everyone to get up an to stand on an imaginary axis based on how much teaching experience you have. Closest to the front we have really a lot of teaching experience, I teach basically every day, and at the back we have I am completely new to teaching. </a:t>
            </a:r>
            <a:r>
              <a:rPr i="1"/>
              <a:t>For virtual learnerS</a:t>
            </a:r>
            <a:r>
              <a:rPr/>
              <a:t>: I would like for everyone draw on this line how much teaching experience you have by drawing an x. On the right side of scale we have really a lot of teaching experience, I teach basically every day, and on the left side we have I am completely new to teaching.</a:t>
            </a:r>
          </a:p>
          <a:p>
            <a:pPr lvl="0" indent="0" marL="0">
              <a:buNone/>
            </a:pPr>
          </a:p>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learning to you? How would you define it? What expectations or assumptions come with it?</a:t>
            </a:r>
          </a:p>
          <a:p>
            <a:pPr lvl="0" indent="0" marL="0">
              <a:buNone/>
            </a:pPr>
          </a:p>
          <a:p>
            <a:pPr lvl="0" indent="0" marL="0">
              <a:buNone/>
            </a:pPr>
            <a:r>
              <a:rPr b="1"/>
              <a:t>Instructor Notes</a:t>
            </a:r>
            <a:r>
              <a:rPr/>
              <a:t>: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practicioner, and expert. Here, the differences between these levels of learners can be supparized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 </a:t>
            </a:r>
            <a:r>
              <a:rPr i="1"/>
              <a:t>Example</a:t>
            </a:r>
            <a:r>
              <a:rPr/>
              <a:t>: A novice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 Example: A competent practitioner in the context of an Open Access workshop might be able to check funder’s requirements, publish papers Open Access and uses open licences like Creative Commons licences. What they maybe do not know are the in-depth differences between Gold, Green and Diamond OA and the legel subtleties of copyright and all the different licences.</a:t>
            </a:r>
          </a:p>
          <a:p>
            <a:pPr lvl="0" indent="0" marL="0">
              <a:buNone/>
            </a:pPr>
          </a:p>
          <a:p>
            <a:pPr lvl="0"/>
            <a:r>
              <a:rPr b="1"/>
              <a:t>Expert</a:t>
            </a:r>
            <a:r>
              <a:rPr/>
              <a:t>: someone who can easily handle typical situations and those that are out of the ordinary. Example: An expert publishes perhaps strategically across gold, green and diamond open access routes. Selects and applies different Creative Commons licences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organisation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organised.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 expectations and what you want your learners to achieve for a given workshop is key to help with the organization of the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goal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goal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goal. We will learn more about learning objectives and how to formulate them later. For now, focus on the alignment aspect: does the learning goal match with the assessment type?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 goal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obtain progress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goals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goal focuses on analysis. Learners are expected to critically examine how open science practices contribute to transparency and reproducibility in research. This moves beyond memorisation and requires higher-order thinking, such as comparing, evaluating, and interpreting research processes. The teaching activity supports this goal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goals associated with the cognitive learning domain. What you see is the pyramid of learning goals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goal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goal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a:t>
            </a:r>
          </a:p>
          <a:p>
            <a:pPr lvl="0" indent="0" marL="0">
              <a:buNone/>
            </a:pPr>
          </a:p>
          <a:p>
            <a:pPr lvl="0" indent="0" marL="0">
              <a:buNone/>
            </a:pPr>
            <a:r>
              <a:rPr/>
              <a:t>the learning goal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organise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goals,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explainations, let us get our hands dirty!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goals,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carpentries.github.io/instructor-training/02-practice-learning.html"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4-expertise.html"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7.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9.xml" /><Relationship Id="rId3" Type="http://schemas.openxmlformats.org/officeDocument/2006/relationships/image" Target="../media/image8.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teaching.uic.edu/blooms-taxonomy-of-educational-objectives/"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9.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0.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1.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2.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lmu-osc.github.io/introduction-to-zotero/"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15/05/2026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a:t>
            </a:r>
          </a:p>
        </p:txBody>
      </p:sp>
      <p:sp>
        <p:nvSpPr>
          <p:cNvPr id="3" name="Content Placeholder 2"/>
          <p:cNvSpPr>
            <a:spLocks noGrp="1"/>
          </p:cNvSpPr>
          <p:nvPr>
            <p:ph idx="1"/>
          </p:nvPr>
        </p:nvSpPr>
        <p:spPr/>
        <p:txBody>
          <a:bodyPr/>
          <a:lstStyle/>
          <a:p>
            <a:pPr lvl="0"/>
            <a:r>
              <a:rPr/>
              <a:t>☐ check with day 1 outline google doc if all points were ccovered and if outline matches</a:t>
            </a:r>
          </a:p>
          <a:p>
            <a:pPr lvl="0"/>
            <a:r>
              <a:rPr/>
              <a:t>☐ sort out presenter notes</a:t>
            </a:r>
          </a:p>
          <a:p>
            <a:pPr lvl="0"/>
            <a:r>
              <a:rPr/>
              <a:t>☐ sort out instructor notes</a:t>
            </a:r>
          </a:p>
          <a:p>
            <a:pPr lvl="0"/>
            <a:r>
              <a:rPr/>
              <a:t>☐ sort out accessibility tips</a:t>
            </a:r>
          </a:p>
          <a:p>
            <a:pPr lvl="0"/>
            <a:r>
              <a:rPr/>
              <a:t>☐ sort out references and credit</a:t>
            </a:r>
          </a:p>
          <a:p>
            <a:pPr lvl="0"/>
            <a:r>
              <a:rPr/>
              <a:t>☐ reformat and use callout boxes? Or conditional formatting?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4"/>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deliberately aligned so that learners actively construct the knowledge and skills they are expected to demonstrate.</a:t>
            </a:r>
          </a:p>
          <a:p>
            <a:pPr lvl="0"/>
            <a:r>
              <a:rPr b="1"/>
              <a:t>Bloom’s Taxonomy</a:t>
            </a:r>
            <a:r>
              <a:rPr/>
              <a:t>: A framework for classifying levels of learning and cognitive skills, organized from lower-order thinking skills such as remembering and understanding to higher-order skills such as analyzing, evaluating, and creating.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a:t>
            </a:r>
          </a:p>
          <a:p>
            <a:pPr lvl="0"/>
            <a:r>
              <a:rPr b="1"/>
              <a:t>Analyze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When teaching about open research, have you considered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As a </a:t>
            </a:r>
            <a:r>
              <a:rPr i="1"/>
              <a:t>process</a:t>
            </a:r>
            <a:r>
              <a:rPr/>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b="1"/>
              <a:t>Constructivism</a:t>
            </a:r>
            <a:r>
              <a:rPr/>
              <a:t>: Learning is not passively received, but </a:t>
            </a:r>
            <a:r>
              <a:rPr b="1"/>
              <a:t>actively built and shaped</a:t>
            </a:r>
            <a:r>
              <a:rPr/>
              <a:t> by prior knowledge and the learning context. .</a:t>
            </a:r>
          </a:p>
          <a:p>
            <a:pPr lvl="0" indent="0" marL="0">
              <a:buNone/>
            </a:pPr>
            <a:r>
              <a:rPr/>
              <a:t>Fosnot (2013)</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indent="0" marL="0">
              <a:buNone/>
            </a:pPr>
            <a:r>
              <a:rPr/>
              <a:t>Prior knowledge … can help or hinder learning!</a:t>
            </a:r>
          </a:p>
          <a:p>
            <a:pPr lvl="0"/>
            <a:r>
              <a:rPr/>
              <a:t>Knowledge = facts, concepts, beliefs, values, models, perceptions, attitudes</a:t>
            </a:r>
          </a:p>
          <a:p>
            <a:pPr lvl="1"/>
            <a:r>
              <a:rPr/>
              <a:t>Can be </a:t>
            </a:r>
            <a:r>
              <a:rPr b="1"/>
              <a:t>accurate</a:t>
            </a:r>
            <a:r>
              <a:rPr/>
              <a:t>, complete and appropriate for context</a:t>
            </a:r>
          </a:p>
          <a:p>
            <a:pPr lvl="1"/>
            <a:r>
              <a:rPr/>
              <a:t>Can be </a:t>
            </a:r>
            <a:r>
              <a:rPr b="1"/>
              <a:t>inaccurate</a:t>
            </a:r>
            <a:r>
              <a:rPr/>
              <a:t>, incomplete or inappropriate for context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organisation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Pick a topic from open research (different from open access). </a:t>
            </a:r>
            <a:r>
              <a:rPr b="1"/>
              <a:t>Sketch out</a:t>
            </a:r>
            <a:r>
              <a:rPr/>
              <a:t> the mental model of a novice in comparison to a competent practitioner and an expert and </a:t>
            </a:r>
            <a:r>
              <a:rPr b="1"/>
              <a:t>provide concrete examples</a:t>
            </a:r>
            <a:r>
              <a:rPr/>
              <a:t> of how the organisation of knowledge differs among these three types of learners.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Enhancing the organisation of knowledge</a:t>
            </a:r>
          </a:p>
        </p:txBody>
      </p:sp>
      <p:sp>
        <p:nvSpPr>
          <p:cNvPr id="3" name="Content Placeholder 2"/>
          <p:cNvSpPr>
            <a:spLocks noGrp="1"/>
          </p:cNvSpPr>
          <p:nvPr>
            <p:ph idx="1"/>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0">
              <a:buNone/>
            </a:pPr>
            <a:r>
              <a:rPr/>
              <a:t>Focus on learning objectives: what do we want our learners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Match each </a:t>
            </a:r>
            <a:r>
              <a:rPr b="1"/>
              <a:t>learning goal</a:t>
            </a:r>
            <a:r>
              <a:rPr/>
              <a:t> with an </a:t>
            </a:r>
            <a:r>
              <a:rPr b="1"/>
              <a:t>assessment type</a:t>
            </a:r>
            <a:r>
              <a:rPr/>
              <a:t> and reflect the following:</a:t>
            </a:r>
          </a:p>
          <a:p>
            <a:pPr lvl="0"/>
            <a:r>
              <a:rPr/>
              <a:t>Why does the assessment type fit the specific learning goal?</a:t>
            </a:r>
          </a:p>
          <a:p>
            <a:pPr lvl="0"/>
            <a:r>
              <a:rPr/>
              <a:t>What teaching activities can you think of that would align with the learning goal and the corresponding assessment type?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“Hierarchy” of learning objectives</a:t>
            </a:r>
          </a:p>
        </p:txBody>
      </p:sp>
      <p:sp>
        <p:nvSpPr>
          <p:cNvPr id="4" name="Text Placeholder 3"/>
          <p:cNvSpPr>
            <a:spLocks noGrp="1"/>
          </p:cNvSpPr>
          <p:nvPr>
            <p:ph idx="2" sz="half" type="body"/>
          </p:nvPr>
        </p:nvSpPr>
        <p:spPr/>
        <p:txBody>
          <a:bodyPr/>
          <a:lstStyle/>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3"/>
          <a:stretch>
            <a:fillRect/>
          </a:stretch>
        </p:blipFill>
        <p:spPr bwMode="auto">
          <a:xfrm>
            <a:off x="3568700" y="952500"/>
            <a:ext cx="5105400" cy="2870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sp>
        <p:nvSpPr>
          <p:cNvPr id="3" name="Content Placeholder 2"/>
          <p:cNvSpPr>
            <a:spLocks noGrp="1"/>
          </p:cNvSpPr>
          <p:nvPr>
            <p:ph idx="1"/>
          </p:nvPr>
        </p:nvSpPr>
        <p:spPr/>
        <p:txBody>
          <a:bodyPr/>
          <a:lstStyle/>
          <a:p>
            <a:pPr lvl="0"/>
            <a:r>
              <a:rPr b="1"/>
              <a:t>Cognitive</a:t>
            </a:r>
            <a:r>
              <a:rPr/>
              <a:t>: knowledge or thinking</a:t>
            </a:r>
          </a:p>
          <a:p>
            <a:pPr lvl="0"/>
            <a:r>
              <a:rPr b="1"/>
              <a:t>Affective</a:t>
            </a:r>
            <a:r>
              <a:rPr/>
              <a:t>: growth in feelings or emotional areas (attitude or self), values</a:t>
            </a:r>
          </a:p>
          <a:p>
            <a:pPr lvl="0"/>
            <a:r>
              <a:rPr b="1"/>
              <a:t>Psychomotor</a:t>
            </a:r>
            <a:r>
              <a:rPr/>
              <a:t>: manual or physical skills, change in behaviours</a:t>
            </a:r>
          </a:p>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learning outcome</a:t>
            </a:r>
          </a:p>
          <a:p>
            <a:pPr lvl="0"/>
            <a:r>
              <a:rPr/>
              <a:t>Widely implemented in education and typically connected to </a:t>
            </a:r>
            <a:r>
              <a:rPr i="1"/>
              <a:t>Bloom’s taxonomy</a:t>
            </a:r>
          </a:p>
          <a:p>
            <a:pPr lvl="0"/>
            <a:r>
              <a:rPr i="1"/>
              <a:t>Example</a:t>
            </a:r>
            <a:r>
              <a:rPr/>
              <a:t>:</a:t>
            </a:r>
          </a:p>
          <a:p>
            <a:pPr lvl="1"/>
            <a:r>
              <a:rPr b="1"/>
              <a:t>Learning goal</a:t>
            </a:r>
            <a:r>
              <a:rPr/>
              <a:t>: Learning will be able to analyze how open science practices improve research transparency and reproducibility</a:t>
            </a:r>
          </a:p>
          <a:p>
            <a:pPr lvl="1"/>
            <a:r>
              <a:rPr b="1"/>
              <a:t>Teaching activity</a:t>
            </a:r>
            <a:r>
              <a:rPr/>
              <a:t>: Evaluation and comparison of reproducible and non-reproducible research workflows or published studies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goal</a:t>
            </a:r>
            <a:r>
              <a:rPr/>
              <a:t>: Learners will actively engage with with differing views on the pros and cons of preregistration by askingclarifying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behaviours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licences and uploading to an open repository.</a:t>
            </a:r>
          </a:p>
          <a:p>
            <a:pPr lvl="1"/>
            <a:r>
              <a:rPr b="1"/>
              <a:t>Assessment task</a:t>
            </a:r>
            <a:r>
              <a:rPr/>
              <a:t>: Each learner independently uploads a dataset and accompanying documentation to a repository with a suitable licence.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within learning domains: Recap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The learning objectives for each learning domain are:</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apprpriate license.</a:t>
            </a:r>
          </a:p>
          <a:p>
            <a:pPr lvl="0" indent="0" marL="0">
              <a:buNone/>
            </a:pPr>
            <a:r>
              <a:rPr i="1"/>
              <a:t>For each learning goal, design one assessment task, including an assessment method (checklist, scoring rubric etc.) and define at least one observable metric of successfully achieving the learning goal.</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i="1"/>
              <a:t>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learning objectives, the assessment tasks and the teaching activities </a:t>
            </a:r>
            <a:r>
              <a:rPr b="1"/>
              <a:t>align</a:t>
            </a:r>
            <a:r>
              <a:rPr/>
              <a:t> is key for a successful learning process(</a:t>
            </a:r>
            <a:r>
              <a:rPr i="1"/>
              <a:t>constructive alignment</a:t>
            </a:r>
            <a:r>
              <a:rPr/>
              <a:t>)</a:t>
            </a:r>
          </a:p>
          <a:p>
            <a:pPr lvl="0"/>
            <a:r>
              <a:rPr/>
              <a:t>Before teaching, we need to know where we are going, i.e., </a:t>
            </a:r>
            <a:r>
              <a:rPr b="1"/>
              <a:t>formulate</a:t>
            </a:r>
            <a:r>
              <a:rPr/>
              <a:t> learning objectives according to a suitable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 ✔</a:t>
            </a:r>
          </a:p>
          <a:p>
            <a:pPr lvl="0"/>
            <a:r>
              <a:rPr b="1"/>
              <a:t>Analyze</a:t>
            </a:r>
            <a:r>
              <a:rPr/>
              <a:t> how knowledge can be organized depending on the level of expertise ✔</a:t>
            </a:r>
          </a:p>
          <a:p>
            <a:pPr lvl="0"/>
            <a:r>
              <a:rPr b="1"/>
              <a:t>Evaluate</a:t>
            </a:r>
            <a:r>
              <a:rPr/>
              <a:t> the alignment between learning objectives, assessment types and teaching activities ✔</a:t>
            </a:r>
          </a:p>
          <a:p>
            <a:pPr lvl="0"/>
            <a:r>
              <a:rPr b="1"/>
              <a:t>Formulate</a:t>
            </a:r>
            <a:r>
              <a:rPr/>
              <a:t> concrete learning objectives according to specific learning domains for real-world content ✔</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support the creation of matching, reliable assessments that target </a:t>
            </a:r>
            <a:r>
              <a:rPr i="1"/>
              <a:t>all</a:t>
            </a:r>
            <a:r>
              <a:rPr/>
              <a:t> levels of understanding (not just memorization)</a:t>
            </a:r>
          </a:p>
          <a:p>
            <a:pPr lvl="0"/>
            <a:r>
              <a:rPr/>
              <a:t>To enhance higher-order thinking (e.g., critical thinking) while improving metacognition,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2026-05-15T14:42:27Z</dcterms:created>
  <dcterms:modified xsi:type="dcterms:W3CDTF">2026-05-15T14:42:27Z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