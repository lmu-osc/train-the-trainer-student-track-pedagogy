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notesMaster" Target="notesMasters/notesMaster1.xml" /><Relationship Id="rId74" Type="http://schemas.openxmlformats.org/officeDocument/2006/relationships/viewProps" Target="viewProps.xml" /><Relationship Id="rId73" Type="http://schemas.openxmlformats.org/officeDocument/2006/relationships/presProps" Target="presProps.xml" /><Relationship Id="rId1" Type="http://schemas.openxmlformats.org/officeDocument/2006/relationships/slideMaster" Target="slideMasters/slideMaster1.xml" /><Relationship Id="rId76" Type="http://schemas.openxmlformats.org/officeDocument/2006/relationships/tableStyles" Target="tableStyles.xml" /><Relationship Id="rId7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a:t>
            </a:r>
          </a:p>
          <a:p>
            <a:pPr lvl="0" indent="0" marL="0">
              <a:buNone/>
            </a:pPr>
          </a:p>
          <a:p>
            <a:pPr lvl="0" indent="0" marL="0">
              <a:buNone/>
            </a:pPr>
            <a:r>
              <a:rPr/>
              <a:t>Second, you will analyze how knowledge can be structured differently depending on the learner’s level of expertise, for example, how novices and experts organize information in different ways.</a:t>
            </a:r>
          </a:p>
          <a:p>
            <a:pPr lvl="0" indent="0" marL="0">
              <a:buNone/>
            </a:pPr>
          </a:p>
          <a:p>
            <a:pPr lvl="0" indent="0" marL="0">
              <a:buNone/>
            </a:pPr>
            <a:r>
              <a:rPr/>
              <a:t>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Greek. The verb didaskó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It deals with learning in all possible forms and with teaching of all kinds at all levels, initially without any reference to the possible content of teaching. Dolch’s definition corresponds largely to approaches that are based on theories of learning and focus on the analyzing and planning teacher, who may refer to information about the design of class instruction provided by didactics.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particularly like the definition of didactics by Stockholm University, who have a strong focus on didactics and conduct research around the topic, didactics is the art and science of teaching and learning. It is a field within education that seeks to answer three central questions: What should be taught, how should it be taught, and why should it be taught? Didactics encompasses questions about the selection of knowledge, teaching methods, and how learning takes place in different contexts. It can be seen as the planning, implementation, and analysis of teaching, with a particular focus on why certain goals, content, and methods are chosen. The well-known didactic triangle – what, how, why – is often used as a tool for analyzing and planning teaching and learning. Thus, didactics concerns the relationships between the teacher’s choice of content and methods, and what students actually learn.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retained and applied across different contexts.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wordcloud for this to engage your learners.</a:t>
            </a:r>
          </a:p>
          <a:p>
            <a:pPr lvl="0" indent="0" marL="0">
              <a:buNone/>
            </a:pPr>
          </a:p>
          <a:p>
            <a:pPr lvl="0" indent="0" marL="0">
              <a:buNone/>
            </a:pPr>
            <a:r>
              <a:rPr/>
              <a:t>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from Lovett et al. (2023) and Ambrose et al. shifts the focus from learning as information being presented to learning as a process that leads to change.</a:t>
            </a:r>
          </a:p>
          <a:p>
            <a:pPr lvl="0" indent="0" marL="0">
              <a:buNone/>
            </a:pPr>
          </a:p>
          <a:p>
            <a:pPr lvl="0" indent="0" marL="0">
              <a:buNone/>
            </a:pPr>
            <a:r>
              <a:rPr/>
              <a:t>That change results from experience and may involve knowledge, skills, attitudes, or approaches to problems. Simply being exposed to information is not enough; learners need to actively engage with it.</a:t>
            </a:r>
          </a:p>
          <a:p>
            <a:pPr lvl="0" indent="0" marL="0">
              <a:buNone/>
            </a:pPr>
          </a:p>
          <a:p>
            <a:pPr lvl="0" indent="0" marL="0">
              <a:buNone/>
            </a:pPr>
            <a:r>
              <a:rPr/>
              <a:t>Importantly, learning also increases the potential for improved performance and future learning, building capacity for continued growth.</a:t>
            </a:r>
          </a:p>
          <a:p>
            <a:pPr lvl="0" indent="0" marL="0">
              <a:buNone/>
            </a:pPr>
          </a:p>
          <a:p>
            <a:pPr lvl="0" indent="0" marL="0">
              <a:buNone/>
            </a:pPr>
            <a:r>
              <a:rPr/>
              <a:t>Overall, this aligns with what in educational sciences is known as constructivism, which emphasizes active engagement, experience, and developing understanding over time rather than passively receiving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a:t>
            </a:r>
          </a:p>
          <a:p>
            <a:pPr lvl="0" indent="0" marL="0">
              <a:buNone/>
            </a:pPr>
          </a:p>
          <a:p>
            <a:pPr lvl="0" indent="0" marL="0">
              <a:buNone/>
            </a:pPr>
            <a:r>
              <a:rPr/>
              <a:t>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 Take 5 minutes for this exercise.</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b="1"/>
              <a:t>Example from daily life: Cooking a meal</a:t>
            </a:r>
          </a:p>
          <a:p>
            <a:pPr lvl="0" indent="0" marL="0">
              <a:buNone/>
            </a:pPr>
          </a:p>
          <a:p>
            <a:pPr lvl="0"/>
            <a:r>
              <a:rPr/>
              <a:t>Novice: A beginner follows a recipe step by step and may not know which questions to ask or how to adjust when something goes wrong.</a:t>
            </a:r>
          </a:p>
          <a:p>
            <a:pPr lvl="0" indent="0" marL="0">
              <a:buNone/>
            </a:pPr>
          </a:p>
          <a:p>
            <a:pPr lvl="0"/>
            <a:r>
              <a:rPr/>
              <a:t>Competent practitioner: An experienced cook can prepare familiar meals independently and make small adjustments in terms of quantities, but may still need guidance for unfamiliar dishes.</a:t>
            </a:r>
          </a:p>
          <a:p>
            <a:pPr lvl="0" indent="0" marL="0">
              <a:buNone/>
            </a:pPr>
          </a:p>
          <a:p>
            <a:pPr lvl="0"/>
            <a:r>
              <a:rPr/>
              <a:t>Expert: A skilled chef understands ingredients and techniques deeply, adapts recipes creatively, and can quickly solve unexpected problems while cooking.</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Let us look at a concrete example next.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publish papers Open Access and uses open licenses like Creative Commons licenses. What they maybe do not know are the in-depth differences between Gold, Green and Diamond OA and the legal subtleties of copyright and all the different licenses.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a:t>
            </a:r>
          </a:p>
          <a:p>
            <a:pPr lvl="0" indent="0" marL="0">
              <a:buNone/>
            </a:pPr>
          </a:p>
          <a:p>
            <a:pPr lvl="0" indent="0" marL="0">
              <a:buNone/>
            </a:pPr>
            <a:r>
              <a:rPr/>
              <a:t>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a:t>
            </a:r>
          </a:p>
          <a:p>
            <a:pPr lvl="0" indent="0" marL="0">
              <a:buNone/>
            </a:pPr>
          </a:p>
          <a:p>
            <a:pPr lvl="0" indent="0" marL="0">
              <a:buNone/>
            </a:pPr>
            <a:r>
              <a:rPr/>
              <a:t>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organization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First, didactics is about the planning and organization of successful learning processes. The emphasis is on designing teaching in a way that helps learners achieve meaningful learning outcomes.</a:t>
            </a:r>
          </a:p>
          <a:p>
            <a:pPr lvl="0" indent="0" marL="0">
              <a:buNone/>
            </a:pPr>
          </a:p>
          <a:p>
            <a:pPr lvl="0"/>
            <a:r>
              <a:rPr/>
              <a:t>Second, learning is an active process. According to the constructivist perspective, learners do not simply absorb information that we present to them. Instead, they actively construct understanding by making sense of new information in relation to what they already know. Importantly, prior knowledge and the learning context play a crucial role. Every learner brings existing experiences, beliefs, and mental models to the classroom, and these influence how new concepts are interpreted. The environment and learning activities also shape what and how learners learn.</a:t>
            </a:r>
          </a:p>
          <a:p>
            <a:pPr lvl="0" indent="0" marL="0">
              <a:buNone/>
            </a:pPr>
          </a:p>
          <a:p>
            <a:pPr lvl="0"/>
            <a:r>
              <a:rPr/>
              <a:t>Third, in terms of different mental models, novices have limited and often fragmented mental models, making it harder to integrate new information, while competent practitioners have functional knowledge structures that support everyday problem solving. Experts have highly connected and sophisticated mental models that allow them to quickly identify relationships, solve complex problems, and apply knowledge flexibly.</a:t>
            </a:r>
          </a:p>
          <a:p>
            <a:pPr lvl="0" indent="0" marL="0">
              <a:buNone/>
            </a:pPr>
          </a:p>
          <a:p>
            <a:pPr lvl="0"/>
            <a:r>
              <a:rPr/>
              <a:t>Finally, effective teaching starts from where learners are. Our role is to build on their existing knowledge and design learning experiences that help them progress, from being novices, to competent practitioners, and ultimately towards expertise.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 Write down thoughts for yourself (2 mins). Then discuss with your neighbor (2 mins). We will then discuss in the larger group.</a:t>
            </a:r>
          </a:p>
          <a:p>
            <a:pPr lvl="0" indent="0" marL="0">
              <a:buNone/>
            </a:pPr>
          </a:p>
          <a:p>
            <a:pPr lvl="0" indent="0" marL="0">
              <a:buNone/>
            </a:pPr>
            <a:r>
              <a:rPr b="1"/>
              <a:t>Instructor Notes</a:t>
            </a:r>
            <a:r>
              <a:rPr/>
              <a:t>: Ask for interaction from the audience or make it an individual activity. Allow for approx. 6 minutes.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organized.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objective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objective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objective. We will learn more about learning objectives and how to formulate them later. For now, focus on the alignment aspect: does the learning objective match with the assessment type? Take five minutes for this task.</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didactic principle besides prior knowledge, constructivism, mental models and constructive alignment, namely setting learning objectives. These quotes here represent the famous conversation between Alice and the Cheshire Cat in Alice in Wonderland. They highlight the importance of having a clear objective before choosing a direction. Just as Alice cannot choose the right path without knowing where she wants to go, instructors cannot teach effectively without clear learning objectives.</a:t>
            </a:r>
          </a:p>
          <a:p>
            <a:pPr lvl="0" indent="0" marL="0">
              <a:buNone/>
            </a:pPr>
          </a:p>
          <a:p>
            <a:pPr lvl="0" indent="0" marL="0">
              <a:buNone/>
            </a:pPr>
            <a:r>
              <a:rPr/>
              <a:t>Clear objectives provide direction and intentionality, making them especially important in Open Science, a broad and interdisciplinary field that can sometimes seem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a teacher will cover or what content will be presented. A learning objective describes what learners should be able to do after an instructional activity. According to Mager,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explanations, let us practice!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(Bloom et al., 1964)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 (Anderson &amp; Krathwohl, 2001).</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objective focuses on analysis. Learners are expected to critically examine how open science practices contribute to transparency and reproducibility in research. This moves beyond memorization and requires higher-order thinking, such as comparing, evaluating, and interpreting research processes. The teaching activity supports this objective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objectives associated with the cognitive learning domain. What you see is the pyramid of learning objective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by Krathwohl et al. (1964). It focuses on attitudes and values, with learners becoming increasingly self-reliant and internally motivated as they progress through its levels. Affective objectives can be difficult to articulate and assess, but they can be observed through behaviors such as appreciating alternative perspectives, engaging thoughtfully in discussion, asking questions, and recognizing complexity. These outcomes are often closely linked to deeper thinking and lifelong learning.</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a:t>
            </a:r>
          </a:p>
          <a:p>
            <a:pPr lvl="0" indent="0" marL="0">
              <a:buNone/>
            </a:pPr>
          </a:p>
          <a:p>
            <a:pPr lvl="0" indent="0" marL="0">
              <a:buNone/>
            </a:pPr>
            <a:r>
              <a:rPr/>
              <a:t>Valuing: Finds value and worth in one’s learning with motivation to continue.</a:t>
            </a:r>
          </a:p>
          <a:p>
            <a:pPr lvl="0" indent="0" marL="0">
              <a:buNone/>
            </a:pPr>
          </a:p>
          <a:p>
            <a:pPr lvl="0" indent="0" marL="0">
              <a:buNone/>
            </a:pPr>
            <a:r>
              <a:rPr/>
              <a:t>Organizing: Integrates and compares values, resolves conflict between these values, and orders them according to priorities.</a:t>
            </a:r>
          </a:p>
          <a:p>
            <a:pPr lvl="0" indent="0" marL="0">
              <a:buNone/>
            </a:pPr>
          </a:p>
          <a:p>
            <a:pPr lvl="0" indent="0" marL="0">
              <a:buNone/>
            </a:pPr>
            <a:r>
              <a:rPr/>
              <a:t>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see Dave (1970), Harrow (1972) and Simpson (1985) and other (Simpson 1966,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organize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to practice!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i="1"/>
              <a:t>Write your ideas into the workbook</a:t>
            </a:r>
            <a:r>
              <a:rPr/>
              <a:t> to keep track of your thoughts.</a:t>
            </a:r>
          </a:p>
          <a:p>
            <a:pPr lvl="0" indent="0" marL="0">
              <a:buNone/>
            </a:pPr>
          </a:p>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a:t>This is individual work, take 10 minutes.</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are you main take-home messages from today?</a:t>
            </a:r>
          </a:p>
          <a:p>
            <a:pPr lvl="0" indent="0" marL="0">
              <a:buNone/>
            </a:pPr>
          </a:p>
          <a:p>
            <a:pPr lvl="0"/>
            <a:r>
              <a:rPr/>
              <a:t>Learning is an active process shaped by context, prior knowledge, and beliefs—a core idea of constructivism.</a:t>
            </a:r>
          </a:p>
          <a:p>
            <a:pPr lvl="0" indent="0" marL="0">
              <a:buNone/>
            </a:pPr>
          </a:p>
          <a:p>
            <a:pPr lvl="0"/>
            <a:r>
              <a:rPr/>
              <a:t>Learners differ in how they organize prior knowledge. Experts typically have more connections between concepts, allowing them to recognize patterns and make connections more efficiently.</a:t>
            </a:r>
          </a:p>
          <a:p>
            <a:pPr lvl="0" indent="0" marL="0">
              <a:buNone/>
            </a:pPr>
          </a:p>
          <a:p>
            <a:pPr lvl="0"/>
            <a:r>
              <a:rPr/>
              <a:t>Effective learning depends on alignment between learning objectives, assessment, and teaching activities—known as constructive alignment.</a:t>
            </a:r>
          </a:p>
          <a:p>
            <a:pPr lvl="0" indent="0" marL="0">
              <a:buNone/>
            </a:pPr>
          </a:p>
          <a:p>
            <a:pPr lvl="0"/>
            <a:r>
              <a:rPr/>
              <a:t>Before teaching, we need to know where we are going. This means defining appropriate learning objectives across the relevant domains: cognitive, affective, and psychomotor.</a:t>
            </a:r>
          </a:p>
          <a:p>
            <a:pPr lvl="0" indent="0" marL="0">
              <a:buNone/>
            </a:pPr>
          </a:p>
          <a:p>
            <a:pPr lvl="0" indent="0" marL="0">
              <a:buNone/>
            </a:pPr>
            <a:r>
              <a:rPr b="1"/>
              <a:t>Instructor Notes</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a:t>
            </a:r>
          </a:p>
          <a:p>
            <a:pPr lvl="0" indent="0" marL="0">
              <a:buNone/>
            </a:pPr>
          </a:p>
          <a:p>
            <a:pPr lvl="0" indent="0" marL="0">
              <a:buNone/>
            </a:pPr>
            <a:r>
              <a:rPr/>
              <a:t>Bloom’s taxonomy helps instructors create valid and reliable assessments by aligning course learning objectives to any given level of student understanding or proficiency. Crooks (1988)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&amp;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www.su.se/english/research/research-catalogue/research-subjects/d/didactics"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20.xml" /><Relationship Id="rId4" Type="http://schemas.openxmlformats.org/officeDocument/2006/relationships/image" Target="../media/image5.png" /><Relationship Id="rId3" Type="http://schemas.openxmlformats.org/officeDocument/2006/relationships/image" Target="../media/image4.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carpentries.github.io/instructor-training/02-practice-learning.html"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carpentries.github.io/instructor-training/04-expertise.html"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 Id="rId3"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10.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4.xml" /><Relationship Id="rId3" Type="http://schemas.openxmlformats.org/officeDocument/2006/relationships/image" Target="../media/image11.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2.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lmu-osc.github.io/introduction-to-zotero/"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07/BF00138871" TargetMode="External" /><Relationship Id="rId3" Type="http://schemas.openxmlformats.org/officeDocument/2006/relationships/hyperlink" Target="https://doi.org/10.1641/0006-3568(2006)056[0066:ANMFAC]2.0.CO;2" TargetMode="External" /><Relationship Id="rId4" Type="http://schemas.openxmlformats.org/officeDocument/2006/relationships/hyperlink" Target="https://doi.org/10.18845/rc.v29i1-2020.5258" TargetMode="External" /><Relationship Id="rId5" Type="http://schemas.openxmlformats.org/officeDocument/2006/relationships/hyperlink" Target="https://doi.org/10.3102/00346543058004438" TargetMode="External" /><Relationship Id="rId6" Type="http://schemas.openxmlformats.org/officeDocument/2006/relationships/hyperlink" Target="https://doi.org/10.1007/978-94-007-2150-0_156" TargetMode="External" /><Relationship Id="rId7" Type="http://schemas.openxmlformats.org/officeDocument/2006/relationships/hyperlink" Target="https://doi.org/10.2991/assehr.k.211020.032" TargetMode="External" /><Relationship Id="rId8" Type="http://schemas.openxmlformats.org/officeDocument/2006/relationships/hyperlink" Target="https://doi.org/10.15863/TAS.2020.05.85.146"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16/08/2026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licensed under a CC0 1.0 </a:t>
            </a:r>
            <a:r>
              <a:rPr>
                <a:hlinkClick r:id="rId4"/>
              </a:rPr>
              <a:t>Creative Commons Universal License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buNone/>
            </a:pPr>
            <a:r>
              <a:rPr/>
              <a:t>ADD QR code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a:p>
            <a:pPr lvl="0" indent="0" marL="0">
              <a:spcBef>
                <a:spcPts val="3000"/>
              </a:spcBef>
              <a:buNone/>
            </a:pPr>
            <a:r>
              <a:rPr b="1"/>
              <a:t>Question 2</a:t>
            </a:r>
          </a:p>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a:p>
            <a:pPr lvl="0" indent="0" marL="0">
              <a:spcBef>
                <a:spcPts val="3000"/>
              </a:spcBef>
              <a:buNone/>
            </a:pPr>
            <a:r>
              <a:rPr b="1"/>
              <a:t>Question 3</a:t>
            </a:r>
          </a:p>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working definition in mind and sometimes implement it in my teaching.</a:t>
            </a:r>
          </a:p>
          <a:p>
            <a:pPr lvl="0" indent="-342900" marL="342900">
              <a:buAutoNum type="alphaLcPeriod"/>
            </a:pPr>
            <a:r>
              <a:rPr/>
              <a:t>I am very familiar and have routinely applied this in my teaching.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 (Sjøberg, 2010).</a:t>
            </a:r>
          </a:p>
          <a:p>
            <a:pPr lvl="0"/>
            <a:r>
              <a:rPr b="1"/>
              <a:t>Constructive alignment</a:t>
            </a:r>
            <a:r>
              <a:rPr/>
              <a:t>: A teaching approach in which learning objectives, teaching activities, and assessment tasks are aligned so that learners actively construct knowledge and skills (Biggs, 1996).</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(Bloom et al., 1964), organized from lower-order thinking skills (e.g., remembering and understanding to higher-order skills (analyzing, evaluating).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a:r>
              <a:rPr/>
              <a:t>If and when you teach about open research, do you or would you consider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t>
            </a:r>
            <a:r>
              <a:rPr i="1"/>
              <a:t>is</a:t>
            </a:r>
            <a:r>
              <a:rPr/>
              <a:t> didactics?</a:t>
            </a:r>
          </a:p>
        </p:txBody>
      </p:sp>
      <p:sp>
        <p:nvSpPr>
          <p:cNvPr id="4" name="Text Placeholder 3"/>
          <p:cNvSpPr>
            <a:spLocks noGrp="1"/>
          </p:cNvSpPr>
          <p:nvPr>
            <p:ph idx="2" sz="half" type="body"/>
          </p:nvPr>
        </p:nvSpPr>
        <p:spPr/>
        <p:txBody>
          <a:bodyPr/>
          <a:lstStyle/>
          <a:p>
            <a:pPr lvl="0" indent="0" marL="1270000">
              <a:buNone/>
            </a:pPr>
            <a:r>
              <a:rPr sz="2000"/>
              <a:t>The Greek origins: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79500"/>
                <a:gridCol w="2628900"/>
                <a:gridCol w="13970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didaskó</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Liddell et al. (1996). </a:t>
            </a:r>
            <a:r>
              <a:rPr i="1"/>
              <a:t>A Greek–English Lexicon</a:t>
            </a:r>
            <a:r>
              <a:rPr/>
              <a:t>. Oxford University Press.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(Dolch, 1967)  “…includes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(Casasola Rivera, 2020)</a:t>
            </a:r>
          </a:p>
          <a:p>
            <a:pPr lvl="0" indent="0" marL="0">
              <a:buNone/>
            </a:pPr>
            <a:r>
              <a:rPr/>
              <a:t>Casasola Rivera (2020); Duit (2015); Riskulova et al. (2020)</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a:p>
            <a:pPr lvl="0" indent="0" marL="0">
              <a:buNone/>
            </a:pPr>
            <a:r>
              <a:rPr/>
              <a:t>@ 2026 </a:t>
            </a:r>
            <a:r>
              <a:rPr>
                <a:hlinkClick r:id="rId3"/>
              </a:rPr>
              <a:t>Stockholm University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a:p>
            <a:pPr lvl="0" indent="0" marL="0">
              <a:buNone/>
            </a:pPr>
            <a:r>
              <a:rPr/>
              <a:t>ADD WORDCLOUD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See Lovett et al. (2023).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1270000">
              <a:buNone/>
            </a:pPr>
            <a:r>
              <a:rPr sz="2000"/>
              <a:t>As a </a:t>
            </a:r>
            <a:r>
              <a:rPr sz="2000" i="1"/>
              <a:t>process</a:t>
            </a:r>
            <a:r>
              <a:rPr sz="2000"/>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Efgivia et al. (2021), Lovett et al. (2023).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p>
          <a:p>
            <a:pPr lvl="0" indent="0" marL="0">
              <a:buNone/>
            </a:pPr>
            <a:r>
              <a:rPr b="1"/>
              <a:t>Constructivism</a:t>
            </a:r>
            <a:r>
              <a:rPr/>
              <a:t>: Learning is not passively received, but </a:t>
            </a:r>
            <a:r>
              <a:rPr b="1"/>
              <a:t>actively built and shaped</a:t>
            </a:r>
            <a:r>
              <a:rPr/>
              <a:t> by prior knowledge and the learning context.</a:t>
            </a:r>
          </a:p>
          <a:p>
            <a:pPr lvl="0" indent="0" marL="0">
              <a:buNone/>
            </a:pPr>
          </a:p>
          <a:p>
            <a:pPr lvl="0"/>
            <a:r>
              <a:rPr/>
              <a:t>Learners are </a:t>
            </a:r>
            <a:r>
              <a:rPr b="1"/>
              <a:t>not empty “vessels”</a:t>
            </a:r>
            <a:r>
              <a:rPr/>
              <a:t> to be filled</a:t>
            </a:r>
          </a:p>
          <a:p>
            <a:pPr lvl="1"/>
            <a:r>
              <a:rPr/>
              <a:t>They </a:t>
            </a:r>
            <a:r>
              <a:rPr b="1"/>
              <a:t>interpret new ideas</a:t>
            </a:r>
            <a:r>
              <a:rPr/>
              <a:t> through the lens of </a:t>
            </a:r>
            <a:r>
              <a:rPr b="1"/>
              <a:t>what they already know</a:t>
            </a:r>
          </a:p>
          <a:p>
            <a:pPr lvl="0"/>
            <a:r>
              <a:rPr/>
              <a:t>The </a:t>
            </a:r>
            <a:r>
              <a:rPr b="1"/>
              <a:t>learning context matters</a:t>
            </a:r>
            <a:r>
              <a:rPr/>
              <a:t>!</a:t>
            </a:r>
          </a:p>
          <a:p>
            <a:pPr lvl="1"/>
            <a:r>
              <a:rPr/>
              <a:t>Learning does </a:t>
            </a:r>
            <a:r>
              <a:rPr b="1"/>
              <a:t>not happen in isolation</a:t>
            </a:r>
            <a:r>
              <a:rPr/>
              <a:t>, but is </a:t>
            </a:r>
            <a:r>
              <a:rPr b="1"/>
              <a:t>shaped by the environment</a:t>
            </a:r>
          </a:p>
          <a:p>
            <a:pPr lvl="0" indent="0" marL="0">
              <a:buNone/>
            </a:pPr>
            <a:r>
              <a:rPr/>
              <a:t>(Fosnot, 2013)</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990600" y="1625600"/>
            <a:ext cx="29591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5181600" y="1625600"/>
            <a:ext cx="2959100" cy="2959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 model of acquiring Open Access skills</a:t>
            </a:r>
          </a:p>
          <a:p>
            <a:pPr lvl="0" indent="0" marL="0">
              <a:buNone/>
            </a:pPr>
            <a:r>
              <a:rPr/>
              <a:t>Level</a:t>
            </a:r>
          </a:p>
          <a:p>
            <a:pPr lvl="0" indent="0" marL="0">
              <a:buNone/>
            </a:pPr>
            <a:r>
              <a:rPr/>
              <a:t>Can do✅</a:t>
            </a:r>
          </a:p>
          <a:p>
            <a:pPr lvl="0" indent="0" marL="0">
              <a:buNone/>
            </a:pPr>
            <a:r>
              <a:rPr/>
              <a:t>Cannot (yet) do❌</a:t>
            </a:r>
          </a:p>
          <a:p>
            <a:pPr lvl="0" indent="0" marL="0">
              <a:buNone/>
            </a:pPr>
            <a:r>
              <a:rPr/>
              <a:t>Novice learner</a:t>
            </a:r>
          </a:p>
          <a:p>
            <a:pPr lvl="0" indent="0" marL="0">
              <a:buNone/>
            </a:pPr>
            <a:r>
              <a:rPr/>
              <a:t>Recognize that Open Access and publishing licenses exist</a:t>
            </a:r>
          </a:p>
          <a:p>
            <a:pPr lvl="0" indent="0" marL="0">
              <a:buNone/>
            </a:pPr>
            <a:r>
              <a:rPr/>
              <a:t>Identify different publishing licenses or explain their effects on authors and readers</a:t>
            </a:r>
          </a:p>
          <a:p>
            <a:pPr lvl="0" indent="0" marL="0">
              <a:buNone/>
            </a:pPr>
            <a:r>
              <a:rPr/>
              <a:t>Competent practitioner</a:t>
            </a:r>
          </a:p>
          <a:p>
            <a:pPr lvl="0" indent="0" marL="0">
              <a:buNone/>
            </a:pPr>
            <a:r>
              <a:rPr/>
              <a:t>Publish papers Open Access and apply open licenses (e.g., Creative Commons)</a:t>
            </a:r>
          </a:p>
          <a:p>
            <a:pPr lvl="0" indent="0" marL="0">
              <a:buNone/>
            </a:pPr>
            <a:r>
              <a:rPr/>
              <a:t>Explain in-depth differences between Gold, Green, and Diamond OA or navigate complex copyright and licensing issues</a:t>
            </a:r>
          </a:p>
          <a:p>
            <a:pPr lvl="0" indent="0" marL="0">
              <a:buNone/>
            </a:pPr>
            <a:r>
              <a:rPr/>
              <a:t>Expert</a:t>
            </a:r>
          </a:p>
          <a:p>
            <a:pPr lvl="0" indent="0" marL="0">
              <a:buNone/>
            </a:pPr>
            <a:r>
              <a:rPr/>
              <a:t>Strategically select and apply Open Access routes (Gold, Green, Diamond); choose Creative Commons licenses based on reuse goals; support and train others</a:t>
            </a:r>
          </a:p>
          <a:p>
            <a:pPr lvl="0" indent="0" marL="0">
              <a:buNone/>
            </a:pPr>
            <a: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Pick a topic</a:t>
            </a:r>
            <a:r>
              <a:rPr/>
              <a:t> from open research (</a:t>
            </a:r>
            <a:r>
              <a:rPr i="1"/>
              <a:t>different from open access</a:t>
            </a:r>
            <a:r>
              <a:rPr/>
              <a:t>).</a:t>
            </a:r>
          </a:p>
          <a:p>
            <a:pPr lvl="0" indent="-342900" marL="342900">
              <a:buAutoNum type="arabicPeriod"/>
            </a:pPr>
            <a:r>
              <a:rPr b="1"/>
              <a:t>Sketch out</a:t>
            </a:r>
            <a:r>
              <a:rPr/>
              <a:t> the mental model of a novice in comparison to a competent practitioner and an expert</a:t>
            </a:r>
          </a:p>
          <a:p>
            <a:pPr lvl="0" indent="-342900" marL="342900">
              <a:buAutoNum type="arabicPeriod"/>
            </a:pPr>
            <a:r>
              <a:rPr b="1"/>
              <a:t>Provide concrete examples</a:t>
            </a:r>
            <a:r>
              <a:rPr/>
              <a:t> of how the organization of knowledge differs among these three types of learners.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b="1"/>
              <a:t>Mental models of knowledge acquisition</a:t>
            </a:r>
            <a:r>
              <a:rPr/>
              <a:t> develop with expertise</a:t>
            </a:r>
          </a:p>
          <a:p>
            <a:pPr lvl="0"/>
            <a:r>
              <a:rPr/>
              <a:t>Effective teaching </a:t>
            </a:r>
            <a:r>
              <a:rPr b="1"/>
              <a:t>builds</a:t>
            </a:r>
            <a:r>
              <a:rPr/>
              <a:t> on learners’ existing knowledge and supports their </a:t>
            </a:r>
            <a:r>
              <a:rPr b="1"/>
              <a:t>progression from novice to competent practitioner to expert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Collect some thoughts for yourself.</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Enhancing the organization of knowledge</a:t>
            </a:r>
          </a:p>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a:t>Match each </a:t>
            </a:r>
            <a:r>
              <a:rPr b="1"/>
              <a:t>learning objective</a:t>
            </a:r>
            <a:r>
              <a:rPr/>
              <a:t> with an </a:t>
            </a:r>
            <a:r>
              <a:rPr b="1"/>
              <a:t>assessment type</a:t>
            </a:r>
            <a:r>
              <a:rPr/>
              <a:t> and reflect the following:</a:t>
            </a:r>
          </a:p>
          <a:p>
            <a:pPr lvl="0"/>
            <a:r>
              <a:rPr/>
              <a:t>Why does the assessment type fit the specific learning objective?</a:t>
            </a:r>
          </a:p>
          <a:p>
            <a:pPr lvl="0"/>
            <a:r>
              <a:rPr/>
              <a:t>What teaching activities can you think of that would align with the learning objective and the corresponding assessment type?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a:p>
            <a:pPr lvl="0" indent="0" marL="0">
              <a:buNone/>
            </a:pPr>
            <a:r>
              <a:rPr/>
              <a:t>Mager &amp; Peatt (1962)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4648200" y="1752600"/>
            <a:ext cx="4038600" cy="22733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463800"/>
                <a:gridCol w="5765800"/>
              </a:tblGrid>
              <a:tr h="0">
                <a:tc>
                  <a:txBody>
                    <a:bodyPr/>
                    <a:lstStyle/>
                    <a:p>
                      <a:pPr lvl="0" indent="0" marL="0" algn="l">
                        <a:buNone/>
                      </a:pPr>
                      <a:r>
                        <a:rPr/>
                        <a:t>Domain</a:t>
                      </a:r>
                    </a:p>
                  </a:txBody>
                  <a:tcPr/>
                </a:tc>
                <a:tc>
                  <a:txBody>
                    <a:bodyPr/>
                    <a:lstStyle/>
                    <a:p>
                      <a:pPr lvl="0" indent="0" marL="0" algn="l">
                        <a:buNone/>
                      </a:pPr>
                      <a:r>
                        <a:rPr/>
                        <a:t>Focus</a:t>
                      </a:r>
                    </a:p>
                  </a:txBody>
                  <a:tcPr/>
                </a:tc>
              </a:tr>
              <a:tr h="0">
                <a:tc>
                  <a:txBody>
                    <a:bodyPr/>
                    <a:lstStyle/>
                    <a:p>
                      <a:pPr lvl="0" indent="0" marL="0" algn="l">
                        <a:buNone/>
                      </a:pPr>
                      <a:r>
                        <a:rPr b="1"/>
                        <a:t>Cognitive</a:t>
                      </a:r>
                    </a:p>
                  </a:txBody>
                </a:tc>
                <a:tc>
                  <a:txBody>
                    <a:bodyPr/>
                    <a:lstStyle/>
                    <a:p>
                      <a:pPr lvl="0" indent="0" marL="0" algn="l">
                        <a:buNone/>
                      </a:pPr>
                      <a:r>
                        <a:rPr/>
                        <a:t>Knowledge or thinking</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Stapleton-Corcoran (2023)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Cognitive domain</a:t>
            </a:r>
          </a:p>
          <a:p>
            <a:pPr lvl="0"/>
            <a:r>
              <a:rPr/>
              <a:t>Learning focused on expanding or building up </a:t>
            </a:r>
            <a:r>
              <a:rPr b="1"/>
              <a:t>knowledge and thinking skills</a:t>
            </a:r>
            <a:r>
              <a:rPr/>
              <a:t> as a learning outcome</a:t>
            </a:r>
          </a:p>
          <a:p>
            <a:pPr lvl="0"/>
            <a:r>
              <a:rPr/>
              <a:t>Widely implemented in education and typically connected to </a:t>
            </a:r>
            <a:r>
              <a:rPr i="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Cognitive domain</a:t>
            </a:r>
          </a:p>
        </p:txBody>
      </p:sp>
      <p:pic>
        <p:nvPicPr>
          <p:cNvPr descr="images/cognitive-domain.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Anderson &amp; Krathwohl (2001)</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Affective domain</a:t>
            </a:r>
          </a:p>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a:p>
            <a:pPr lvl="0" indent="0" marL="0">
              <a:buNone/>
            </a:pPr>
            <a:r>
              <a:rPr/>
              <a:t>Krathwohl et al. (1964)</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Affective domain</a:t>
            </a:r>
          </a:p>
        </p:txBody>
      </p:sp>
      <p:pic>
        <p:nvPicPr>
          <p:cNvPr descr="images/affective-domain.png" id="0" name="Picture 1"/>
          <p:cNvPicPr>
            <a:picLocks noGrp="1" noChangeAspect="1"/>
          </p:cNvPicPr>
          <p:nvPr/>
        </p:nvPicPr>
        <p:blipFill>
          <a:blip r:embed="rId2"/>
          <a:stretch>
            <a:fillRect/>
          </a:stretch>
        </p:blipFill>
        <p:spPr bwMode="auto">
          <a:xfrm>
            <a:off x="3568700" y="482600"/>
            <a:ext cx="5105400" cy="382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Krathwohl et al. (1964)</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Psychomotor domain</a:t>
            </a:r>
          </a:p>
          <a:p>
            <a:pPr lvl="0"/>
            <a:r>
              <a:rPr/>
              <a:t>Learning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a:p>
            <a:pPr lvl="0" indent="0" marL="0">
              <a:buNone/>
            </a:pPr>
            <a:r>
              <a:rPr/>
              <a:t>Harrow (1972)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Psychomotor domain</a:t>
            </a:r>
          </a:p>
        </p:txBody>
      </p:sp>
      <p:pic>
        <p:nvPicPr>
          <p:cNvPr descr="images/psychomotor-domain.png" id="0" name="Picture 1"/>
          <p:cNvPicPr>
            <a:picLocks noGrp="1" noChangeAspect="1"/>
          </p:cNvPicPr>
          <p:nvPr/>
        </p:nvPicPr>
        <p:blipFill>
          <a:blip r:embed="rId2"/>
          <a:stretch>
            <a:fillRect/>
          </a:stretch>
        </p:blipFill>
        <p:spPr bwMode="auto">
          <a:xfrm>
            <a:off x="3568700" y="444500"/>
            <a:ext cx="5105400" cy="39116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Simpson (1985)</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In pairs, </a:t>
            </a:r>
            <a:r>
              <a:rPr b="1" i="1"/>
              <a:t>design one assessment task</a:t>
            </a:r>
            <a:r>
              <a:rPr i="1"/>
              <a:t> and </a:t>
            </a:r>
            <a:r>
              <a:rPr b="1" i="1"/>
              <a:t>define one observable metric</a:t>
            </a:r>
            <a:r>
              <a:rPr i="1"/>
              <a:t> of successfully achieving the learning objective for each </a:t>
            </a:r>
            <a:r>
              <a:rPr b="1" i="1"/>
              <a:t>learning objective</a:t>
            </a:r>
            <a:r>
              <a:rPr i="1"/>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where we are going, i.e., </a:t>
            </a:r>
            <a:r>
              <a:rPr b="1"/>
              <a:t>formulate learning objectives</a:t>
            </a:r>
            <a:r>
              <a:rPr/>
              <a:t> according to the fitting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buNone/>
            </a:pPr>
            <a:r>
              <a:rPr/>
              <a:t>ADD QR code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a:p>
            <a:pPr lvl="0" indent="0" marL="0">
              <a:spcBef>
                <a:spcPts val="3000"/>
              </a:spcBef>
              <a:buNone/>
            </a:pPr>
            <a:r>
              <a:rPr b="1"/>
              <a:t>Question 2</a:t>
            </a:r>
          </a:p>
          <a:p>
            <a:pPr lvl="0" indent="0" marL="0">
              <a:buNone/>
            </a:pPr>
            <a:r>
              <a:rPr b="1"/>
              <a:t>What is your level of familiarity with the three learning domains (cognitive,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with these concepts and routinely apply them in my teaching.</a:t>
            </a:r>
          </a:p>
          <a:p>
            <a:pPr lvl="0" indent="0" marL="0">
              <a:spcBef>
                <a:spcPts val="3000"/>
              </a:spcBef>
              <a:buNone/>
            </a:pPr>
            <a:r>
              <a:rPr b="1"/>
              <a:t>Question 3</a:t>
            </a:r>
          </a:p>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(2001). A taxonomy for learning, teaching, and assessing : A revision of Bloom’s taxonomy of educational objectives: Complete edition. In </a:t>
            </a:r>
            <a:r>
              <a:rPr i="1"/>
              <a:t>787904</a:t>
            </a:r>
            <a:r>
              <a:rPr/>
              <a:t>. Addison Wesley Longman.</a:t>
            </a:r>
          </a:p>
          <a:p>
            <a:pPr lvl="0" indent="0" marL="0">
              <a:buNone/>
            </a:pPr>
            <a:r>
              <a:rPr/>
              <a:t>Biggs, J. (1996). Enhancing teaching through constructive alignment. </a:t>
            </a:r>
            <a:r>
              <a:rPr i="1"/>
              <a:t>Higher Education</a:t>
            </a:r>
            <a:r>
              <a:rPr/>
              <a:t>, </a:t>
            </a:r>
            <a:r>
              <a:rPr i="1"/>
              <a:t>32</a:t>
            </a:r>
            <a:r>
              <a:rPr/>
              <a:t>(3), 347–364. </a:t>
            </a:r>
            <a:r>
              <a:rPr>
                <a:hlinkClick r:id="rId2"/>
              </a:rPr>
              <a:t>https://doi.org/10.1007/BF00138871</a:t>
            </a:r>
          </a:p>
          <a:p>
            <a:pPr lvl="0" indent="0" marL="0">
              <a:buNone/>
            </a:pPr>
            <a:r>
              <a:rPr/>
              <a:t>Bissell, A. N., &amp; Lemons, P. P. (2006). A new method for assessing critical thinking in the classroom. </a:t>
            </a:r>
            <a:r>
              <a:rPr i="1"/>
              <a:t>BioScience</a:t>
            </a:r>
            <a:r>
              <a:rPr/>
              <a:t>, </a:t>
            </a:r>
            <a:r>
              <a:rPr i="1"/>
              <a:t>56</a:t>
            </a:r>
            <a:r>
              <a:rPr/>
              <a:t>(1), 66–72. </a:t>
            </a:r>
            <a:r>
              <a:rPr>
                <a:hlinkClick r:id="rId3"/>
              </a:rPr>
              <a:t>https://doi.org/10.1641/0006-3568(2006)056[0066:ANMFAC]2.0.CO;2</a:t>
            </a:r>
          </a:p>
          <a:p>
            <a:pPr lvl="0" indent="0" marL="0">
              <a:buNone/>
            </a:pPr>
            <a:r>
              <a:rPr/>
              <a:t>Bloom, B. S., Engelhart, M. D., Furst, E. J., Hill, W. H., Krathwohl, D. R., et al. (1964). </a:t>
            </a:r>
            <a:r>
              <a:rPr i="1"/>
              <a:t>Taxonomy of educational objectives</a:t>
            </a:r>
            <a:r>
              <a:rPr/>
              <a:t> (Vol. 2). Longmans, Green New York.</a:t>
            </a:r>
          </a:p>
          <a:p>
            <a:pPr lvl="0" indent="0" marL="0">
              <a:buNone/>
            </a:pPr>
            <a:r>
              <a:rPr/>
              <a:t>Casasola Rivera, W. (2020). El papel de la didáctica en los procesos de enseñanza y aprendizaje universitarios. </a:t>
            </a:r>
            <a:r>
              <a:rPr i="1"/>
              <a:t>Revista Comunicación</a:t>
            </a:r>
            <a:r>
              <a:rPr/>
              <a:t>, </a:t>
            </a:r>
            <a:r>
              <a:rPr i="1"/>
              <a:t>29</a:t>
            </a:r>
            <a:r>
              <a:rPr/>
              <a:t>(1-2020), 38–51. </a:t>
            </a:r>
            <a:r>
              <a:rPr>
                <a:hlinkClick r:id="rId4"/>
              </a:rPr>
              <a:t>https://doi.org/10.18845/rc.v29i1-2020.5258</a:t>
            </a:r>
          </a:p>
          <a:p>
            <a:pPr lvl="0" indent="0" marL="0">
              <a:buNone/>
            </a:pPr>
            <a:r>
              <a:rPr/>
              <a:t>Crooks, T. J. (1988). The impact of classroom evaluation practices on students. </a:t>
            </a:r>
            <a:r>
              <a:rPr i="1"/>
              <a:t>Review of Educational Research</a:t>
            </a:r>
            <a:r>
              <a:rPr/>
              <a:t>, </a:t>
            </a:r>
            <a:r>
              <a:rPr i="1"/>
              <a:t>58</a:t>
            </a:r>
            <a:r>
              <a:rPr/>
              <a:t>(4), 438–481. </a:t>
            </a:r>
            <a:r>
              <a:rPr>
                <a:hlinkClick r:id="rId5"/>
              </a:rPr>
              <a:t>https://doi.org/10.3102/00346543058004438</a:t>
            </a:r>
          </a:p>
          <a:p>
            <a:pPr lvl="0" indent="0" marL="0">
              <a:buNone/>
            </a:pPr>
            <a:r>
              <a:rPr/>
              <a:t>Dave, R. (1970). </a:t>
            </a:r>
            <a:r>
              <a:rPr i="1"/>
              <a:t>Developing and writing behavioural objectives</a:t>
            </a:r>
            <a:r>
              <a:rPr/>
              <a:t>. Educational Innovators Press.</a:t>
            </a:r>
          </a:p>
          <a:p>
            <a:pPr lvl="0" indent="0" marL="0">
              <a:buNone/>
            </a:pPr>
            <a:r>
              <a:rPr/>
              <a:t>Duit, R. (2015). Didaktik. In R. Gunstone (Ed.), </a:t>
            </a:r>
            <a:r>
              <a:rPr i="1"/>
              <a:t>Encyclopedia of Science Education</a:t>
            </a:r>
            <a:r>
              <a:rPr/>
              <a:t> (pp. 325–327). Springer Netherlands. </a:t>
            </a:r>
            <a:r>
              <a:rPr>
                <a:hlinkClick r:id="rId6"/>
              </a:rPr>
              <a:t>https://doi.org/10.1007/978-94-007-2150-0_156</a:t>
            </a:r>
          </a:p>
          <a:p>
            <a:pPr lvl="0" indent="0" marL="0">
              <a:buNone/>
            </a:pPr>
            <a:r>
              <a:rPr/>
              <a:t>Efgivia, M. G., Rinanda, R. Y. A., Suriyani, Hidayat, A., Maulana, I., &amp; Budiarjo, A. (2021). Analysis of constructivism learning theory. </a:t>
            </a:r>
            <a:r>
              <a:rPr i="1"/>
              <a:t>1st UMGESHIC International Seminar on Health, Social Science and Humanities (UMGESHIC-ISHSSH 2020)</a:t>
            </a:r>
            <a:r>
              <a:rPr/>
              <a:t>, 208–212. </a:t>
            </a:r>
            <a:r>
              <a:rPr>
                <a:hlinkClick r:id="rId7"/>
              </a:rPr>
              <a:t>https://doi.org/10.2991/assehr.k.211020.032</a:t>
            </a:r>
          </a:p>
          <a:p>
            <a:pPr lvl="0" indent="0" marL="0">
              <a:buNone/>
            </a:pPr>
            <a:r>
              <a:rPr/>
              <a:t>Fosnot, C. T. (2013). </a:t>
            </a:r>
            <a:r>
              <a:rPr i="1"/>
              <a:t>Constructivism: Theory, perspectives, and practice</a:t>
            </a:r>
            <a:r>
              <a:rPr/>
              <a:t>. Teachers College Press.</a:t>
            </a:r>
          </a:p>
          <a:p>
            <a:pPr lvl="0" indent="0" marL="0">
              <a:buNone/>
            </a:pPr>
            <a:r>
              <a:rPr/>
              <a:t>Harrow, A. J. (1972). </a:t>
            </a:r>
            <a:r>
              <a:rPr i="1"/>
              <a:t>A taxonomy of the psychomotor domain: A guide for developing behavioral objectives</a:t>
            </a:r>
            <a:r>
              <a:rPr/>
              <a:t>. Longman.</a:t>
            </a:r>
          </a:p>
          <a:p>
            <a:pPr lvl="0" indent="0" marL="0">
              <a:buNone/>
            </a:pPr>
            <a:r>
              <a:rPr/>
              <a:t>Krathwohl, D. R., Bloom, B., Masia, B. B., et al. (1964). </a:t>
            </a:r>
            <a:r>
              <a:rPr i="1"/>
              <a:t>Taxonomy of educational objectives</a:t>
            </a:r>
            <a:r>
              <a:rPr/>
              <a:t> (Vol. 2). David McKay Company.</a:t>
            </a:r>
          </a:p>
          <a:p>
            <a:pPr lvl="0" indent="0" marL="0">
              <a:buNone/>
            </a:pPr>
            <a:r>
              <a:rPr/>
              <a:t>Lovett, M. C., Bridges, M. W., DiPietro, M., Ambrose, S. A., &amp; Norman, M. K. (2023). </a:t>
            </a:r>
            <a:r>
              <a:rPr i="1"/>
              <a:t>How learning works: Eight research-based principles for smart teaching</a:t>
            </a:r>
            <a:r>
              <a:rPr/>
              <a:t>. John Wiley &amp; Sons.</a:t>
            </a:r>
          </a:p>
          <a:p>
            <a:pPr lvl="0" indent="0" marL="0">
              <a:buNone/>
            </a:pPr>
            <a:r>
              <a:rPr/>
              <a:t>Mager, R. F., &amp; Peatt, N. (1962). </a:t>
            </a:r>
            <a:r>
              <a:rPr i="1"/>
              <a:t>Preparing instructional objectives</a:t>
            </a:r>
            <a:r>
              <a:rPr/>
              <a:t> (Vol. 62). Fearon Publishers Palo Alto, California.</a:t>
            </a:r>
          </a:p>
          <a:p>
            <a:pPr lvl="0" indent="0" marL="0">
              <a:buNone/>
            </a:pPr>
            <a:r>
              <a:rPr/>
              <a:t>Riskulova, K. D., Yuldoshova, U. B. K., &amp; Tashkent Institute of Finance. (2020). The role of didactics in the teaching process. </a:t>
            </a:r>
            <a:r>
              <a:rPr i="1"/>
              <a:t>Theoretical &amp; Applied Science</a:t>
            </a:r>
            <a:r>
              <a:rPr/>
              <a:t>, </a:t>
            </a:r>
            <a:r>
              <a:rPr i="1"/>
              <a:t>85</a:t>
            </a:r>
            <a:r>
              <a:rPr/>
              <a:t>(05), 786–792. </a:t>
            </a:r>
            <a:r>
              <a:rPr>
                <a:hlinkClick r:id="rId8"/>
              </a:rPr>
              <a:t>https://doi.org/10.15863/TAS.2020.05.85.146</a:t>
            </a:r>
          </a:p>
          <a:p>
            <a:pPr lvl="0" indent="0" marL="0">
              <a:buNone/>
            </a:pPr>
            <a:r>
              <a:rPr/>
              <a:t>Simpson, E. (1985). </a:t>
            </a:r>
            <a:r>
              <a:rPr i="1"/>
              <a:t>Educational objectives in the psychomotor domain</a:t>
            </a:r>
            <a:r>
              <a:rPr/>
              <a:t>. Illinois University.</a:t>
            </a:r>
          </a:p>
          <a:p>
            <a:pPr lvl="0" indent="0" marL="0">
              <a:buNone/>
            </a:pPr>
            <a:r>
              <a:rPr/>
              <a:t>Sjøberg, S. (2010). Constructivism and learning. In B. McGaw &amp; P. Peterson (Eds.), </a:t>
            </a:r>
            <a:r>
              <a:rPr i="1"/>
              <a:t>International Encyclopaedia of Education</a:t>
            </a:r>
            <a:r>
              <a:rPr/>
              <a:t> (3rd ed.). Elsevier.</a:t>
            </a:r>
          </a:p>
          <a:p>
            <a:pPr lvl="0" indent="0" marL="0">
              <a:buNone/>
            </a:pPr>
            <a:r>
              <a:rPr/>
              <a:t>Stapleton-Corcoran, E. (2023). Bloom’s taxonomy of educational objectives. </a:t>
            </a:r>
            <a:r>
              <a:rPr i="1"/>
              <a:t>Center for the Advancement of Teaching Excellence (CATE)</a:t>
            </a:r>
            <a:r>
              <a:rPr/>
              <a: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Sjøberg (2010)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a:t>
            </a:r>
            <a:r>
              <a:rPr b="1"/>
              <a:t>support</a:t>
            </a:r>
            <a:r>
              <a:rPr/>
              <a:t> the creation of matching, reliable assessments that </a:t>
            </a:r>
            <a:r>
              <a:rPr b="1"/>
              <a:t>target </a:t>
            </a:r>
            <a:r>
              <a:rPr b="1" i="1"/>
              <a:t>all</a:t>
            </a:r>
            <a:r>
              <a:rPr b="1"/>
              <a:t> levels of understanding</a:t>
            </a:r>
            <a:r>
              <a:rPr/>
              <a:t> (not just memorization)</a:t>
            </a:r>
          </a:p>
          <a:p>
            <a:pPr lvl="0"/>
            <a:r>
              <a:rPr/>
              <a:t>To </a:t>
            </a:r>
            <a:r>
              <a:rPr b="1"/>
              <a:t>enhance higher-order thinking</a:t>
            </a:r>
            <a:r>
              <a:rPr/>
              <a:t> (e.g., critical thinking) while </a:t>
            </a:r>
            <a:r>
              <a:rPr b="1"/>
              <a:t>improving metacognition</a:t>
            </a:r>
            <a:r>
              <a:rPr/>
              <a:t>,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TODO</a:t>
            </a:r>
          </a:p>
        </p:txBody>
      </p:sp>
      <p:sp>
        <p:nvSpPr>
          <p:cNvPr id="3" name="Content Placeholder 2"/>
          <p:cNvSpPr>
            <a:spLocks noGrp="1"/>
          </p:cNvSpPr>
          <p:nvPr>
            <p:ph idx="1"/>
          </p:nvPr>
        </p:nvSpPr>
        <p:spPr/>
        <p:txBody>
          <a:bodyPr/>
          <a:lstStyle/>
          <a:p>
            <a:pPr lvl="0"/>
            <a:r>
              <a:rPr/>
              <a:t>☐ Add wordcloud and QR codes</a:t>
            </a:r>
          </a:p>
          <a:p>
            <a:pPr lvl="0"/>
            <a:r>
              <a:rPr/>
              <a:t>☐ Add alt text to all figures</a:t>
            </a:r>
          </a:p>
          <a:p>
            <a:pPr lvl="0"/>
            <a:r>
              <a:rPr/>
              <a:t>☐ Sort out all 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 zu Wolfsthurn</dc:creator>
  <cp:keywords/>
  <dcterms:created xsi:type="dcterms:W3CDTF">2026-08-16T23:19:30Z</dcterms:created>
  <dcterms:modified xsi:type="dcterms:W3CDTF">2026-08-16T23:19:30Z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16/08/2026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