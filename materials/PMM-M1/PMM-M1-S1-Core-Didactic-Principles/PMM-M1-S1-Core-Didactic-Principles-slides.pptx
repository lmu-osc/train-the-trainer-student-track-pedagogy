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notesMaster" Target="notesMasters/notesMaster1.xml" /><Relationship Id="rId65" Type="http://schemas.openxmlformats.org/officeDocument/2006/relationships/viewProps" Target="viewProps.xml" /><Relationship Id="rId64" Type="http://schemas.openxmlformats.org/officeDocument/2006/relationships/presProps" Target="presProps.xml" /><Relationship Id="rId1" Type="http://schemas.openxmlformats.org/officeDocument/2006/relationships/slideMaster" Target="slideMasters/slideMaster1.xml" /><Relationship Id="rId67" Type="http://schemas.openxmlformats.org/officeDocument/2006/relationships/tableStyles" Target="tableStyles.xml" /><Relationship Id="rId6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suggestions for activites and troubleshooting tips for issues your audience might run into. You can find these notes underneath the presenter notes.</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session assumes a basic familiarity with common Open Science practices and tools. You do not need to be experts, but they should have at least seen or used some of these concepts before. Examples include: R for data analysis and reproducible workflows; Quarto for reproducible documents; Git and GitHub for version control and collaboration, preregistration to document hypotheses and analysis plans in advance, Open Access publishing and broader transparency practices. If some of these terms are new, you are encouraged to review the introductory Open Science materials linked on the slide before continuing. The goal is simply to ensure everyone shares a common baseline vocabulary so the workshop can focus on learning how to teach about Open Science rather than Open Science itself.</a:t>
            </a:r>
          </a:p>
          <a:p>
            <a:pPr lvl="0" indent="0" marL="0">
              <a:buNone/>
            </a:pPr>
          </a:p>
          <a:p>
            <a:pPr lvl="0" indent="0" marL="0">
              <a:buNone/>
            </a:pPr>
            <a:r>
              <a:rPr b="1"/>
              <a:t>Instructor Notes</a:t>
            </a:r>
            <a:r>
              <a:rPr/>
              <a:t>: These are the prerequisites for this submodule. Before you get started on this submodule with your audience, you need to ensure that the audience fulfills these criteria. Outline any essential prerequisites (software, tools, other submodules etc.) here in table format. If you prefer bullet points to list the prerequisites, delete the table and use bullet points instead.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start, I would like to give you an overview of where we are going today. We will discuss this a little more later, but maybe some of you are here thinking, hm, I am unsure what it really means to do “good” teaching of open research topics. By the end of today, the plan is to boost your confidence in terms of your teaching skills and guide you step-by-step towards a great level of confidence, that you can pass your knowledge of open research on to novice learners through evidence-based practice.</a:t>
            </a:r>
          </a:p>
          <a:p>
            <a:pPr lvl="0" indent="0" marL="0">
              <a:buNone/>
            </a:pPr>
          </a:p>
          <a:p>
            <a:pPr lvl="0" indent="0" marL="0">
              <a:buNone/>
            </a:pPr>
            <a:r>
              <a:rPr b="1"/>
              <a:t>Instructor Notes</a:t>
            </a:r>
            <a:r>
              <a:rPr/>
              <a:t>: It is important to provide the overall vision of this session so that learners understand where they are headed in relation to where they are at in terms of how they feel about this topic.</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 </a:t>
            </a:r>
            <a:r>
              <a:rPr b="1"/>
              <a:t>Aim</a:t>
            </a:r>
            <a:r>
              <a:rPr/>
              <a:t>: Place the topic of the current submodule within a broader context. - Remind learners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go further, I want to briefly show you the three key concepts that will underpin today’s session. These concepts may not make sense to you at this point. Broadly speaking, these concepts are closely related and together provide a useful foundation for thinking about effective teaching and learning design. What do you connect to these concepts? What comes to mind?</a:t>
            </a:r>
          </a:p>
          <a:p>
            <a:pPr lvl="0" indent="0" marL="0">
              <a:buNone/>
            </a:pPr>
          </a:p>
          <a:p>
            <a:pPr lvl="0" indent="0" marL="0">
              <a:buNone/>
            </a:pPr>
            <a:r>
              <a:rPr b="1"/>
              <a:t>Instructor Notes</a:t>
            </a:r>
            <a:r>
              <a:rPr/>
              <a:t>: Base yourself on conceptual change theory and examine existing concepts in relation to some key terms. Re-examine the formation of new concepts at the end of the lesson. Give your learners enough time to think about this.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Today’s goal is to get to know these concepts in depth, so that at the end of the session you will have come to learn what each one of them entails in more detail.</a:t>
            </a:r>
          </a:p>
          <a:p>
            <a:pPr lvl="0" indent="0" marL="0">
              <a:buNone/>
            </a:pPr>
          </a:p>
          <a:p>
            <a:pPr lvl="0" indent="0" marL="0">
              <a:buNone/>
            </a:pPr>
            <a:r>
              <a:rPr b="1"/>
              <a:t>Instructor Notes</a:t>
            </a:r>
            <a:r>
              <a:rPr/>
              <a:t>: Emphasize that knowledge of these concepts is not required at this point, and that you will get back to these definitions towards the end of the class.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main learning objectives for today’s session. First, you should be able to understand some basic didactic concepts that support effective learning and teaching. This gives us the theoretical foundation for the rest of the session. Second, you will analyze how knowledge can be structured differently depending on the learner’s level of expertise, for example, how novices and experts organize information in different ways. Third, you will evaluate whether learning objectives and assessment methods are actually aligned and why this is important. In other words, does the assessment really measure the kind of learning we want students to achieve? Finally, you will formulate your own learning objectives using authentic examples and applying the principle of constructive alignment.</a:t>
            </a:r>
          </a:p>
          <a:p>
            <a:pPr lvl="0" indent="0" marL="0">
              <a:buNone/>
            </a:pPr>
          </a:p>
          <a:p>
            <a:pPr lvl="0" indent="0" marL="0">
              <a:buNone/>
            </a:pPr>
            <a:r>
              <a:rPr/>
              <a:t>Notice that I have highlighted the verbs in bold, we will come back to this later in this session.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get a bit more of a sense of who is in the room with you and what teaching or didactics experience they bring with you. </a:t>
            </a:r>
            <a:r>
              <a:rPr i="1"/>
              <a:t>For in-person learnerS</a:t>
            </a:r>
            <a:r>
              <a:rPr/>
              <a:t>: I would like for everyone to get up an to stand on an imaginary axis based on how much teaching experience you have. Closest to the front we have really a lot of teaching experience, I teach basically every day, and at the back we have I am completely new to teaching. </a:t>
            </a:r>
            <a:r>
              <a:rPr i="1"/>
              <a:t>For virtual learnerS</a:t>
            </a:r>
            <a:r>
              <a:rPr/>
              <a:t>: I would like for everyone draw on this line how much teaching experience you have by drawing an x. On the right side of scale we have really a lot of teaching experience, I teach basically every day, and on the left side we have I am completely new to teaching.</a:t>
            </a:r>
          </a:p>
          <a:p>
            <a:pPr lvl="0" indent="0" marL="0">
              <a:buNone/>
            </a:pPr>
          </a:p>
          <a:p>
            <a:pPr lvl="0" indent="0" marL="0">
              <a:buNone/>
            </a:pPr>
            <a:r>
              <a:rPr b="1"/>
              <a:t>Instructor Notes</a:t>
            </a:r>
            <a:r>
              <a:rPr/>
              <a:t>: </a:t>
            </a:r>
            <a:r>
              <a:rPr i="1"/>
              <a:t>For in-person learners</a:t>
            </a:r>
            <a:r>
              <a:rPr/>
              <a:t>: Get people to stand along imaginary line across the room in terms of how much teaching experience they have. </a:t>
            </a:r>
            <a:r>
              <a:rPr i="1"/>
              <a:t>For online learners</a:t>
            </a:r>
            <a:r>
              <a:rPr/>
              <a:t>: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experiences. Involve your audience as early as possible, so that they pay attention in case they unexpectedly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let us think a little more about “didactics” or “pedagogy”. If and when you teach, how often do you think about didactics? What do you connect with that term?</a:t>
            </a:r>
          </a:p>
          <a:p>
            <a:pPr lvl="0" indent="0" marL="0">
              <a:buNone/>
            </a:pPr>
          </a:p>
          <a:p>
            <a:pPr lvl="0" indent="0" marL="0">
              <a:buNone/>
            </a:pPr>
            <a:r>
              <a:rPr b="1"/>
              <a:t>Instructor Notes</a:t>
            </a:r>
            <a:r>
              <a:rPr/>
              <a:t>: For </a:t>
            </a:r>
            <a:r>
              <a:rPr i="1"/>
              <a:t>in-person learners</a:t>
            </a:r>
            <a:r>
              <a:rPr/>
              <a:t>: Get people to stand along imaginary line across the room in terms of how much they think about didactics. For </a:t>
            </a:r>
            <a:r>
              <a:rPr i="1"/>
              <a:t>online learners</a:t>
            </a:r>
            <a:r>
              <a:rPr/>
              <a:t>: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didactic thinking processes.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Finally, how big are your training audiences? How many people are in the room with you, virtually or in person? What kind of group would this be?</a:t>
            </a:r>
          </a:p>
          <a:p>
            <a:pPr lvl="0" indent="0" marL="0">
              <a:buNone/>
            </a:pPr>
          </a:p>
          <a:p>
            <a:pPr lvl="0" indent="0" marL="0">
              <a:buNone/>
            </a:pPr>
            <a:r>
              <a:rPr b="1"/>
              <a:t>Instructor Notes</a:t>
            </a:r>
            <a:r>
              <a:rPr/>
              <a:t>: For </a:t>
            </a:r>
            <a:r>
              <a:rPr i="1"/>
              <a:t>in-person learners</a:t>
            </a:r>
            <a:r>
              <a:rPr/>
              <a:t>: Get people to stand along imaginary line across the room in terms of how large their teaching audiences are. For </a:t>
            </a:r>
            <a:r>
              <a:rPr i="1"/>
              <a:t>online learners</a:t>
            </a:r>
            <a:r>
              <a:rPr/>
              <a:t>: Ask them to indicate group size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respective teaching audiences.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is learning to you? How would you define it? What expectations or assumptions come with it?</a:t>
            </a:r>
          </a:p>
          <a:p>
            <a:pPr lvl="0" indent="0" marL="0">
              <a:buNone/>
            </a:pPr>
          </a:p>
          <a:p>
            <a:pPr lvl="0" indent="0" marL="0">
              <a:buNone/>
            </a:pPr>
            <a:r>
              <a:rPr b="1"/>
              <a:t>Instructor Notes</a:t>
            </a:r>
            <a:r>
              <a:rPr/>
              <a:t>: Keep in mind that your learners may have very different educational, cultural, or professional backgrounds, which will shape how they define learning. Moreover, because the question is personal and open-ended, learners need to feel comfortable sharing ideas without fear of being judged or “wrong.” Emphasize that there is no right or wrong and they could take a guess if they felt comfortable. Importantly, use this as an opportunity to understand what learners prior conceptualization of this process is.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Pulling together our discussion from before, this definition of learning comes from Ambrose and colleagues. It is useful because it shifts our focus away from learning as something that simply “happens” when information is presented. Instead, learning is described here as a process, something ongoing rather than a single event, that results in change. That change might be in knowledge, skills, attitudes, or even how someone approaches problems.</a:t>
            </a:r>
          </a:p>
          <a:p>
            <a:pPr lvl="0" indent="0" marL="0">
              <a:buNone/>
            </a:pPr>
          </a:p>
          <a:p>
            <a:pPr lvl="0" indent="0" marL="0">
              <a:buNone/>
            </a:pPr>
            <a:r>
              <a:rPr/>
              <a:t>A key point in this definition is that change occurs as a result of experience. This highlights that learners need to actively engage with material; simply being exposed to information is not enough for meaningful learning to occur.</a:t>
            </a:r>
          </a:p>
          <a:p>
            <a:pPr lvl="0" indent="0" marL="0">
              <a:buNone/>
            </a:pPr>
          </a:p>
          <a:p>
            <a:pPr lvl="0" indent="0" marL="0">
              <a:buNone/>
            </a:pPr>
            <a:r>
              <a:rPr/>
              <a:t>The final part of the definition is important as well: learning increases the potential for improved performance and future learning. So learning is not only about immediate outcomes, but also about building capacity for continued growth over time.</a:t>
            </a:r>
          </a:p>
          <a:p>
            <a:pPr lvl="0" indent="0" marL="0">
              <a:buNone/>
            </a:pPr>
          </a:p>
          <a:p>
            <a:pPr lvl="0" indent="0" marL="0">
              <a:buNone/>
            </a:pPr>
            <a:r>
              <a:rPr/>
              <a:t>Overall, this definition aligns well with what in educational sciences is known as constructivism, which emphasizes active engagement, experience, and the development of understanding over time rather than passive reception of information.</a:t>
            </a:r>
          </a:p>
          <a:p>
            <a:pPr lvl="0" indent="0" marL="0">
              <a:buNone/>
            </a:pPr>
          </a:p>
          <a:p>
            <a:pPr lvl="0" indent="0" marL="0">
              <a:buNone/>
            </a:pPr>
            <a:r>
              <a:rPr b="1"/>
              <a:t>Instructor Notes</a:t>
            </a:r>
            <a:r>
              <a:rPr/>
              <a:t>: This slide is a good moment to go back to the previous activity whereby learners were thinking about their existing concepts of “learning” and compare and integrate some of the ideas that were put forward by learners with this definition.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look at “learning” even more in detail. As described in Efgivia et al, learning is an active, learner-centered process, where learners build knowledge internally rather than just simply receiving it from their teachers or instructors. It emphasizes learning as an active building of knowledge in the mean, with teachers being the facilitators who create a positive learning environment much more than being just the providers of information. In learning, it is not just about the individual. Instead, social interactions and collaborations with instructors and fellow learners are important drivers of the learning process.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idea that learning is not simply “being transmitted” from an instructor to learners, but more something that learners actively achieve is captured by constructivism.</a:t>
            </a:r>
          </a:p>
          <a:p>
            <a:pPr lvl="0" indent="0" marL="0">
              <a:buNone/>
            </a:pPr>
          </a:p>
          <a:p>
            <a:pPr lvl="0" indent="0" marL="0">
              <a:buNone/>
            </a:pPr>
            <a:r>
              <a:rPr/>
              <a:t>What this means in practice is that learners are not “empty vessels” waiting to be filled with information. Instead, they interpret new ideas through the lens of what they already know. Prior knowledge therefore plays a central role in how new information is understood, and sometimes it can even support learning, or get in the way if existing ideas conflict with new ones. The second important element here is the role of context. Learning does not happen in isolation, it is shaped by the environment, the tasks learners engage with, and the social interactions they experience. The same content can therefore be understood differently depending on how and where it is learned.</a:t>
            </a:r>
          </a:p>
          <a:p>
            <a:pPr lvl="0" indent="0" marL="0">
              <a:buNone/>
            </a:pPr>
          </a:p>
          <a:p>
            <a:pPr lvl="0" indent="0" marL="0">
              <a:buNone/>
            </a:pPr>
            <a:r>
              <a:rPr b="1"/>
              <a:t>Instructor Notes</a:t>
            </a:r>
            <a:r>
              <a:rPr/>
              <a:t>: Check for understanding here, this is a key point of today’s session.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we just heard, prior knowledge plays an important role in constructivism. But also we know that not everything we know is true or complete. Knowledge, here defined as facts, concepts, beliefs, values, models, perceptions and attitudes, may be complete or appropriate or a context, or may be incomplete or inappropriate.</a:t>
            </a:r>
          </a:p>
          <a:p>
            <a:pPr lvl="0" indent="0" marL="0">
              <a:buNone/>
            </a:pPr>
          </a:p>
          <a:p>
            <a:pPr lvl="0" indent="0" marL="0">
              <a:buNone/>
            </a:pPr>
            <a:r>
              <a:rPr/>
              <a:t>For example, I could have the “belief” that research published in open access journal means that it is lower quality compared to research published in high-impact journals. When I now encounter Open Access publishing, say someone tells me that my paper would fit well in this open access journal, I may reject the idea, or distrust research published in that open access journal. The information I might be missing here is in essence that research quality depends on methodological rigor and peer review, not paywalls or access restrictions. Within a constructivist view, I would integrate this piece of information with my existing belief to form a more complete and accurate model and towards becoming more of an expert in a given topic.</a:t>
            </a:r>
          </a:p>
          <a:p>
            <a:pPr lvl="0" indent="0" marL="0">
              <a:buNone/>
            </a:pPr>
          </a:p>
          <a:p>
            <a:pPr lvl="0" indent="0" marL="0">
              <a:buNone/>
            </a:pPr>
            <a:r>
              <a:rPr/>
              <a:t>We will also talk more about assessing prior knowledge in the following submodules.</a:t>
            </a:r>
          </a:p>
          <a:p>
            <a:pPr lvl="0" indent="0" marL="0">
              <a:buNone/>
            </a:pPr>
          </a:p>
          <a:p>
            <a:pPr lvl="0" indent="0" marL="0">
              <a:buNone/>
            </a:pPr>
            <a:r>
              <a:rPr b="1"/>
              <a:t>Instructor Notes</a:t>
            </a:r>
            <a:r>
              <a:rPr/>
              <a:t>: Ask if someone in the audience can think of another example where prior knowledge might be interfering with the learning process in the context of Open Science.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 important question to ask at this point is what “being an expert” actually means. Please take a few moments to think about these three questions for yourselves, then discuss with a partner. We will then share your thoughts in the larger group.</a:t>
            </a:r>
          </a:p>
          <a:p>
            <a:pPr lvl="0" indent="0" marL="0">
              <a:buNone/>
            </a:pPr>
          </a:p>
          <a:p>
            <a:pPr lvl="0" indent="0" marL="0">
              <a:buNone/>
            </a:pPr>
            <a:r>
              <a:rPr b="1"/>
              <a:t>Instructor Notes</a:t>
            </a:r>
            <a:r>
              <a:rPr/>
              <a:t>: Use the think-pair-share method. </a:t>
            </a:r>
            <a:r>
              <a:rPr i="1"/>
              <a:t>For the discussion round</a:t>
            </a:r>
            <a:r>
              <a:rPr/>
              <a:t>: In reviewing the answers to the third question above, you will find that the expert experience amounts to much more than just knowing more facts in your learners. What makes an expert? The answer is that experts have more connections among pieces of knowledge that help them think and problem-solve quickly; more “short-cuts”, if you will.</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increasing experience level, we move from one type of learner and mental model to another. Simplified, you could look at the types ot learners in terms of novice, competent practicioner, and expert. Here, the differences between these levels of learners can be supparized as starting from: unsure what questions to ask to I know something, but have to look up things to I am super experienced at this stage and basically do not have to think anymore. Let me give you examples for each type of learner:</a:t>
            </a:r>
          </a:p>
          <a:p>
            <a:pPr lvl="0" indent="0" marL="0">
              <a:buNone/>
            </a:pPr>
          </a:p>
          <a:p>
            <a:pPr lvl="0"/>
            <a:r>
              <a:rPr b="1"/>
              <a:t>Novice</a:t>
            </a:r>
            <a:r>
              <a:rPr/>
              <a:t>: Someone who does not know what they do not know, i.e., they do not yet know what the key ideas in the domain are or how they relate. Novices may have difficulty formulating questions, or may ask questions that seem irrelevant or off-topic as they rely on prior knowledge, without knowing what is or is not related yet. </a:t>
            </a:r>
            <a:r>
              <a:rPr i="1"/>
              <a:t>Example</a:t>
            </a:r>
            <a:r>
              <a:rPr/>
              <a:t>: A novice learner in a Open Access workshop might never have heard of the Green Open Access model, and therefore may have no understanding of how it affects both the authors of academic papers as well as the readers of papers.</a:t>
            </a:r>
          </a:p>
          <a:p>
            <a:pPr lvl="0" indent="0" marL="0">
              <a:buNone/>
            </a:pPr>
          </a:p>
          <a:p>
            <a:pPr lvl="0"/>
            <a:r>
              <a:rPr b="1"/>
              <a:t>Competent practitioner</a:t>
            </a:r>
            <a:r>
              <a:rPr/>
              <a:t>: someone who has enough understanding for everyday purposes. They will not know all the details of how something works and their understanding may not be entirely accurate, but it is sufficient for completing normal tasks with normal effort under normal circumstances. Example: A competent practitioner in the context of an Open Access workshop might be able to check funder’s requirements, publish papers Open Access and uses open licences like Creative Commons licences. What they maybe do not know are the in-depth differences between Gold, Green and Diamond OA and the legel subtleties of copyright and all the different licences.</a:t>
            </a:r>
          </a:p>
          <a:p>
            <a:pPr lvl="0" indent="0" marL="0">
              <a:buNone/>
            </a:pPr>
          </a:p>
          <a:p>
            <a:pPr lvl="0"/>
            <a:r>
              <a:rPr b="1"/>
              <a:t>Expert</a:t>
            </a:r>
            <a:r>
              <a:rPr/>
              <a:t>: someone who can easily handle typical situations and those that are out of the ordinary. Example: An expert publishes perhaps strategically across gold, green and diamond open access routes. Selects and applies different Creative Commons licences based on reuse goals. Trains others in Open Access practices and institutional policy. Consults on unusual situations, e.g., checks embargo policies and rights retention, recommends alternative journals, meaning that they adapt and apply the knowledge and skills flexibly depending on the situation.</a:t>
            </a:r>
          </a:p>
          <a:p>
            <a:pPr lvl="0" indent="0" marL="0">
              <a:buNone/>
            </a:pPr>
          </a:p>
          <a:p>
            <a:pPr lvl="0" indent="0" marL="0">
              <a:buNone/>
            </a:pPr>
            <a:r>
              <a:rPr/>
              <a:t>Note that how a person feels about their skill level is not included in these definitions! You may or may not consider yourself an expert in a particular subject, but may nonetheless function at that level in certain contexts.</a:t>
            </a:r>
          </a:p>
          <a:p>
            <a:pPr lvl="0" indent="0" marL="0">
              <a:buNone/>
            </a:pPr>
          </a:p>
          <a:p>
            <a:pPr lvl="0" indent="0" marL="0">
              <a:buNone/>
            </a:pPr>
            <a:r>
              <a:rPr/>
              <a:t>It is common to think of a novice as a sort of an “empty vessel” into which knowledge can be “poured.” By now, we have learned that a more useful way to look at this would be through the lens of constructivism. Next, we will briefly explore the nature of “knowledge” through a concept that helps us differentiate between novices and competent practitioners in a more useful and visual way. This, in turn, will have implications for how we teach.</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novice has a minimal mental model of surface features of the domain. Inaccuracies based on limited or inaccurate prior knowledge may interfere with adding new information. Predictions are likely to borrow heavily from mental models of other domains which seem superficially similar. A competent practitioner has a mental model that is useful for everyday purposes. Most new information they are likely to encounter will fit well with their existing model. Even though many potential elements of their mental model may still be missing or wrong, predictions about their area of work are usually accurate. An expert has a densely populated and connected mental model that is especially good for problem solving. They quickly connect concepts that others may not see as being related. They may have difficulty explaining how they are thinking in ways that do not rely on other features unique to their own mental model.</a:t>
            </a:r>
          </a:p>
          <a:p>
            <a:pPr lvl="0" indent="0" marL="0">
              <a:buNone/>
            </a:pPr>
          </a:p>
          <a:p>
            <a:pPr lvl="0" indent="0" marL="0">
              <a:buNone/>
            </a:pPr>
            <a:r>
              <a:rPr/>
              <a:t>A greater connectivity of a mental model allows expert to:</a:t>
            </a:r>
          </a:p>
          <a:p>
            <a:pPr lvl="0" indent="0" marL="0">
              <a:buNone/>
            </a:pPr>
          </a:p>
          <a:p>
            <a:pPr lvl="0"/>
            <a:r>
              <a:rPr/>
              <a:t>see connections between two topics or ideas that no one else can see</a:t>
            </a:r>
          </a:p>
          <a:p>
            <a:pPr lvl="0" indent="0" marL="0">
              <a:buNone/>
            </a:pPr>
          </a:p>
          <a:p>
            <a:pPr lvl="0"/>
            <a:r>
              <a:rPr/>
              <a:t>see a single problem in several different ways</a:t>
            </a:r>
          </a:p>
          <a:p>
            <a:pPr lvl="0" indent="0" marL="0">
              <a:buNone/>
            </a:pPr>
          </a:p>
          <a:p>
            <a:pPr lvl="0"/>
            <a:r>
              <a:rPr/>
              <a:t>know how to solve a problem, or “what questions to ask”</a:t>
            </a:r>
          </a:p>
          <a:p>
            <a:pPr lvl="0" indent="0" marL="0">
              <a:buNone/>
            </a:pPr>
          </a:p>
          <a:p>
            <a:pPr lvl="0"/>
            <a:r>
              <a:rPr/>
              <a:t>jump directly from a problem to its solution because there is a direct link between the two in their mind. Where a competent practitioner would have to reason “A therefore B therefore C therefore F”, the expert can go from A to F in a single step (“A therefore F”).</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compare these mental models across the three types of learners with a concrete example. Think of an open science topic of your choice, not open access since we already had a few examples related to this. Sketch out the mental model of a novice in comparison to a competent practitioner and an expert and provide concrete examples of how the organisation of knowledge differs among these three types of learners. Write down your thoughts over the next 5 minutes.</a:t>
            </a:r>
          </a:p>
          <a:p>
            <a:pPr lvl="0" indent="0" marL="0">
              <a:buNone/>
            </a:pPr>
          </a:p>
          <a:p>
            <a:pPr lvl="0" indent="0" marL="0">
              <a:buNone/>
            </a:pPr>
            <a:r>
              <a:rPr b="1"/>
              <a:t>Instructor Notes</a:t>
            </a:r>
            <a:r>
              <a:rPr/>
              <a:t>: Give people 5 minutes for this. Collect some ideas in the group and discuss.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talked about mental models, next we want to talk about things that could help us move from novice learners to experts. Think about something that you are currently learning or learning how to do. What helps you with organizing your knowledge, beliefs, prior skills etc. in your mental model, for example in the context of a workshop or course? Think back about things that you encountered in workshops or courses, or even things you have seen during this session.</a:t>
            </a:r>
          </a:p>
          <a:p>
            <a:pPr lvl="0" indent="0" marL="0">
              <a:buNone/>
            </a:pPr>
          </a:p>
          <a:p>
            <a:pPr lvl="0" indent="0" marL="0">
              <a:buNone/>
            </a:pPr>
            <a:r>
              <a:rPr b="1"/>
              <a:t>Instructor Notes</a:t>
            </a:r>
            <a:r>
              <a:rPr/>
              <a:t>: Ask for interaction from the audience.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Some strategies could be: When designing a learning session, it is helpful to start by providing learners with a clear big picture or outline of the workshop or course so they understand how the content fits together. Alongside this, it is important to clearly lay out the expectations and objectives for the session, so learners know what they are working toward.</a:t>
            </a:r>
          </a:p>
          <a:p>
            <a:pPr lvl="0" indent="0" marL="0">
              <a:buNone/>
            </a:pPr>
          </a:p>
          <a:p>
            <a:pPr lvl="0" indent="0" marL="0">
              <a:buNone/>
            </a:pPr>
            <a:r>
              <a:rPr/>
              <a:t>From there, the instructor should create opportunities to discover learners’ prior knowledge, for example through questions, short activities, or discussions. This helps surface existing mental models that may support or interfere with new learning.</a:t>
            </a:r>
          </a:p>
          <a:p>
            <a:pPr lvl="0" indent="0" marL="0">
              <a:buNone/>
            </a:pPr>
          </a:p>
          <a:p>
            <a:pPr lvl="0" indent="0" marL="0">
              <a:buNone/>
            </a:pPr>
            <a:r>
              <a:rPr/>
              <a:t>Another key element is making connections between concepts explicit. While the instructor can help highlight these relationships, it is even more effective to encourage learners to construct these connections themselves, for instance through sorting tasks or concept mapping activities.</a:t>
            </a:r>
          </a:p>
          <a:p>
            <a:pPr lvl="0" indent="0" marL="0">
              <a:buNone/>
            </a:pPr>
          </a:p>
          <a:p>
            <a:pPr lvl="0" indent="0" marL="0">
              <a:buNone/>
            </a:pPr>
            <a:r>
              <a:rPr/>
              <a:t>Finally, it is important to continuously monitor learners’ work for signs of misunderstanding or gaps in how knowledge is organised. This can be supported through formative assessment tasks, structured feedback, or progress trackers that make learners’ thinking visible over time.</a:t>
            </a:r>
          </a:p>
          <a:p>
            <a:pPr lvl="0" indent="0" marL="0">
              <a:buNone/>
            </a:pPr>
          </a:p>
          <a:p>
            <a:pPr lvl="0" indent="0" marL="0">
              <a:buNone/>
            </a:pPr>
            <a:r>
              <a:rPr b="1"/>
              <a:t>Instructor Notes</a:t>
            </a:r>
            <a:r>
              <a:rPr/>
              <a:t>: Refer back to the answers from your learners from the previous task.</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mentioned before, clearly laying ou expectations and what you want your learners to achieve for a given workshop is key to help with the organization of the the mental model. Constructive alignment provides a clear framework and contributes to the optimal learning environment. It is about making sure that the structure of your course or your lesson supports the learning objectives you are aiming at. Constructive alignment means ensuring that three core elements, namely learning objectives/ outcomes, teaching/learning activities, and assessment tasks work together and are aligned with each other. If there is any misalignment, it can confuse students or make the learning process less effective.</a:t>
            </a:r>
          </a:p>
          <a:p>
            <a:pPr lvl="0" indent="0" marL="0">
              <a:buNone/>
            </a:pPr>
          </a:p>
          <a:p>
            <a:pPr lvl="0" indent="0" marL="0">
              <a:buNone/>
            </a:pPr>
            <a:r>
              <a:rPr/>
              <a:t>For example (social sciences/ humanities): If you want students to critically analyze a text (learning outcome), you should teach them how to critically analyze texts (teaching activity) and then assess them on their ability to critically analyze texts (assessment task). But if your assessment is a multiple-choice test that does not require analysis, it creates a misalignment between your teaching methods and the way you are measuring student success. The outcome and assessment do not align, and students might not achieve the skills you intended.</a:t>
            </a:r>
          </a:p>
          <a:p>
            <a:pPr lvl="0" indent="0" marL="0">
              <a:buNone/>
            </a:pPr>
          </a:p>
          <a:p>
            <a:pPr lvl="0" indent="0" marL="0">
              <a:buNone/>
            </a:pPr>
            <a:r>
              <a:rPr/>
              <a:t>For example (hard sciences): In a physics class, the goal is for students to use Newton’s Second Law to solve real-world problems with friction and inclined planes. But lessons are mostly lectures and examples from the teacher, with no practice for students to solve problems themselves. Tests only ask definition questions instead of requiring calculations or problem-solving. Because of this, students can pass without learning the skills the goal describes.</a:t>
            </a:r>
          </a:p>
          <a:p>
            <a:pPr lvl="0" indent="0" marL="0">
              <a:buNone/>
            </a:pPr>
          </a:p>
          <a:p>
            <a:pPr lvl="0" indent="0" marL="0">
              <a:buNone/>
            </a:pPr>
            <a:r>
              <a:rPr/>
              <a:t>Another example from the instructor: Learning objective = conducting an anamnestic interview with a patient. Teaching activites = role plays. Assessment task = Anamnestic interview with fake/real patient.</a:t>
            </a:r>
          </a:p>
          <a:p>
            <a:pPr lvl="0" indent="0" marL="0">
              <a:buNone/>
            </a:pPr>
          </a:p>
          <a:p>
            <a:pPr lvl="0" indent="0" marL="0">
              <a:buNone/>
            </a:pPr>
            <a:r>
              <a:rPr b="1"/>
              <a:t>Instructor Notes</a:t>
            </a:r>
            <a:r>
              <a:rPr/>
              <a:t>: Ask if someone in your audience has already heard about this concept. Ask to provide examples. In constructive alignment, we start with the outcomes we intend students to learn, and align teaching and assessment to those outcomes. The outcome statements contain a learning activity, a verb, [that] verb says what the relevant learning activities are that the students need to undertake in order to attain the intended learning outcome. Learning is constructed by what activities the students carry out; learning is about what they do, not about what we teachers do. Likewise, assessment is about how well they achieve the intended outcomes, not about how well they report back to us what we have told them or what they have read’ (Biggs n.d.).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next exercise, I would like for you to match the assessment type with a given learning goal. We will learn more about learning objectives and how to formulate them later. For now, focus on the alignment aspect: does the learning goal match with the assessment type?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Discussion of solutions in the plenum and potential discussions. Solutions are: - A2 - B3 - C4 - D1</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are coming to another core didatic principle besides prior knowledge, constructivism, mental models and constructive alignment, namely setting learning objectives.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quotes here represent the famous conversation between Alice and the Cheshire Cat in Alice in Wonderland. The key idea of the scene is decision-making and the importance of having a goal before choosing a direction. If you do not know where you are going, any road could potentially take you there. In this case, before asking how to get somewhere, you first need to know where you want to go. Just like Alice cannot choose the right path without knowing where she wants to go, instructors cannot effectively teach and obtain progress without clear learning objectives. Without clearly defined learning objectives, teaching and learning may lack direction and intentionality. Therefore, formulating and setting suitable learning objectives is a key skill of instructors, particularly in Open Science, which as a broad, interdisciplinary field with many obstacles that can sometimes feel too abstract or ideological to learners.</a:t>
            </a:r>
          </a:p>
          <a:p>
            <a:pPr lvl="0" indent="0" marL="0">
              <a:buNone/>
            </a:pPr>
          </a:p>
          <a:p>
            <a:pPr lvl="0" indent="0" marL="0">
              <a:buNone/>
            </a:pPr>
            <a:r>
              <a:rPr b="1"/>
              <a:t>Instructor Notes</a:t>
            </a:r>
            <a:r>
              <a:rPr/>
              <a:t>: Emphasize the importance of clear learning objectives in the context of Open Science. Clear learning objectives create the direction that allows open science education to move from awareness toward genuine cultural and practical change in research, which is what is currently needed.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Generally speaking, the instructor needs to formulate designated and specific learning objectives.</a:t>
            </a:r>
          </a:p>
          <a:p>
            <a:pPr lvl="0" indent="0" marL="0">
              <a:buNone/>
            </a:pPr>
          </a:p>
          <a:p>
            <a:pPr lvl="0" indent="0" marL="0">
              <a:buNone/>
            </a:pPr>
            <a:r>
              <a:rPr/>
              <a:t>When preparing a teaching unit, it is important to gain an overview of the location of the learning objectives within this hierarchy to be pursued. Each learning objective is embedded in preceding and subsequent learning objectives. Previous learning achievements are an essential foundation for the successful acquisition of new knowledge and skills. At the same time, this knowledge prepares learners for the learning steps that follow. The learning objectives are not always on the same logical level. In order to reach the next level, it is necessary for learning success that the foundation of the lower levels has been laid.</a:t>
            </a:r>
          </a:p>
          <a:p>
            <a:pPr lvl="0" indent="0" marL="0">
              <a:buNone/>
            </a:pPr>
          </a:p>
          <a:p>
            <a:pPr lvl="0" indent="0" marL="0">
              <a:buNone/>
            </a:pPr>
            <a:r>
              <a:rPr/>
              <a:t>What are the three levels of learning objectives? - General objectives — Course as a whole (e.g. producing transparent and reproducible research) - Designated objectives — Subject area (e.g. use FAIR data principles when organizing and publishing research data) - Specific objectives — Learning unit (Upload a dataset to an open repository with appropriate metadata)</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let’s say we want to define our learning objectives, and we know where in the hierarchy we want to begin. We still do not fully know </a:t>
            </a:r>
            <a:r>
              <a:rPr i="1"/>
              <a:t>where</a:t>
            </a:r>
            <a:r>
              <a:rPr/>
              <a:t> we are going because we have to better define what we want our learners to take out of the course, the subject or the individual lesson. In other words, we need to be more specific in </a:t>
            </a:r>
            <a:r>
              <a:rPr i="1"/>
              <a:t>what</a:t>
            </a:r>
            <a:r>
              <a:rPr/>
              <a:t> we want our learners to learn. A useful framework is to divide learning goals into three domains. The first domain is the cognitive domain, which focuses on knowledge and thinking. The second domain is the affective domain, which focuses on feelings, attitudes, values, and personal growth. The third domain is the psychomotor domain, which focuses on physical or technical skills and behavioral change. Let us go through each one in more detail.</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cognitive domain went through numerous revisions before a finalized version was published (Bloom 1956). Bloom’s taxonomy of learning objectives (1973; Bloom et al., 1956) is a proven model for describing and classifying the cognitive skills that students should have mastered at the end of a course or module. The six levels of cognitive complexity build on each other and can be described using specific verbs.</a:t>
            </a:r>
          </a:p>
          <a:p>
            <a:pPr lvl="0" indent="0" marL="0">
              <a:buNone/>
            </a:pPr>
          </a:p>
          <a:p>
            <a:pPr lvl="0" indent="0" marL="0">
              <a:buNone/>
            </a:pPr>
            <a:r>
              <a:rPr/>
              <a:t>The cognitive domain has been the primary focus in education and has become shorthand for Bloom’s Taxonomy as a result. The cognitive domain is made up of six levels of objectives. These levels are organized by hierarchy, moving from foundational skills to higher-order thinking skills.</a:t>
            </a:r>
          </a:p>
          <a:p>
            <a:pPr lvl="0" indent="0" marL="0">
              <a:buNone/>
            </a:pPr>
          </a:p>
          <a:p>
            <a:pPr lvl="0" indent="0" marL="0">
              <a:buNone/>
            </a:pPr>
            <a:r>
              <a:rPr/>
              <a:t>In 2001 Anderson and Krathwohl revised Bloom’s levels from nouns to verbs, and this is the version of the taxonomy used today.</a:t>
            </a:r>
          </a:p>
          <a:p>
            <a:pPr lvl="0" indent="0" marL="0">
              <a:buNone/>
            </a:pPr>
          </a:p>
          <a:p>
            <a:pPr lvl="0"/>
            <a:r>
              <a:rPr/>
              <a:t>Remember: retrieve relevant knowledge from memory.</a:t>
            </a:r>
          </a:p>
          <a:p>
            <a:pPr lvl="0" indent="0" marL="0">
              <a:buNone/>
            </a:pPr>
          </a:p>
          <a:p>
            <a:pPr lvl="0"/>
            <a:r>
              <a:rPr/>
              <a:t>Understand: determine the meaning of instructional messages.</a:t>
            </a:r>
          </a:p>
          <a:p>
            <a:pPr lvl="0" indent="0" marL="0">
              <a:buNone/>
            </a:pPr>
          </a:p>
          <a:p>
            <a:pPr lvl="0"/>
            <a:r>
              <a:rPr/>
              <a:t>Apply: use a procedure in a given situation.</a:t>
            </a:r>
          </a:p>
          <a:p>
            <a:pPr lvl="0" indent="0" marL="0">
              <a:buNone/>
            </a:pPr>
          </a:p>
          <a:p>
            <a:pPr lvl="0"/>
            <a:r>
              <a:rPr/>
              <a:t>Analyze: break materials into components and determine how they work together.</a:t>
            </a:r>
          </a:p>
          <a:p>
            <a:pPr lvl="0" indent="0" marL="0">
              <a:buNone/>
            </a:pPr>
          </a:p>
          <a:p>
            <a:pPr lvl="0"/>
            <a:r>
              <a:rPr/>
              <a:t>Evaluate: make judgments based on criteria and standards.</a:t>
            </a:r>
          </a:p>
          <a:p>
            <a:pPr lvl="0" indent="0" marL="0">
              <a:buNone/>
            </a:pPr>
          </a:p>
          <a:p>
            <a:pPr lvl="0"/>
            <a:r>
              <a:rPr/>
              <a:t>Create: create a new or original work.</a:t>
            </a:r>
          </a:p>
          <a:p>
            <a:pPr lvl="0" indent="0" marL="0">
              <a:buNone/>
            </a:pPr>
          </a:p>
          <a:p>
            <a:pPr lvl="0" indent="0" marL="0">
              <a:buNone/>
            </a:pPr>
            <a:r>
              <a:rPr/>
              <a:t>Example from Open Science: The learning goal focuses on analysis. Learners are expected to critically examine how open science practices contribute to transparency and reproducibility in research. This moves beyond memorisation and requires higher-order thinking, such as comparing, evaluating, and interpreting research processes. The teaching activity supports this goal by engaging learners in the evaluation and comparison of real or simulated research workflows. For example, they might look at a traditional analysis pipeline versus one that uses version control, preregistration, or shared data. The emphasis here is on identifying differences in structure, transparency, and reproducibility. Finally, the assessment task asks learners to demonstrate their understanding through a group presentation. This allows them to articulate strengths and limitations of different research practices and justify their evaluation using evidence. It also encourages discussion and collaborative reasoning, which is important when dealing with complex methodological topics such as Open Science.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figure visualizes the learning goals associated with the cognitive learning domain. What you see is the pyramid of learning goals verbs by Anderson and Krathwohl. This is a revised version of Bloom’s Taxonomy and organizes learning objectives into a hierarchy of cognitive processes. It is often shown as a pyramid because it moves from simpler thinking skills at the base to more complex, higher-order thinking at the top.</a:t>
            </a:r>
          </a:p>
          <a:p>
            <a:pPr lvl="0" indent="0" marL="0">
              <a:buNone/>
            </a:pPr>
          </a:p>
          <a:p>
            <a:pPr lvl="0" indent="0" marL="0">
              <a:buNone/>
            </a:pPr>
            <a:r>
              <a:rPr/>
              <a:t>At the </a:t>
            </a:r>
            <a:r>
              <a:rPr b="1"/>
              <a:t>Remember</a:t>
            </a:r>
            <a:r>
              <a:rPr/>
              <a:t> level, learners recall basic facts and definitions. For example, they might remember what open science, preregistration, or FAIR data principles stand for without yet applying them.</a:t>
            </a:r>
          </a:p>
          <a:p>
            <a:pPr lvl="0" indent="0" marL="0">
              <a:buNone/>
            </a:pPr>
          </a:p>
          <a:p>
            <a:pPr lvl="0" indent="0" marL="0">
              <a:buNone/>
            </a:pPr>
            <a:r>
              <a:rPr/>
              <a:t>At the </a:t>
            </a:r>
            <a:r>
              <a:rPr b="1"/>
              <a:t>Understand</a:t>
            </a:r>
            <a:r>
              <a:rPr/>
              <a:t> level, learners explain concepts in their own words. For instance, they might describe why open science improves transparency and reproducibility, or summarize what problems in research the reproducibility crisis highlights.</a:t>
            </a:r>
          </a:p>
          <a:p>
            <a:pPr lvl="0" indent="0" marL="0">
              <a:buNone/>
            </a:pPr>
          </a:p>
          <a:p>
            <a:pPr lvl="0" indent="0" marL="0">
              <a:buNone/>
            </a:pPr>
            <a:r>
              <a:rPr/>
              <a:t>At the </a:t>
            </a:r>
            <a:r>
              <a:rPr b="1"/>
              <a:t>Apply</a:t>
            </a:r>
            <a:r>
              <a:rPr/>
              <a:t> level, learners use knowledge in a concrete situation. An example would be a student implementing open science practices in a small study, such as uploading data and code to an open repository or preregistering a simple experiment.</a:t>
            </a:r>
          </a:p>
          <a:p>
            <a:pPr lvl="0" indent="0" marL="0">
              <a:buNone/>
            </a:pPr>
          </a:p>
          <a:p>
            <a:pPr lvl="0" indent="0" marL="0">
              <a:buNone/>
            </a:pPr>
            <a:r>
              <a:rPr/>
              <a:t>At the </a:t>
            </a:r>
            <a:r>
              <a:rPr b="1"/>
              <a:t>Analyze</a:t>
            </a:r>
            <a:r>
              <a:rPr/>
              <a:t> level, learners break information into parts and examine relationships. For example, they might compare an open dataset with a traditionally published study to identify potential sources of bias, missing information, or differences in reproducibility.</a:t>
            </a:r>
          </a:p>
          <a:p>
            <a:pPr lvl="0" indent="0" marL="0">
              <a:buNone/>
            </a:pPr>
          </a:p>
          <a:p>
            <a:pPr lvl="0" indent="0" marL="0">
              <a:buNone/>
            </a:pPr>
            <a:r>
              <a:rPr/>
              <a:t>At the </a:t>
            </a:r>
            <a:r>
              <a:rPr b="1"/>
              <a:t>Evaluate</a:t>
            </a:r>
            <a:r>
              <a:rPr/>
              <a:t> level, learners make judgments based on criteria. In open science, this could involve critically assessing whether a published study’s open data and materials are sufficient for replication, or evaluating the quality and transparency of an open peer review process.</a:t>
            </a:r>
          </a:p>
          <a:p>
            <a:pPr lvl="0" indent="0" marL="0">
              <a:buNone/>
            </a:pPr>
          </a:p>
          <a:p>
            <a:pPr lvl="0" indent="0" marL="0">
              <a:buNone/>
            </a:pPr>
            <a:r>
              <a:rPr/>
              <a:t>At the </a:t>
            </a:r>
            <a:r>
              <a:rPr b="1"/>
              <a:t>Create</a:t>
            </a:r>
            <a:r>
              <a:rPr/>
              <a:t> level, learners produce new work by combining knowledge in original ways. For example, they might design a fully open research project with preregistration, open materials, reproducible code, and a public dataset, or extend an existing open dataset to ask a new research question.</a:t>
            </a:r>
          </a:p>
          <a:p>
            <a:pPr lvl="0" indent="0" marL="0">
              <a:buNone/>
            </a:pPr>
          </a:p>
          <a:p>
            <a:pPr lvl="0" indent="0" marL="0">
              <a:buNone/>
            </a:pPr>
            <a:r>
              <a:rPr/>
              <a:t>With respect to the example we just discussed, which level or levels do you think are we at when we think of the learning goal that was formulated?</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affective domain was first published in 1964 (Krathwohl et al, 1964). The affective domain outlines skills and behaviors that correspond to attitudes and values and as the learner progresses through the levels of the affective domain, they become self-reliant and internally motivated. Learning objectives aligned to the affective domain tend to be the hardest to articulate initially and often appear difficult to assess at first glance. However, affective outcomes often represent the outcomes most closely related to deeper thinking and lifelong learning. They can still be assessed through observable behaviors, such as showing appreciation for alternative perspectives, demonstrating commitment to a discussion, asking thoughtful questions, or recognizing the nuances and complexities of an issue.</a:t>
            </a:r>
          </a:p>
          <a:p>
            <a:pPr lvl="0" indent="0" marL="0">
              <a:buNone/>
            </a:pPr>
          </a:p>
          <a:p>
            <a:pPr lvl="0" indent="0" marL="0">
              <a:buNone/>
            </a:pPr>
            <a:r>
              <a:rPr/>
              <a:t>In this example, the learning goal is not simply for learners to know what preregistration is, but for them to actively engage with differing viewpoints about its advantages and disadvantages. Learners are expected to ask clarifying questions and incorporate alternative perspectives into their own arguments, demonstrating openness and reflective thinking.</a:t>
            </a:r>
          </a:p>
          <a:p>
            <a:pPr lvl="0" indent="0" marL="0">
              <a:buNone/>
            </a:pPr>
          </a:p>
          <a:p>
            <a:pPr lvl="0" indent="0" marL="0">
              <a:buNone/>
            </a:pPr>
            <a:r>
              <a:rPr/>
              <a:t>The teaching activity supports this goal through a panel discussion where learners argue either the benefits or the limitations of preregistration in scientific research. This encourages perspective-taking and respectful engagement with viewpoints they may or may not personally agree with.</a:t>
            </a:r>
          </a:p>
          <a:p>
            <a:pPr lvl="0" indent="0" marL="0">
              <a:buNone/>
            </a:pPr>
          </a:p>
          <a:p>
            <a:pPr lvl="0" indent="0" marL="0">
              <a:buNone/>
            </a:pPr>
            <a:r>
              <a:rPr/>
              <a:t>Finally, the assessment task is a reflection essay. Here, learners summarize the different arguments discussed in class and reflect on how engaging with both sides of the debate influenced their own perspective on preregistration and open science practices. This reflective component is central to assessing affective learning because it reveals how learners process, evaluate, and potentially revise their own attitudes and values.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affective domain contains five levels, from lowest to highest:</a:t>
            </a:r>
          </a:p>
          <a:p>
            <a:pPr lvl="0" indent="0" marL="0">
              <a:buNone/>
            </a:pPr>
          </a:p>
          <a:p>
            <a:pPr lvl="0" indent="0" marL="0">
              <a:buNone/>
            </a:pPr>
            <a:r>
              <a:rPr/>
              <a:t>Receiving: Willing to listen and receive knowledge. Responding: Actively participates and engages in knowledge transfer. Valuing: Finds value and worth in one’s learning with motivation to continue. Organizing: Integrates and compares values, resolves conflict between these values, and orders them according to priorities. Characterizing: Creates a value system that controls behavior. The behavior is pervasive, consistent, predictable, and characteristic of the learner.</a:t>
            </a:r>
          </a:p>
          <a:p>
            <a:pPr lvl="0" indent="0" marL="0">
              <a:buNone/>
            </a:pPr>
          </a:p>
          <a:p>
            <a:pPr lvl="0" indent="0" marL="0">
              <a:buNone/>
            </a:pPr>
            <a:r>
              <a:rPr/>
              <a:t>With respect to the example we just discussed, which level or levels do you think are we at when we think of the learning goal that was formulated?</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Bloom and his colleagues did not create subcategories for skills in the psychomotor domain, but other educators did (Simpson 1966, 1972; Dave, 1970; Harrow, 1972). The psychomotor domain includes physical movement, coordination, and motor skills. Development of these skills requires practice and is measured in terms of speed, precision, distance, procedures, or technical execution.</a:t>
            </a:r>
          </a:p>
          <a:p>
            <a:pPr lvl="0" indent="0" marL="0">
              <a:buNone/>
            </a:pPr>
          </a:p>
          <a:p>
            <a:pPr lvl="0" indent="0" marL="0">
              <a:buNone/>
            </a:pPr>
            <a:r>
              <a:rPr/>
              <a:t>A straightforward example could be the following:</a:t>
            </a:r>
          </a:p>
          <a:p>
            <a:pPr lvl="0" indent="0" marL="0">
              <a:buNone/>
            </a:pPr>
          </a:p>
          <a:p>
            <a:pPr lvl="0" indent="0" marL="0">
              <a:buNone/>
            </a:pPr>
            <a:r>
              <a:rPr/>
              <a:t>the learning goal is for learners to accurately perform CPR using correct hand placement and rhythm. This emphasizes not only knowing the steps of CPR cognitively, but being able to physically carry them out correctly in a practical situation.</a:t>
            </a:r>
          </a:p>
          <a:p>
            <a:pPr lvl="0" indent="0" marL="0">
              <a:buNone/>
            </a:pPr>
          </a:p>
          <a:p>
            <a:pPr lvl="0" indent="0" marL="0">
              <a:buNone/>
            </a:pPr>
            <a:r>
              <a:rPr/>
              <a:t>The teaching activity involves learners practicing CPR on mannequins while receiving immediate feedback. This hands-on practice is essential in the psychomotor domain because physical skills improve through repeated performance, correction, and refinement of technique.</a:t>
            </a:r>
          </a:p>
          <a:p>
            <a:pPr lvl="0" indent="0" marL="0">
              <a:buNone/>
            </a:pPr>
          </a:p>
          <a:p>
            <a:pPr lvl="0" indent="0" marL="0">
              <a:buNone/>
            </a:pPr>
            <a:r>
              <a:rPr/>
              <a:t>The assessment task places learners in a simulated emergency scenario where they must independently perform CPR for one to two minutes. This allows instructors to evaluate whether learners can execute the skill accurately and consistently under realistic conditions. The focus of assessment is therefore on observable performance and technical competence rather than only theoretical knowledge.</a:t>
            </a:r>
          </a:p>
          <a:p>
            <a:pPr lvl="0" indent="0" marL="0">
              <a:buNone/>
            </a:pPr>
          </a:p>
          <a:p>
            <a:pPr lvl="0" indent="0" marL="0">
              <a:buNone/>
            </a:pPr>
            <a:r>
              <a:rPr/>
              <a:t>For Open Science, it is a little harder to find a good example. Let’s take correcly uploading and documenting a dataset using appropriate metadata and licensing.</a:t>
            </a:r>
          </a:p>
          <a:p>
            <a:pPr lvl="0" indent="0" marL="0">
              <a:buNone/>
            </a:pPr>
          </a:p>
          <a:p>
            <a:pPr lvl="0" indent="0" marL="0">
              <a:buNone/>
            </a:pPr>
            <a:r>
              <a:rPr/>
              <a:t>The teaching activity provides guided, practical experience with preparing datasets and using an open repository. The assessment then evaluates learners’ ability to independently carry out these technical tasks accurately and correctly.</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the purpose of this teaching guide, we will explore Simpson’s version of the psychomotor domain, which has the following seven levels:</a:t>
            </a:r>
          </a:p>
          <a:p>
            <a:pPr lvl="0" indent="0" marL="0">
              <a:buNone/>
            </a:pPr>
          </a:p>
          <a:p>
            <a:pPr lvl="0"/>
            <a:r>
              <a:rPr/>
              <a:t>Perception: Use sensory cues to guide actions or movements.</a:t>
            </a:r>
          </a:p>
          <a:p>
            <a:pPr lvl="0" indent="0" marL="0">
              <a:buNone/>
            </a:pPr>
          </a:p>
          <a:p>
            <a:pPr lvl="0"/>
            <a:r>
              <a:rPr/>
              <a:t>Set: Demonstrates a readiness (physically, mentally, emotionally, and spiritually) to take action to perform the task or objective. (NOTE: This level of the Psychomotor domain is closely related to the “Responding to phenomena” level of the Affective domain).</a:t>
            </a:r>
          </a:p>
          <a:p>
            <a:pPr lvl="0" indent="0" marL="0">
              <a:buNone/>
            </a:pPr>
          </a:p>
          <a:p>
            <a:pPr lvl="0"/>
            <a:r>
              <a:rPr/>
              <a:t>Guided response: Knows steps required to complete the task or objective and learns through trial and error by practicing.</a:t>
            </a:r>
          </a:p>
          <a:p>
            <a:pPr lvl="0" indent="0" marL="0">
              <a:buNone/>
            </a:pPr>
          </a:p>
          <a:p>
            <a:pPr lvl="0"/>
            <a:r>
              <a:rPr/>
              <a:t>Mechanism: Performs task or objective in a somewhat confident, proficient, and habitual manner.</a:t>
            </a:r>
          </a:p>
          <a:p>
            <a:pPr lvl="0" indent="0" marL="0">
              <a:buNone/>
            </a:pPr>
          </a:p>
          <a:p>
            <a:pPr lvl="0"/>
            <a:r>
              <a:rPr/>
              <a:t>Complex overt response: Performs task or objective in a confident, proficient, and habitual manner. Expert level, high proficiency and performs with accuracy.</a:t>
            </a:r>
          </a:p>
          <a:p>
            <a:pPr lvl="0" indent="0" marL="0">
              <a:buNone/>
            </a:pPr>
          </a:p>
          <a:p>
            <a:pPr lvl="0"/>
            <a:r>
              <a:rPr/>
              <a:t>Adaptation: Performs task or objective and can modify actions to account for new or problematic situations.</a:t>
            </a:r>
          </a:p>
          <a:p>
            <a:pPr lvl="0" indent="0" marL="0">
              <a:buNone/>
            </a:pPr>
          </a:p>
          <a:p>
            <a:pPr lvl="0"/>
            <a:r>
              <a:rPr/>
              <a:t>Origination: Create new procedures and solutions to approach various situations.</a:t>
            </a:r>
          </a:p>
          <a:p>
            <a:pPr lvl="0" indent="0" marL="0">
              <a:buNone/>
            </a:pPr>
          </a:p>
          <a:p>
            <a:pPr lvl="0" indent="0" marL="0">
              <a:buNone/>
            </a:pPr>
            <a:r>
              <a:rPr/>
              <a:t>With respect to the example we just discussed, which level or levels do you think are we at when we think of the learning goal that was formulated?</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recap: Bloom’s taxonomy is a hierarchical model used for classifying learning objectives by levels of complexity and specificity. Bloom’s Taxonomy was created to outline and clarify how learners acquire new knowledge and skills. Though the original intention of the taxonomy was to serve as an assessment tool, Bloom’s taxonomy is effective in helping instructors identify clear learning objectives as well as create purposeful learning activities and instructional materials.</a:t>
            </a:r>
          </a:p>
          <a:p>
            <a:pPr lvl="0" indent="0" marL="0">
              <a:buNone/>
            </a:pPr>
          </a:p>
          <a:p>
            <a:pPr lvl="0" indent="0" marL="0">
              <a:buNone/>
            </a:pPr>
            <a:r>
              <a:rPr/>
              <a:t>There are three learning domains: - Cognitive: knowledge or thinking - Affective: growth in feelings or emotional areas (attitude or self) - Psychomotor: manual or physical skills</a:t>
            </a:r>
          </a:p>
          <a:p>
            <a:pPr lvl="0" indent="0" marL="0">
              <a:buNone/>
            </a:pPr>
          </a:p>
          <a:p>
            <a:pPr lvl="0" indent="0" marL="0">
              <a:buNone/>
            </a:pPr>
            <a:r>
              <a:rPr/>
              <a:t>Learning objectives can be assigned to different taxonomy levels. Taxonomies serve to organise learning objectives. The most-used taxonomy is the one for the cognitive learning domain.</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Example answers:</a:t>
            </a:r>
          </a:p>
          <a:p>
            <a:pPr lvl="0" indent="0" marL="0">
              <a:buNone/>
            </a:pPr>
          </a:p>
          <a:p>
            <a:pPr lvl="0"/>
            <a:r>
              <a:rPr/>
              <a:t>Cognitive: Students create a comparison brief analyzing at least two open access models (e.g., gold vs. green open access), including costs, accessibility, and author rights (assessment task). Use of examples and supporting arguments (metric). Scoring rubric with comparison depth, number or argument, quality (assessment tool)</a:t>
            </a:r>
          </a:p>
          <a:p>
            <a:pPr lvl="0" indent="0" marL="0">
              <a:buNone/>
            </a:pPr>
          </a:p>
          <a:p>
            <a:pPr lvl="0"/>
            <a:r>
              <a:rPr/>
              <a:t>Affective:</a:t>
            </a:r>
          </a:p>
          <a:p>
            <a:pPr lvl="0" indent="0" marL="0">
              <a:buNone/>
            </a:pPr>
          </a:p>
          <a:p>
            <a:pPr lvl="0"/>
            <a:r>
              <a:rPr/>
              <a:t>Psychomotor:</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talk about the formulation of learning goals, which is visualized here. We need to first start with: who are we teaching? Next, the verbs matter! Pick them wisely in an active tense. Third, match the assessment task to your learning objective. Fourth, ensure the learning objective is measurable.</a:t>
            </a:r>
          </a:p>
          <a:p>
            <a:pPr lvl="0" indent="0" marL="0">
              <a:buNone/>
            </a:pPr>
          </a:p>
          <a:p>
            <a:pPr lvl="0" indent="0" marL="0">
              <a:buNone/>
            </a:pPr>
            <a:r>
              <a:rPr/>
              <a:t>It is best to practice this, so without any more explainations, let us get our hands dirty!</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Your task is the following: </a:t>
            </a:r>
            <a:r>
              <a:rPr b="1"/>
              <a:t>Navigate</a:t>
            </a:r>
            <a:r>
              <a:rPr/>
              <a:t> to the following online tutorial: https://lmu-osc.github.io/introduction-to-zotero/. Then, </a:t>
            </a:r>
            <a:r>
              <a:rPr b="1"/>
              <a:t>skim over</a:t>
            </a:r>
            <a:r>
              <a:rPr/>
              <a:t> the different sections using the navigation menu or the arrows at the bottom of the page to get an idea of the content of the tutorial. Finally, using Bloom’s taxonomy, </a:t>
            </a:r>
            <a:r>
              <a:rPr b="1"/>
              <a:t>formulate</a:t>
            </a:r>
            <a:r>
              <a:rPr/>
              <a:t> three learning objectives and assessment methods that match the content and the teaching activities of the tutorial. Consider the following: Which level of Bloom’s taxonomy are you at and which domain are you targeting?</a:t>
            </a:r>
          </a:p>
          <a:p>
            <a:pPr lvl="0" indent="0" marL="0">
              <a:buNone/>
            </a:pPr>
          </a:p>
          <a:p>
            <a:pPr lvl="0" indent="0" marL="0">
              <a:buNone/>
            </a:pPr>
            <a:r>
              <a:rPr b="1"/>
              <a:t>Instructor Notes</a:t>
            </a:r>
            <a:r>
              <a:rPr/>
              <a:t>: Possible solutions:</a:t>
            </a:r>
          </a:p>
          <a:p>
            <a:pPr lvl="0" indent="0" marL="0">
              <a:buNone/>
            </a:pPr>
          </a:p>
          <a:p>
            <a:pPr lvl="0"/>
            <a:r>
              <a:rPr/>
              <a:t>Learners can </a:t>
            </a:r>
            <a:r>
              <a:rPr b="1"/>
              <a:t>describe</a:t>
            </a:r>
            <a:r>
              <a:rPr/>
              <a:t> the purpose and key features of Zotero (e.g., organizing references, generating citations). Bloom’s Level: Remember / Understand. Domain: Cognitive (knowledge &amp; comprehension). Assessment method: survey or multiple choice quiz.</a:t>
            </a:r>
          </a:p>
          <a:p>
            <a:pPr lvl="0" indent="0" marL="0">
              <a:buNone/>
            </a:pPr>
          </a:p>
          <a:p>
            <a:pPr lvl="0"/>
            <a:r>
              <a:rPr/>
              <a:t>Learners can </a:t>
            </a:r>
            <a:r>
              <a:rPr b="1"/>
              <a:t>apply</a:t>
            </a:r>
            <a:r>
              <a:rPr/>
              <a:t> Zotero to </a:t>
            </a:r>
            <a:r>
              <a:rPr b="1"/>
              <a:t>add and organize</a:t>
            </a:r>
            <a:r>
              <a:rPr/>
              <a:t> references in a library using tools like the Zotero Connector or manual entry. Bloom’s Level: Apply Domain: Cognitive (procedural knowledge). Assessment method: Create a Zotero collection and add minimum three references via manual entry, submit screenshot.</a:t>
            </a:r>
          </a:p>
          <a:p>
            <a:pPr lvl="0" indent="0" marL="0">
              <a:buNone/>
            </a:pPr>
          </a:p>
          <a:p>
            <a:pPr lvl="0"/>
            <a:r>
              <a:rPr/>
              <a:t>Learners can </a:t>
            </a:r>
            <a:r>
              <a:rPr b="1"/>
              <a:t>create and evaluate</a:t>
            </a:r>
            <a:r>
              <a:rPr/>
              <a:t> a properly formatted bibliography using Zotero in a document. Bloom’s Level: Analyze / Evaluate. Domain: Cognitive (higher-order thinking). Assessment method: Insert citations into a word document and create a bibliography. Hand in file.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Looking back at the learning goals, this is what we achieved today. Great work! What are your questions?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where constructivism provides us with a solid theoretical framework that frames learning as this active process whereby knowledge is constructed. Within this framework, learning occurs when existing ideas are at odds with new information that is being presented. Therefore, existing ideas and knowledge need to be incorporated into the teaching process in order for learning to take place.</a:t>
            </a:r>
          </a:p>
          <a:p>
            <a:pPr lvl="0" indent="0" marL="0">
              <a:buNone/>
            </a:pPr>
          </a:p>
          <a:p>
            <a:pPr lvl="0" indent="0" marL="0">
              <a:buNone/>
            </a:pPr>
            <a:r>
              <a:rPr/>
              <a:t>Following from this notion, it means that a core component of learning is the integration of new information with prior schemas. The question here is now: how exactly are old and new information integrated with each other? This is where the interaction with the physical world in a specific social setting, constraint by cultural and linguistic norms is crucial, therefore making the learning environment and the interaction with it another core component of the learning process in the constructivist framework.</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Bloom’s Taxonomy can help instructors appropriately align instruction to the learning objectives, including the planning of learning activities and the delivery of instructional materials (Raths 2002). Bloom’s taxonomy helps instructors create valid and reliable assessments by aligning course learning objectives to any given level of student understanding or proficiency. Crooks (1998) suggests that much of college assessment involves recalling memorized facts, which only addresses the first level of learning. However, Bloom’s Taxonomy aids instructors in creating assessments that address all six levels of the cognitive domain.</a:t>
            </a:r>
          </a:p>
          <a:p>
            <a:pPr lvl="0" indent="0" marL="0">
              <a:buNone/>
            </a:pPr>
          </a:p>
          <a:p>
            <a:pPr lvl="0" indent="0" marL="0">
              <a:buNone/>
            </a:pPr>
            <a:r>
              <a:rPr/>
              <a:t>Bloom’s Taxonomy has been shown to enhance students’ higher-order thinking skills, such as critical thinking. Bissell and Lemons (2006) used Bloom’s Taxonomy to assess critical-thinking skills in an introductory biology course. They developed a process by which they prepared questions with both content and critical-thinking skills in mind, and prepared grading rubrics that specified how to evaluate both the content and critical-thinking aspects of an answer. Using this methodology helped Bissell and Lemons clarify the course objectives (for instructors and students), improve student metacognition, and expose student misconceptions about the course content.</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0-0002-6413-3895" TargetMode="External" /><Relationship Id="rId4" Type="http://schemas.openxmlformats.org/officeDocument/2006/relationships/hyperlink" Target="https://orcid.org/0000-0001-5307-8029" TargetMode="External" /><Relationship Id="rId5"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1.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 Id="rId3" Type="http://schemas.openxmlformats.org/officeDocument/2006/relationships/image" Target="../media/image2.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 Id="rId3" Type="http://schemas.openxmlformats.org/officeDocument/2006/relationships/image" Target="../media/image3.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hyperlink" Target="https://zenodo.org/records/18905547" TargetMode="External" /><Relationship Id="rId4" Type="http://schemas.openxmlformats.org/officeDocument/2006/relationships/hyperlink" Target="https://creativecommons.org/licenses/by/4.0/"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zenodo.org/records/18905547" TargetMode="External" /><Relationship Id="rId4" Type="http://schemas.openxmlformats.org/officeDocument/2006/relationships/hyperlink" Target="https://creativecommons.org/licenses/by/4.0/"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hyperlink" Target="https://carpentries.github.io/instructor-training/02-practice-learning.html"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hyperlink" Target="https://carpentries.github.io/instructor-training/04-expertise.html"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7.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9.xml" /><Relationship Id="rId3" Type="http://schemas.openxmlformats.org/officeDocument/2006/relationships/image" Target="../media/image8.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hyperlink" Target="https://teaching.uic.edu/blooms-taxonomy-of-educational-objectives/" TargetMode="Externa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image" Target="../media/image9.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10.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11.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12.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hyperlink" Target="https://lmu-osc.github.io/introduction-to-zotero/"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Teaching open research: Core didactic principles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a:t>
            </a:r>
          </a:p>
        </p:txBody>
      </p:sp>
      <p:sp>
        <p:nvSpPr>
          <p:cNvPr id="4" name="Date Placeholder 3"/>
          <p:cNvSpPr>
            <a:spLocks noGrp="1"/>
          </p:cNvSpPr>
          <p:nvPr>
            <p:ph idx="10" sz="half" type="dt"/>
          </p:nvPr>
        </p:nvSpPr>
        <p:spPr/>
        <p:txBody>
          <a:bodyPr/>
          <a:lstStyle/>
          <a:p>
            <a:pPr lvl="0" indent="0" marL="0">
              <a:buNone/>
            </a:pPr>
            <a:r>
              <a:rPr/>
              <a:t>15/05/2026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current work by Sarah von Grebmer zu Wolfsthurn, Sara Lil Middleton and Malika Ihle is licensed under a CC-BY-SA 4.0 </a:t>
            </a:r>
            <a:r>
              <a:rPr>
                <a:hlinkClick r:id="rId3"/>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a:p>
            <a:pPr lvl="0" indent="0" marL="0">
              <a:buNone/>
            </a:pPr>
            <a:r>
              <a:rPr/>
              <a:t>Code snippets are dedicated to the public domain and licenced under a CC0 1.0 </a:t>
            </a:r>
            <a:r>
              <a:rPr>
                <a:hlinkClick r:id="rId4"/>
              </a:rPr>
              <a:t>Creative Commons Universal Licence</a:t>
            </a:r>
            <a:r>
              <a:rPr/>
              <a:t>. You may use, modify, distribute, and sell the code snippets for any purpose, without permission or attribution. The code snippets are provided “as is”, without warranty of any kind.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p>
          <a:p>
            <a:pPr lvl="0" indent="0" marL="0">
              <a:buNone/>
            </a:pPr>
            <a:r>
              <a:rPr b="1"/>
              <a:t>Creator</a:t>
            </a:r>
            <a:r>
              <a:rPr/>
              <a:t>: Von Grebmer zu Wolfsthurn, Sarah ( </a:t>
            </a:r>
            <a:r>
              <a:rPr>
                <a:hlinkClick r:id="rId3"/>
              </a:rPr>
              <a:t>0000-0002-6413-3895</a:t>
            </a:r>
            <a:r>
              <a:rPr/>
              <a:t>)</a:t>
            </a:r>
          </a:p>
          <a:p>
            <a:pPr lvl="0" indent="0" marL="0">
              <a:buNone/>
            </a:pPr>
            <a:r>
              <a:rPr b="1"/>
              <a:t>Reviewer</a:t>
            </a:r>
            <a:r>
              <a:rPr/>
              <a:t>: Middleton, Sara (</a:t>
            </a:r>
            <a:r>
              <a:rPr>
                <a:hlinkClick r:id="rId4"/>
              </a:rPr>
              <a:t>0000-0001-5307-8029</a:t>
            </a:r>
            <a:r>
              <a:rPr/>
              <a:t>)</a:t>
            </a:r>
          </a:p>
          <a:p>
            <a:pPr lvl="0" indent="0" marL="0">
              <a:buNone/>
            </a:pPr>
            <a:r>
              <a:rPr b="1"/>
              <a:t>Consultant</a:t>
            </a:r>
            <a:r>
              <a:rPr/>
              <a:t>: Ihle, Malika ( </a:t>
            </a:r>
            <a:r>
              <a:rPr>
                <a:hlinkClick r:id="rId5"/>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submodule, please carefully read about the prerequisites.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now feel most confident about in relation to didactics and teaching? (Select all that apply)</a:t>
            </a:r>
          </a:p>
          <a:p>
            <a:pPr lvl="0" indent="-342900" marL="342900">
              <a:buAutoNum type="alphaLcPeriod"/>
            </a:pPr>
            <a:r>
              <a:rPr/>
              <a:t>Considering the learner’s prior knowledge in the learning process</a:t>
            </a:r>
          </a:p>
          <a:p>
            <a:pPr lvl="0" indent="-342900" marL="342900">
              <a:buAutoNum type="alphaLcPeriod"/>
            </a:pPr>
            <a:r>
              <a:rPr/>
              <a:t>Constructivism</a:t>
            </a:r>
          </a:p>
          <a:p>
            <a:pPr lvl="0" indent="-342900" marL="342900">
              <a:buAutoNum type="alphaLcPeriod"/>
            </a:pPr>
            <a:r>
              <a:rPr/>
              <a:t>Constructive alignment</a:t>
            </a:r>
          </a:p>
          <a:p>
            <a:pPr lvl="0" indent="-342900" marL="342900">
              <a:buAutoNum type="alphaLcPeriod"/>
            </a:pPr>
            <a:r>
              <a:rPr/>
              <a:t>Formulating clear learning objectives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the three learning domains (cogntive, affective and psychomotor)?</a:t>
            </a:r>
          </a:p>
          <a:p>
            <a:pPr lvl="0" indent="-342900" marL="342900">
              <a:buAutoNum type="alphaLcPeriod"/>
            </a:pPr>
            <a:r>
              <a:rPr/>
              <a:t>I have never heard of them before.</a:t>
            </a:r>
          </a:p>
          <a:p>
            <a:pPr lvl="0" indent="-342900" marL="342900">
              <a:buAutoNum type="alphaLcPeriod"/>
            </a:pPr>
            <a:r>
              <a:rPr/>
              <a:t>I have heard of them but have never considered them in my teaching.</a:t>
            </a:r>
          </a:p>
          <a:p>
            <a:pPr lvl="0" indent="-342900" marL="342900">
              <a:buAutoNum type="alphaLcPeriod"/>
            </a:pPr>
            <a:r>
              <a:rPr/>
              <a:t>I have a basic understanding and sometimes implement them in my teaching.</a:t>
            </a:r>
          </a:p>
          <a:p>
            <a:pPr lvl="0" indent="-342900" marL="342900">
              <a:buAutoNum type="alphaLcPeriod"/>
            </a:pPr>
            <a:r>
              <a:rPr/>
              <a:t>I am very familiar and have routinely applied them in my teaching.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Bloom’s taxonomy?</a:t>
            </a:r>
          </a:p>
          <a:p>
            <a:pPr lvl="0" indent="-342900" marL="342900">
              <a:buAutoNum type="alphaLcPeriod"/>
            </a:pPr>
            <a:r>
              <a:rPr/>
              <a:t>I have never heard of it before.</a:t>
            </a:r>
          </a:p>
          <a:p>
            <a:pPr lvl="0" indent="-342900" marL="342900">
              <a:buAutoNum type="alphaLcPeriod"/>
            </a:pPr>
            <a:r>
              <a:rPr/>
              <a:t>I have heard of it but have never implemented it in my teaching.</a:t>
            </a:r>
          </a:p>
          <a:p>
            <a:pPr lvl="0" indent="-342900" marL="342900">
              <a:buAutoNum type="alphaLcPeriod"/>
            </a:pPr>
            <a:r>
              <a:rPr/>
              <a:t>I have a basic understanding and sometimes implement it in my teaching.</a:t>
            </a:r>
          </a:p>
          <a:p>
            <a:pPr lvl="0" indent="-342900" marL="342900">
              <a:buAutoNum type="alphaLcPeriod"/>
            </a:pPr>
            <a:r>
              <a:rPr/>
              <a:t>I am very familiar and have routinely applied this in my teaching.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session journey</a:t>
            </a:r>
          </a:p>
        </p:txBody>
      </p:sp>
      <p:sp>
        <p:nvSpPr>
          <p:cNvPr id="3" name="Content Placeholder 2"/>
          <p:cNvSpPr>
            <a:spLocks noGrp="1"/>
          </p:cNvSpPr>
          <p:nvPr>
            <p:ph idx="1"/>
          </p:nvPr>
        </p:nvSpPr>
        <p:spPr/>
        <p:txBody>
          <a:bodyPr/>
          <a:lstStyle/>
          <a:p>
            <a:pPr lvl="0" indent="0" marL="0">
              <a:buNone/>
            </a:pPr>
          </a:p>
          <a:p>
            <a:pPr lvl="0" indent="0" marL="0">
              <a:buNone/>
            </a:pPr>
            <a:r>
              <a:rPr/>
              <a:t>From</a:t>
            </a:r>
          </a:p>
          <a:p>
            <a:pPr lvl="0" indent="0" marL="0">
              <a:buNone/>
            </a:pPr>
            <a:r>
              <a:rPr b="1"/>
              <a:t>I am not sure what good teaching in open research involves</a:t>
            </a:r>
          </a:p>
          <a:p>
            <a:pPr lvl="0" indent="0" marL="0">
              <a:buNone/>
            </a:pPr>
            <a:r>
              <a:rPr/>
              <a:t>to</a:t>
            </a:r>
          </a:p>
          <a:p>
            <a:pPr lvl="0" indent="0" marL="0">
              <a:buNone/>
            </a:pPr>
            <a:r>
              <a:rPr b="1"/>
              <a:t>I feel more confident that I can pass on my knowledge of open research to my learners using evidence-based didactic methods.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Getting to know the group</a:t>
            </a:r>
          </a:p>
          <a:p>
            <a:pPr lvl="0" indent="0" marL="0">
              <a:buNone/>
            </a:pPr>
            <a:r>
              <a:rPr b="1"/>
              <a:t>Up next</a:t>
            </a:r>
            <a:r>
              <a:rPr/>
              <a:t>:</a:t>
            </a:r>
          </a:p>
          <a:p>
            <a:pPr lvl="0"/>
            <a:r>
              <a:rPr/>
              <a:t>What is learning?</a:t>
            </a:r>
          </a:p>
          <a:p>
            <a:pPr lvl="0"/>
            <a:r>
              <a:rPr/>
              <a:t>Constructivism</a:t>
            </a:r>
          </a:p>
          <a:p>
            <a:pPr lvl="0"/>
            <a:r>
              <a:rPr/>
              <a:t>Constructive alignment</a:t>
            </a:r>
          </a:p>
          <a:p>
            <a:pPr lvl="0"/>
            <a:r>
              <a:rPr/>
              <a:t>Learning domains</a:t>
            </a:r>
          </a:p>
          <a:p>
            <a:pPr lvl="0"/>
            <a:r>
              <a:rPr/>
              <a:t>Levels of knowledge: Bloom’s taxonomy</a:t>
            </a:r>
          </a:p>
          <a:p>
            <a:pPr lvl="0"/>
            <a:r>
              <a:rPr/>
              <a:t>Formulating learning objectives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indent="0" marL="0">
              <a:buNone/>
            </a:pPr>
            <a:r>
              <a:rPr/>
              <a:t>Some terms we will come across today…</a:t>
            </a:r>
          </a:p>
          <a:p>
            <a:pPr lvl="0"/>
            <a:r>
              <a:rPr b="1"/>
              <a:t>Constructivism</a:t>
            </a:r>
            <a:r>
              <a:rPr/>
              <a:t>:</a:t>
            </a:r>
          </a:p>
          <a:p>
            <a:pPr lvl="0"/>
            <a:r>
              <a:rPr b="1"/>
              <a:t>Constructive alignment</a:t>
            </a:r>
            <a:r>
              <a:rPr/>
              <a:t>:</a:t>
            </a:r>
          </a:p>
          <a:p>
            <a:pPr lvl="0"/>
            <a:r>
              <a:rPr b="1"/>
              <a:t>Bloom’s Taxonomy</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indent="0" marL="0">
              <a:buNone/>
            </a:pPr>
            <a:r>
              <a:rPr/>
              <a:t>Some terms we will come across today…</a:t>
            </a:r>
          </a:p>
          <a:p>
            <a:pPr lvl="0"/>
            <a:r>
              <a:rPr b="1"/>
              <a:t>Constructivism</a:t>
            </a:r>
            <a:r>
              <a:rPr/>
              <a:t>: The notion that learners actively build their own understanding of the world rather than absorbing information passively.</a:t>
            </a:r>
          </a:p>
          <a:p>
            <a:pPr lvl="0"/>
            <a:r>
              <a:rPr b="1"/>
              <a:t>Constructive alignment</a:t>
            </a:r>
            <a:r>
              <a:rPr/>
              <a:t>: A teaching approach in which learning objectives, teaching activities, and assessment tasks are deliberately aligned so that learners actively construct the knowledge and skills they are expected to demonstrate.</a:t>
            </a:r>
          </a:p>
          <a:p>
            <a:pPr lvl="0"/>
            <a:r>
              <a:rPr b="1"/>
              <a:t>Bloom’s Taxonomy</a:t>
            </a:r>
            <a:r>
              <a:rPr/>
              <a:t>: A framework for classifying levels of learning and cognitive skills, organized from lower-order thinking skills such as remembering and understanding to higher-order skills such as analyzing, evaluating, and creating.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will…</a:t>
            </a:r>
          </a:p>
          <a:p>
            <a:pPr lvl="0"/>
            <a:r>
              <a:rPr b="1"/>
              <a:t>Understand</a:t>
            </a:r>
            <a:r>
              <a:rPr/>
              <a:t> basic didactic concepts as the basis for learning success</a:t>
            </a:r>
          </a:p>
          <a:p>
            <a:pPr lvl="0"/>
            <a:r>
              <a:rPr b="1"/>
              <a:t>Analyze</a:t>
            </a:r>
            <a:r>
              <a:rPr/>
              <a:t> how knowledge can be organized depending on the level of expertise</a:t>
            </a:r>
          </a:p>
          <a:p>
            <a:pPr lvl="0"/>
            <a:r>
              <a:rPr b="1"/>
              <a:t>Evaluate</a:t>
            </a:r>
            <a:r>
              <a:rPr/>
              <a:t> the alignment between learning objectives, assessment types and teaching activities</a:t>
            </a:r>
          </a:p>
          <a:p>
            <a:pPr lvl="0"/>
            <a:r>
              <a:rPr b="1"/>
              <a:t>Formulate</a:t>
            </a:r>
            <a:r>
              <a:rPr/>
              <a:t> concrete learning objectives according to specific learning domains for real-world content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Getting started!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How much teaching experience do you have?</a:t>
            </a:r>
          </a:p>
        </p:txBody>
      </p:sp>
      <p:sp>
        <p:nvSpPr>
          <p:cNvPr id="4" name="Text Placeholder 3"/>
          <p:cNvSpPr>
            <a:spLocks noGrp="1"/>
          </p:cNvSpPr>
          <p:nvPr>
            <p:ph idx="2" sz="half" type="body"/>
          </p:nvPr>
        </p:nvSpPr>
        <p:spPr/>
        <p:txBody>
          <a:bodyPr/>
          <a:lstStyle/>
          <a:p>
            <a:pPr lvl="0"/>
            <a:r>
              <a:rPr/>
              <a:t>Workshops, peer training, (guest) lectures, seminars, lab presentations etc. on </a:t>
            </a:r>
            <a:r>
              <a:rPr b="1"/>
              <a:t>open research</a:t>
            </a:r>
            <a:r>
              <a:rPr/>
              <a:t> topics</a:t>
            </a:r>
          </a:p>
          <a:p>
            <a:pPr lvl="0" indent="0" marL="0">
              <a:buNone/>
            </a:pPr>
            <a:r>
              <a:rPr/>
              <a:t> </a:t>
            </a:r>
          </a:p>
        </p:txBody>
      </p:sp>
      <p:pic>
        <p:nvPicPr>
          <p:cNvPr descr="images/experience-spectrum.png" id="0" name="Picture 1"/>
          <p:cNvPicPr>
            <a:picLocks noGrp="1" noChangeAspect="1"/>
          </p:cNvPicPr>
          <p:nvPr/>
        </p:nvPicPr>
        <p:blipFill>
          <a:blip r:embed="rId3"/>
          <a:stretch>
            <a:fillRect/>
          </a:stretch>
        </p:blipFill>
        <p:spPr bwMode="auto">
          <a:xfrm>
            <a:off x="3568700" y="1866900"/>
            <a:ext cx="5105400" cy="10541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How much have you already thought about didactics?</a:t>
            </a:r>
          </a:p>
        </p:txBody>
      </p:sp>
      <p:sp>
        <p:nvSpPr>
          <p:cNvPr id="4" name="Text Placeholder 3"/>
          <p:cNvSpPr>
            <a:spLocks noGrp="1"/>
          </p:cNvSpPr>
          <p:nvPr>
            <p:ph idx="2" sz="half" type="body"/>
          </p:nvPr>
        </p:nvSpPr>
        <p:spPr/>
        <p:txBody>
          <a:bodyPr/>
          <a:lstStyle/>
          <a:p>
            <a:pPr lvl="0"/>
            <a:r>
              <a:rPr/>
              <a:t>When teaching about open research, have you considered </a:t>
            </a:r>
            <a:r>
              <a:rPr b="1"/>
              <a:t>didactic elements</a:t>
            </a:r>
            <a:r>
              <a:rPr/>
              <a:t> in you design and/or teaching style..?</a:t>
            </a:r>
          </a:p>
          <a:p>
            <a:pPr lvl="0" indent="0" marL="0">
              <a:buNone/>
            </a:pPr>
            <a:r>
              <a:rPr/>
              <a:t> </a:t>
            </a:r>
          </a:p>
        </p:txBody>
      </p:sp>
      <p:pic>
        <p:nvPicPr>
          <p:cNvPr descr="images/didactics-thoughts-spectrum.png" id="0" name="Picture 1"/>
          <p:cNvPicPr>
            <a:picLocks noGrp="1" noChangeAspect="1"/>
          </p:cNvPicPr>
          <p:nvPr/>
        </p:nvPicPr>
        <p:blipFill>
          <a:blip r:embed="rId3"/>
          <a:stretch>
            <a:fillRect/>
          </a:stretch>
        </p:blipFill>
        <p:spPr bwMode="auto">
          <a:xfrm>
            <a:off x="3568700" y="1854200"/>
            <a:ext cx="5105400" cy="10795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How big are your teaching/training audiences?</a:t>
            </a:r>
          </a:p>
        </p:txBody>
      </p:sp>
      <p:sp>
        <p:nvSpPr>
          <p:cNvPr id="4" name="Text Placeholder 3"/>
          <p:cNvSpPr>
            <a:spLocks noGrp="1"/>
          </p:cNvSpPr>
          <p:nvPr>
            <p:ph idx="2" sz="half" type="body"/>
          </p:nvPr>
        </p:nvSpPr>
        <p:spPr/>
        <p:txBody>
          <a:bodyPr/>
          <a:lstStyle/>
          <a:p>
            <a:pPr lvl="0"/>
            <a:r>
              <a:rPr/>
              <a:t>i.e., what is the average group size you teach in open research? (&lt; 5 people = very small, &gt; 100 people = very large)</a:t>
            </a:r>
          </a:p>
          <a:p>
            <a:pPr lvl="0" indent="0" marL="0">
              <a:buNone/>
            </a:pPr>
            <a:r>
              <a:rPr/>
              <a:t> </a:t>
            </a:r>
          </a:p>
        </p:txBody>
      </p:sp>
      <p:pic>
        <p:nvPicPr>
          <p:cNvPr descr="images/audience.png" id="0" name="Picture 1"/>
          <p:cNvPicPr>
            <a:picLocks noGrp="1" noChangeAspect="1"/>
          </p:cNvPicPr>
          <p:nvPr/>
        </p:nvPicPr>
        <p:blipFill>
          <a:blip r:embed="rId3"/>
          <a:stretch>
            <a:fillRect/>
          </a:stretch>
        </p:blipFill>
        <p:spPr bwMode="auto">
          <a:xfrm>
            <a:off x="3568700" y="2057400"/>
            <a:ext cx="5105400" cy="6731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What </a:t>
            </a:r>
            <a:r>
              <a:rPr i="1"/>
              <a:t>is</a:t>
            </a:r>
            <a:r>
              <a:rPr/>
              <a:t> learning?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indent="0" marL="0">
              <a:buNone/>
            </a:pPr>
            <a:r>
              <a:rPr/>
              <a:t> </a:t>
            </a:r>
          </a:p>
          <a:p>
            <a:pPr lvl="0" indent="0" marL="0">
              <a:buNone/>
            </a:pPr>
            <a:r>
              <a:rPr/>
              <a:t>“…a </a:t>
            </a:r>
            <a:r>
              <a:rPr b="1"/>
              <a:t>process</a:t>
            </a:r>
            <a:r>
              <a:rPr/>
              <a:t> that leads to </a:t>
            </a:r>
            <a:r>
              <a:rPr b="1"/>
              <a:t>change</a:t>
            </a:r>
            <a:r>
              <a:rPr/>
              <a:t>, which occurs as a result of </a:t>
            </a:r>
            <a:r>
              <a:rPr b="1"/>
              <a:t>experience</a:t>
            </a:r>
            <a:r>
              <a:rPr/>
              <a:t> and increases the potential for improved performance and </a:t>
            </a:r>
            <a:r>
              <a:rPr b="1"/>
              <a:t>future learning</a:t>
            </a:r>
            <a:r>
              <a:rPr/>
              <a:t>”</a:t>
            </a:r>
          </a:p>
          <a:p>
            <a:pPr lvl="0" indent="0" marL="0">
              <a:buNone/>
            </a:pPr>
            <a:r>
              <a:rPr/>
              <a:t>Ambrose, S. A., Bridges, M. W., DiPietro, M., Lovett, M. C., Norman, M. K., &amp; Mayer, R. E. (2023), page 2-3. Slide adapted from Laura Carter: “Evidence-based Training” </a:t>
            </a:r>
            <a:r>
              <a:rPr>
                <a:hlinkClick r:id="rId3"/>
              </a:rPr>
              <a:t>https://zenodo.org/records/18905547</a:t>
            </a:r>
            <a:r>
              <a:rPr/>
              <a:t>. Slide originally licenced under CC BY 4.0: </a:t>
            </a:r>
            <a:r>
              <a:rPr>
                <a:hlinkClick r:id="rId4"/>
              </a:rPr>
              <a:t>https://creativecommons.org/licenses/by/4.0/</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indent="0" marL="0">
              <a:buNone/>
            </a:pPr>
            <a:r>
              <a:rPr/>
              <a:t>As a </a:t>
            </a:r>
            <a:r>
              <a:rPr i="1"/>
              <a:t>process</a:t>
            </a:r>
            <a:r>
              <a:rPr/>
              <a:t> (not a product), learning …</a:t>
            </a:r>
          </a:p>
          <a:p>
            <a:pPr lvl="0"/>
            <a:r>
              <a:rPr/>
              <a:t>is </a:t>
            </a:r>
            <a:r>
              <a:rPr b="1"/>
              <a:t>learner-centered</a:t>
            </a:r>
            <a:r>
              <a:rPr/>
              <a:t> and something that learners themselves </a:t>
            </a:r>
            <a:r>
              <a:rPr b="1"/>
              <a:t>“do”</a:t>
            </a:r>
          </a:p>
          <a:p>
            <a:pPr lvl="0"/>
            <a:r>
              <a:rPr/>
              <a:t>is </a:t>
            </a:r>
            <a:r>
              <a:rPr b="1"/>
              <a:t>active</a:t>
            </a:r>
            <a:r>
              <a:rPr/>
              <a:t> and </a:t>
            </a:r>
            <a:r>
              <a:rPr b="1"/>
              <a:t>self-controlled</a:t>
            </a:r>
          </a:p>
          <a:p>
            <a:pPr lvl="0"/>
            <a:r>
              <a:rPr/>
              <a:t>is </a:t>
            </a:r>
            <a:r>
              <a:rPr b="1"/>
              <a:t>integrated</a:t>
            </a:r>
            <a:r>
              <a:rPr/>
              <a:t> in a broader context and a positive learning environment</a:t>
            </a:r>
          </a:p>
          <a:p>
            <a:pPr lvl="0"/>
            <a:r>
              <a:rPr/>
              <a:t>is </a:t>
            </a:r>
            <a:r>
              <a:rPr b="1"/>
              <a:t>shaped</a:t>
            </a:r>
            <a:r>
              <a:rPr/>
              <a:t> by prior knowledge</a:t>
            </a:r>
          </a:p>
          <a:p>
            <a:pPr lvl="0"/>
            <a:r>
              <a:rPr/>
              <a:t>is </a:t>
            </a:r>
            <a:r>
              <a:rPr b="1"/>
              <a:t>inferred</a:t>
            </a:r>
            <a:r>
              <a:rPr/>
              <a:t> from learners’ products or performance</a:t>
            </a:r>
          </a:p>
          <a:p>
            <a:pPr lvl="0" indent="0" marL="0">
              <a:buNone/>
            </a:pPr>
            <a:r>
              <a:rPr/>
              <a:t>Ambrose, S. A., Bridges, M. W., DiPietro, M., Lovett, M. C., Norman, M. K., &amp; Mayer, R. E. (2023), page 2-3. Efgivia et al. (2023) Slide adapted from Laura Carter: “Evidence-based Training” </a:t>
            </a:r>
            <a:r>
              <a:rPr>
                <a:hlinkClick r:id="rId3"/>
              </a:rPr>
              <a:t>https://zenodo.org/records/18905547</a:t>
            </a:r>
            <a:r>
              <a:rPr/>
              <a:t>. Slide originally licenced under CC BY 4.0: </a:t>
            </a:r>
            <a:r>
              <a:rPr>
                <a:hlinkClick r:id="rId4"/>
              </a:rPr>
              <a:t>https://creativecommons.org/licenses/by/4.0/</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indent="0" marL="0">
              <a:buNone/>
            </a:pPr>
            <a:r>
              <a:rPr/>
              <a:t> </a:t>
            </a:r>
          </a:p>
          <a:p>
            <a:pPr lvl="0" indent="0" marL="0">
              <a:buNone/>
            </a:pPr>
            <a:r>
              <a:rPr b="1"/>
              <a:t>Constructivism</a:t>
            </a:r>
            <a:r>
              <a:rPr/>
              <a:t>: Learning is not passively received, but </a:t>
            </a:r>
            <a:r>
              <a:rPr b="1"/>
              <a:t>actively built and shaped</a:t>
            </a:r>
            <a:r>
              <a:rPr/>
              <a:t> by prior knowledge and the learning context. .</a:t>
            </a:r>
          </a:p>
          <a:p>
            <a:pPr lvl="0" indent="0" marL="0">
              <a:buNone/>
            </a:pPr>
            <a:r>
              <a:rPr/>
              <a:t>Fosnot (2013)</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importance of prior knowledge</a:t>
            </a:r>
          </a:p>
        </p:txBody>
      </p:sp>
      <p:sp>
        <p:nvSpPr>
          <p:cNvPr id="3" name="Content Placeholder 2"/>
          <p:cNvSpPr>
            <a:spLocks noGrp="1"/>
          </p:cNvSpPr>
          <p:nvPr>
            <p:ph idx="1"/>
          </p:nvPr>
        </p:nvSpPr>
        <p:spPr/>
        <p:txBody>
          <a:bodyPr/>
          <a:lstStyle/>
          <a:p>
            <a:pPr lvl="0" indent="0" marL="0">
              <a:buNone/>
            </a:pPr>
            <a:r>
              <a:rPr/>
              <a:t>Prior knowledge … can help or hinder learning!</a:t>
            </a:r>
          </a:p>
          <a:p>
            <a:pPr lvl="0"/>
            <a:r>
              <a:rPr/>
              <a:t>Knowledge = facts, concepts, beliefs, values, models, perceptions, attitudes</a:t>
            </a:r>
          </a:p>
          <a:p>
            <a:pPr lvl="1"/>
            <a:r>
              <a:rPr/>
              <a:t>Can be </a:t>
            </a:r>
            <a:r>
              <a:rPr b="1"/>
              <a:t>accurate</a:t>
            </a:r>
            <a:r>
              <a:rPr/>
              <a:t>, complete and appropriate for context</a:t>
            </a:r>
          </a:p>
          <a:p>
            <a:pPr lvl="1"/>
            <a:r>
              <a:rPr/>
              <a:t>Can be </a:t>
            </a:r>
            <a:r>
              <a:rPr b="1"/>
              <a:t>inaccurate</a:t>
            </a:r>
            <a:r>
              <a:rPr/>
              <a:t>, incomplete or inappropriate for context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 </a:t>
            </a:r>
          </a:p>
          <a:p>
            <a:pPr lvl="0" indent="0" marL="0">
              <a:buNone/>
            </a:pPr>
            <a:r>
              <a:rPr b="1"/>
              <a:t>What does </a:t>
            </a:r>
            <a:r>
              <a:rPr b="1" i="1"/>
              <a:t>being an expert</a:t>
            </a:r>
            <a:r>
              <a:rPr b="1"/>
              <a:t> mean?</a:t>
            </a:r>
          </a:p>
          <a:p>
            <a:pPr lvl="0" indent="0" marL="0">
              <a:buNone/>
            </a:pPr>
            <a:r>
              <a:rPr/>
              <a:t>What is something that </a:t>
            </a:r>
            <a:r>
              <a:rPr b="1"/>
              <a:t>you are an expert in</a:t>
            </a:r>
            <a:r>
              <a:rPr/>
              <a:t>?</a:t>
            </a:r>
          </a:p>
          <a:p>
            <a:pPr lvl="0" indent="0" marL="0">
              <a:buNone/>
            </a:pPr>
            <a:r>
              <a:rPr/>
              <a:t>How does your </a:t>
            </a:r>
            <a:r>
              <a:rPr b="1"/>
              <a:t>experience</a:t>
            </a:r>
            <a:r>
              <a:rPr/>
              <a:t> when you are acting as an expert </a:t>
            </a:r>
            <a:r>
              <a:rPr b="1"/>
              <a:t>differ</a:t>
            </a:r>
            <a:r>
              <a:rPr/>
              <a:t> from when you are </a:t>
            </a:r>
            <a:r>
              <a:rPr b="1"/>
              <a:t>not an expert</a:t>
            </a:r>
            <a: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model of skills acquisition</a:t>
            </a:r>
          </a:p>
        </p:txBody>
      </p:sp>
      <p:pic>
        <p:nvPicPr>
          <p:cNvPr descr="images/stages-skills-acquisition.png" id="0" name="Picture 1"/>
          <p:cNvPicPr>
            <a:picLocks noGrp="1" noChangeAspect="1"/>
          </p:cNvPicPr>
          <p:nvPr/>
        </p:nvPicPr>
        <p:blipFill>
          <a:blip r:embed="rId2"/>
          <a:stretch>
            <a:fillRect/>
          </a:stretch>
        </p:blipFill>
        <p:spPr bwMode="auto">
          <a:xfrm>
            <a:off x="1625600" y="1193800"/>
            <a:ext cx="58928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p>
          <a:p>
            <a:pPr lvl="0" indent="0" marL="0">
              <a:buNone/>
            </a:pPr>
            <a:r>
              <a:rPr>
                <a:hlinkClick r:id="rId3"/>
              </a:rPr>
              <a:t>https://carpentries.github.io/instructor-training/02-practice-learning.html</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organisation of prior knowledge</a:t>
            </a:r>
          </a:p>
        </p:txBody>
      </p:sp>
      <p:pic>
        <p:nvPicPr>
          <p:cNvPr descr="images/models_learners.png" id="0" name="Picture 1"/>
          <p:cNvPicPr>
            <a:picLocks noGrp="1" noChangeAspect="1"/>
          </p:cNvPicPr>
          <p:nvPr/>
        </p:nvPicPr>
        <p:blipFill>
          <a:blip r:embed="rId2"/>
          <a:stretch>
            <a:fillRect/>
          </a:stretch>
        </p:blipFill>
        <p:spPr bwMode="auto">
          <a:xfrm>
            <a:off x="2108200" y="1193800"/>
            <a:ext cx="49276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p>
          <a:p>
            <a:pPr lvl="0" indent="0" marL="0">
              <a:buNone/>
            </a:pPr>
            <a:r>
              <a:rPr>
                <a:hlinkClick r:id="rId3"/>
              </a:rPr>
              <a:t>https://carpentries.github.io/instructor-training/04-expertise.html</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 </a:t>
            </a:r>
          </a:p>
          <a:p>
            <a:pPr lvl="0" indent="0" marL="0">
              <a:buNone/>
            </a:pPr>
            <a:r>
              <a:rPr/>
              <a:t>Pick a topic from open research (different from open access). </a:t>
            </a:r>
            <a:r>
              <a:rPr b="1"/>
              <a:t>Sketch out</a:t>
            </a:r>
            <a:r>
              <a:rPr/>
              <a:t> the mental model of a novice in comparison to a competent practitioner and an expert and </a:t>
            </a:r>
            <a:r>
              <a:rPr b="1"/>
              <a:t>provide concrete examples</a:t>
            </a:r>
            <a:r>
              <a:rPr/>
              <a:t> of how the organisation of knowledge differs among these three types of learners.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would help you organize your knowledge?</a:t>
            </a:r>
          </a:p>
        </p:txBody>
      </p:sp>
      <p:sp>
        <p:nvSpPr>
          <p:cNvPr id="3" name="Content Placeholder 2"/>
          <p:cNvSpPr>
            <a:spLocks noGrp="1"/>
          </p:cNvSpPr>
          <p:nvPr>
            <p:ph idx="1"/>
          </p:nvPr>
        </p:nvSpPr>
        <p:spPr/>
        <p:txBody>
          <a:bodyPr/>
          <a:lstStyle/>
          <a:p>
            <a:pPr lvl="0" indent="0" marL="0">
              <a:buNone/>
            </a:pPr>
            <a:r>
              <a:rPr/>
              <a:t> </a:t>
            </a:r>
          </a:p>
          <a:p>
            <a:pPr lvl="0" indent="0" marL="0">
              <a:buNone/>
            </a:pPr>
            <a:r>
              <a:rPr/>
              <a:t>Is there something that you are </a:t>
            </a:r>
            <a:r>
              <a:rPr b="1"/>
              <a:t>currently learning how to do</a:t>
            </a:r>
            <a:r>
              <a:rPr/>
              <a:t>?</a:t>
            </a:r>
          </a:p>
          <a:p>
            <a:pPr lvl="0" indent="0" marL="0">
              <a:buNone/>
            </a:pPr>
            <a:r>
              <a:rPr/>
              <a:t>Can you identify things that would help you with </a:t>
            </a:r>
            <a:r>
              <a:rPr b="1"/>
              <a:t>organizing your mental model</a:t>
            </a:r>
            <a:r>
              <a:rPr/>
              <a:t> in a course or workshop?</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Enhancing the organisation of knowledge</a:t>
            </a:r>
          </a:p>
        </p:txBody>
      </p:sp>
      <p:sp>
        <p:nvSpPr>
          <p:cNvPr id="3" name="Content Placeholder 2"/>
          <p:cNvSpPr>
            <a:spLocks noGrp="1"/>
          </p:cNvSpPr>
          <p:nvPr>
            <p:ph idx="1"/>
          </p:nvPr>
        </p:nvSpPr>
        <p:spPr/>
        <p:txBody>
          <a:bodyPr/>
          <a:lstStyle/>
          <a:p>
            <a:pPr lvl="0" indent="0" marL="0">
              <a:buNone/>
            </a:pPr>
            <a:r>
              <a:rPr/>
              <a:t>Some strategies …</a:t>
            </a:r>
          </a:p>
          <a:p>
            <a:pPr lvl="0"/>
            <a:r>
              <a:rPr/>
              <a:t>Provide learners with a </a:t>
            </a:r>
            <a:r>
              <a:rPr b="1"/>
              <a:t>big picture</a:t>
            </a:r>
            <a:r>
              <a:rPr/>
              <a:t> or outline of your workshop/course</a:t>
            </a:r>
          </a:p>
          <a:p>
            <a:pPr lvl="0"/>
            <a:r>
              <a:rPr/>
              <a:t>Clearly </a:t>
            </a:r>
            <a:r>
              <a:rPr b="1"/>
              <a:t>lay out expectations or objectives</a:t>
            </a:r>
            <a:r>
              <a:rPr/>
              <a:t> for a session</a:t>
            </a:r>
          </a:p>
          <a:p>
            <a:pPr lvl="0"/>
            <a:r>
              <a:rPr/>
              <a:t>Create </a:t>
            </a:r>
            <a:r>
              <a:rPr b="1"/>
              <a:t>opportunities</a:t>
            </a:r>
            <a:r>
              <a:rPr/>
              <a:t> to </a:t>
            </a:r>
            <a:r>
              <a:rPr b="1"/>
              <a:t>discover</a:t>
            </a:r>
            <a:r>
              <a:rPr/>
              <a:t> learners’ prior knowledge</a:t>
            </a:r>
          </a:p>
          <a:p>
            <a:pPr lvl="0"/>
            <a:r>
              <a:rPr b="1"/>
              <a:t>Make connections</a:t>
            </a:r>
            <a:r>
              <a:rPr/>
              <a:t> between concepts </a:t>
            </a:r>
            <a:r>
              <a:rPr b="1"/>
              <a:t>explicit</a:t>
            </a:r>
          </a:p>
          <a:p>
            <a:pPr lvl="1"/>
            <a:r>
              <a:rPr/>
              <a:t>Encourage learners to make these connections </a:t>
            </a:r>
            <a:r>
              <a:rPr b="1"/>
              <a:t>themselves</a:t>
            </a:r>
            <a:r>
              <a:rPr/>
              <a:t> (sorting tasks, concept maps)</a:t>
            </a:r>
          </a:p>
          <a:p>
            <a:pPr lvl="0"/>
            <a:r>
              <a:rPr b="1"/>
              <a:t>Monitor</a:t>
            </a:r>
            <a:r>
              <a:rPr/>
              <a:t> learners’ work </a:t>
            </a:r>
            <a:r>
              <a:rPr b="1"/>
              <a:t>for problems</a:t>
            </a:r>
            <a:r>
              <a:rPr/>
              <a:t> in their knowledge organization or mental model, e.g., add assessment tasks or progress trackers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Constructive alignment</a:t>
            </a:r>
          </a:p>
        </p:txBody>
      </p:sp>
      <p:sp>
        <p:nvSpPr>
          <p:cNvPr id="4" name="Text Placeholder 3"/>
          <p:cNvSpPr>
            <a:spLocks noGrp="1"/>
          </p:cNvSpPr>
          <p:nvPr>
            <p:ph idx="2" sz="half" type="body"/>
          </p:nvPr>
        </p:nvSpPr>
        <p:spPr/>
        <p:txBody>
          <a:bodyPr/>
          <a:lstStyle/>
          <a:p>
            <a:pPr lvl="0" indent="0" marL="0">
              <a:buNone/>
            </a:pPr>
            <a:r>
              <a:rPr/>
              <a:t>Focus on learning objectives: what do we want our learners to achieve?</a:t>
            </a:r>
          </a:p>
        </p:txBody>
      </p:sp>
      <p:pic>
        <p:nvPicPr>
          <p:cNvPr descr="images/constructional-alignment.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Biggs, 1996</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 </a:t>
            </a:r>
          </a:p>
          <a:p>
            <a:pPr lvl="0" indent="0" marL="0">
              <a:buNone/>
            </a:pPr>
            <a:r>
              <a:rPr/>
              <a:t>Match each </a:t>
            </a:r>
            <a:r>
              <a:rPr b="1"/>
              <a:t>learning goal</a:t>
            </a:r>
            <a:r>
              <a:rPr/>
              <a:t> with an </a:t>
            </a:r>
            <a:r>
              <a:rPr b="1"/>
              <a:t>assessment type</a:t>
            </a:r>
            <a:r>
              <a:rPr/>
              <a:t> and reflect the following:</a:t>
            </a:r>
          </a:p>
          <a:p>
            <a:pPr lvl="0"/>
            <a:r>
              <a:rPr/>
              <a:t>Why does the assessment type fit the specific learning goal?</a:t>
            </a:r>
          </a:p>
          <a:p>
            <a:pPr lvl="0"/>
            <a:r>
              <a:rPr/>
              <a:t>What teaching activities can you think of that would align with the learning goal and the corresponding assessment type?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activity</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Setting learning objectives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Setting learning objectives</a:t>
            </a:r>
          </a:p>
        </p:txBody>
      </p:sp>
      <p:pic>
        <p:nvPicPr>
          <p:cNvPr descr="images/setting-learning-goals-alice.png" id="0" name="Picture 1"/>
          <p:cNvPicPr>
            <a:picLocks noGrp="1" noChangeAspect="1"/>
          </p:cNvPicPr>
          <p:nvPr/>
        </p:nvPicPr>
        <p:blipFill>
          <a:blip r:embed="rId3"/>
          <a:stretch>
            <a:fillRect/>
          </a:stretch>
        </p:blipFill>
        <p:spPr bwMode="auto">
          <a:xfrm>
            <a:off x="1549400" y="1193800"/>
            <a:ext cx="60452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“Hierarchy” of learning objectives</a:t>
            </a:r>
          </a:p>
        </p:txBody>
      </p:sp>
      <p:sp>
        <p:nvSpPr>
          <p:cNvPr id="4" name="Text Placeholder 3"/>
          <p:cNvSpPr>
            <a:spLocks noGrp="1"/>
          </p:cNvSpPr>
          <p:nvPr>
            <p:ph idx="2" sz="half" type="body"/>
          </p:nvPr>
        </p:nvSpPr>
        <p:spPr/>
        <p:txBody>
          <a:bodyPr/>
          <a:lstStyle/>
          <a:p>
            <a:pPr lvl="0"/>
            <a:r>
              <a:rPr/>
              <a:t>What is the general objective of this course?</a:t>
            </a:r>
          </a:p>
          <a:p>
            <a:pPr lvl="0"/>
            <a:r>
              <a:rPr/>
              <a:t>What are specific individual learning objectives?</a:t>
            </a:r>
          </a:p>
        </p:txBody>
      </p:sp>
      <p:pic>
        <p:nvPicPr>
          <p:cNvPr descr="images/objectives-hierarchy.png" id="0" name="Picture 1"/>
          <p:cNvPicPr>
            <a:picLocks noGrp="1" noChangeAspect="1"/>
          </p:cNvPicPr>
          <p:nvPr/>
        </p:nvPicPr>
        <p:blipFill>
          <a:blip r:embed="rId3"/>
          <a:stretch>
            <a:fillRect/>
          </a:stretch>
        </p:blipFill>
        <p:spPr bwMode="auto">
          <a:xfrm>
            <a:off x="3568700" y="952500"/>
            <a:ext cx="5105400" cy="28702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domains of learning</a:t>
            </a:r>
          </a:p>
        </p:txBody>
      </p:sp>
      <p:sp>
        <p:nvSpPr>
          <p:cNvPr id="3" name="Content Placeholder 2"/>
          <p:cNvSpPr>
            <a:spLocks noGrp="1"/>
          </p:cNvSpPr>
          <p:nvPr>
            <p:ph idx="1"/>
          </p:nvPr>
        </p:nvSpPr>
        <p:spPr/>
        <p:txBody>
          <a:bodyPr/>
          <a:lstStyle/>
          <a:p>
            <a:pPr lvl="0"/>
            <a:r>
              <a:rPr b="1"/>
              <a:t>Cognitive</a:t>
            </a:r>
            <a:r>
              <a:rPr/>
              <a:t>: knowledge or thinking</a:t>
            </a:r>
          </a:p>
          <a:p>
            <a:pPr lvl="0"/>
            <a:r>
              <a:rPr b="1"/>
              <a:t>Affective</a:t>
            </a:r>
            <a:r>
              <a:rPr/>
              <a:t>: growth in feelings or emotional areas (attitude or self), values</a:t>
            </a:r>
          </a:p>
          <a:p>
            <a:pPr lvl="0"/>
            <a:r>
              <a:rPr b="1"/>
              <a:t>Psychomotor</a:t>
            </a:r>
            <a:r>
              <a:rPr/>
              <a:t>: manual or physical skills, change in behaviours</a:t>
            </a:r>
          </a:p>
          <a:p>
            <a:pPr lvl="0" indent="0" marL="0">
              <a:buNone/>
            </a:pPr>
            <a:r>
              <a:rPr/>
              <a:t>Stapleton-Corcoran, E. (2023). “Bloom’s Taxonomy of Educational Objectives.” Center for the Advancement of Teaching Excellence at the University of Illinois Chicago. Retrieved 10. Augut 2026 from </a:t>
            </a:r>
            <a:r>
              <a:rPr>
                <a:hlinkClick r:id="rId3"/>
              </a:rPr>
              <a:t>https://teaching.uic.edu/blooms-taxonomy-of-educational-objectives/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Cognitive domain</a:t>
            </a:r>
          </a:p>
        </p:txBody>
      </p:sp>
      <p:sp>
        <p:nvSpPr>
          <p:cNvPr id="3" name="Content Placeholder 2"/>
          <p:cNvSpPr>
            <a:spLocks noGrp="1"/>
          </p:cNvSpPr>
          <p:nvPr>
            <p:ph idx="1"/>
          </p:nvPr>
        </p:nvSpPr>
        <p:spPr/>
        <p:txBody>
          <a:bodyPr/>
          <a:lstStyle/>
          <a:p>
            <a:pPr lvl="0"/>
            <a:r>
              <a:rPr/>
              <a:t>Learning focused on expanding or building up </a:t>
            </a:r>
            <a:r>
              <a:rPr b="1"/>
              <a:t>knowledge and thinking skills</a:t>
            </a:r>
            <a:r>
              <a:rPr/>
              <a:t> as learning outcome</a:t>
            </a:r>
          </a:p>
          <a:p>
            <a:pPr lvl="0"/>
            <a:r>
              <a:rPr/>
              <a:t>Widely implemented in education and typically connected to </a:t>
            </a:r>
            <a:r>
              <a:rPr i="1"/>
              <a:t>Bloom’s taxonomy</a:t>
            </a:r>
          </a:p>
          <a:p>
            <a:pPr lvl="0"/>
            <a:r>
              <a:rPr i="1"/>
              <a:t>Example</a:t>
            </a:r>
            <a:r>
              <a:rPr/>
              <a:t>:</a:t>
            </a:r>
          </a:p>
          <a:p>
            <a:pPr lvl="1"/>
            <a:r>
              <a:rPr b="1"/>
              <a:t>Learning goal</a:t>
            </a:r>
            <a:r>
              <a:rPr/>
              <a:t>: Learning will be able to analyze how open science practices improve research transparency and reproducibility</a:t>
            </a:r>
          </a:p>
          <a:p>
            <a:pPr lvl="1"/>
            <a:r>
              <a:rPr b="1"/>
              <a:t>Teaching activity</a:t>
            </a:r>
            <a:r>
              <a:rPr/>
              <a:t>: Evaluation and comparison of reproducible and non-reproducible research workflows or published studies</a:t>
            </a:r>
          </a:p>
          <a:p>
            <a:pPr lvl="1"/>
            <a:r>
              <a:rPr b="1"/>
              <a:t>Assessment task</a:t>
            </a:r>
            <a:r>
              <a:rPr/>
              <a:t>: Group presentation discussing strengths, limitations, and transparency of selected research practices or publications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Cognitive domain</a:t>
            </a:r>
          </a:p>
        </p:txBody>
      </p:sp>
      <p:pic>
        <p:nvPicPr>
          <p:cNvPr descr="images/cognitive-domain.png" id="0" name="Picture 1"/>
          <p:cNvPicPr>
            <a:picLocks noGrp="1" noChangeAspect="1"/>
          </p:cNvPicPr>
          <p:nvPr/>
        </p:nvPicPr>
        <p:blipFill>
          <a:blip r:embed="rId3"/>
          <a:stretch>
            <a:fillRect/>
          </a:stretch>
        </p:blipFill>
        <p:spPr bwMode="auto">
          <a:xfrm>
            <a:off x="2209800" y="1193800"/>
            <a:ext cx="47117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Affective domain</a:t>
            </a:r>
          </a:p>
        </p:txBody>
      </p:sp>
      <p:sp>
        <p:nvSpPr>
          <p:cNvPr id="3" name="Content Placeholder 2"/>
          <p:cNvSpPr>
            <a:spLocks noGrp="1"/>
          </p:cNvSpPr>
          <p:nvPr>
            <p:ph idx="1"/>
          </p:nvPr>
        </p:nvSpPr>
        <p:spPr/>
        <p:txBody>
          <a:bodyPr/>
          <a:lstStyle/>
          <a:p>
            <a:pPr lvl="0"/>
            <a:r>
              <a:rPr/>
              <a:t>Learning focused on identifying and developing </a:t>
            </a:r>
            <a:r>
              <a:rPr b="1"/>
              <a:t>attitudes and values</a:t>
            </a:r>
            <a:r>
              <a:rPr/>
              <a:t> of learners as learning outcome</a:t>
            </a:r>
          </a:p>
          <a:p>
            <a:pPr lvl="0"/>
            <a:r>
              <a:rPr/>
              <a:t>Difficult to measure directly, but can be assessed through </a:t>
            </a:r>
            <a:r>
              <a:rPr i="1"/>
              <a:t>observable behaviors</a:t>
            </a:r>
            <a:r>
              <a:rPr/>
              <a:t> (e.g., appreciation, showing commitment, awareness of nuances)</a:t>
            </a:r>
          </a:p>
          <a:p>
            <a:pPr lvl="0"/>
            <a:r>
              <a:rPr i="1"/>
              <a:t>Example</a:t>
            </a:r>
            <a:r>
              <a:rPr/>
              <a:t>:</a:t>
            </a:r>
          </a:p>
          <a:p>
            <a:pPr lvl="1"/>
            <a:r>
              <a:rPr b="1"/>
              <a:t>Learning goal</a:t>
            </a:r>
            <a:r>
              <a:rPr/>
              <a:t>: Learners will actively engage with with differing views on the pros and cons of preregistration by askingclarifying questions and incorporating at least one alternative viewpoint into their own arguments</a:t>
            </a:r>
          </a:p>
          <a:p>
            <a:pPr lvl="1"/>
            <a:r>
              <a:rPr b="1"/>
              <a:t>Teaching activity</a:t>
            </a:r>
            <a:r>
              <a:rPr/>
              <a:t>: Learners participate in a panel discussion in which they argue either the benefits or the limitations of preregistration in scientific research.</a:t>
            </a:r>
          </a:p>
          <a:p>
            <a:pPr lvl="1"/>
            <a:r>
              <a:rPr b="1"/>
              <a:t>Assessment task</a:t>
            </a:r>
            <a:r>
              <a:rPr/>
              <a:t>: Learners write a reflection essay in which they summarize the arguments presented during the discussion and reflect on how considering both the advantages and disadvantages of preregistration influenced their own perspective on open science practices.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Affective domain</a:t>
            </a:r>
          </a:p>
        </p:txBody>
      </p:sp>
      <p:pic>
        <p:nvPicPr>
          <p:cNvPr descr="images/affective-domain.png" id="0" name="Picture 1"/>
          <p:cNvPicPr>
            <a:picLocks noGrp="1" noChangeAspect="1"/>
          </p:cNvPicPr>
          <p:nvPr/>
        </p:nvPicPr>
        <p:blipFill>
          <a:blip r:embed="rId3"/>
          <a:stretch>
            <a:fillRect/>
          </a:stretch>
        </p:blipFill>
        <p:spPr bwMode="auto">
          <a:xfrm>
            <a:off x="2298700" y="1193800"/>
            <a:ext cx="45339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Psychomotor domain</a:t>
            </a:r>
          </a:p>
        </p:txBody>
      </p:sp>
      <p:sp>
        <p:nvSpPr>
          <p:cNvPr id="3" name="Content Placeholder 2"/>
          <p:cNvSpPr>
            <a:spLocks noGrp="1"/>
          </p:cNvSpPr>
          <p:nvPr>
            <p:ph idx="1"/>
          </p:nvPr>
        </p:nvSpPr>
        <p:spPr/>
        <p:txBody>
          <a:bodyPr/>
          <a:lstStyle/>
          <a:p>
            <a:pPr lvl="0"/>
            <a:r>
              <a:rPr/>
              <a:t>Learning focused on implementing, expanding and building </a:t>
            </a:r>
            <a:r>
              <a:rPr b="1"/>
              <a:t>physical skills and behaviours</a:t>
            </a:r>
            <a:r>
              <a:rPr/>
              <a:t>, .e.g., through physical movement, coordination and motor skills as learning outcomes (e.g., measured in terms of speed, precision or technical execution)</a:t>
            </a:r>
          </a:p>
          <a:p>
            <a:pPr lvl="0"/>
            <a:r>
              <a:rPr i="1"/>
              <a:t>Example</a:t>
            </a:r>
            <a:r>
              <a:rPr/>
              <a:t>:</a:t>
            </a:r>
          </a:p>
          <a:p>
            <a:pPr lvl="1"/>
            <a:r>
              <a:rPr b="1"/>
              <a:t>Learning objective</a:t>
            </a:r>
            <a:r>
              <a:rPr/>
              <a:t>: Learners will accurately upload, document, and share a research dataset in an open repository using appropriate metadata and licensing practices.</a:t>
            </a:r>
          </a:p>
          <a:p>
            <a:pPr lvl="1"/>
            <a:r>
              <a:rPr b="1"/>
              <a:t>Teaching activity</a:t>
            </a:r>
            <a:r>
              <a:rPr/>
              <a:t>: Hands-on workshop where learners practice preparing metadata, selecting appropriate licences and uploading to an open repository.</a:t>
            </a:r>
          </a:p>
          <a:p>
            <a:pPr lvl="1"/>
            <a:r>
              <a:rPr b="1"/>
              <a:t>Assessment task</a:t>
            </a:r>
            <a:r>
              <a:rPr/>
              <a:t>: Each learner independently uploads a dataset and accompanying documentation to a repository with a suitable licence.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Psychomotor domain</a:t>
            </a:r>
          </a:p>
        </p:txBody>
      </p:sp>
      <p:pic>
        <p:nvPicPr>
          <p:cNvPr descr="images/psychomotor-domain.png" id="0" name="Picture 1"/>
          <p:cNvPicPr>
            <a:picLocks noGrp="1" noChangeAspect="1"/>
          </p:cNvPicPr>
          <p:nvPr/>
        </p:nvPicPr>
        <p:blipFill>
          <a:blip r:embed="rId3"/>
          <a:stretch>
            <a:fillRect/>
          </a:stretch>
        </p:blipFill>
        <p:spPr bwMode="auto">
          <a:xfrm>
            <a:off x="2362200" y="1193800"/>
            <a:ext cx="44323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within learning domains: Recap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lgn="ctr">
                        <a:buNone/>
                      </a:pPr>
                      <a:r>
                        <a:rPr/>
                        <a:t>cognitive</a:t>
                      </a:r>
                    </a:p>
                  </a:txBody>
                  <a:tcPr/>
                </a:tc>
                <a:tc>
                  <a:txBody>
                    <a:bodyPr/>
                    <a:lstStyle/>
                    <a:p>
                      <a:pPr lvl="0" indent="0" marL="0" algn="ctr">
                        <a:buNone/>
                      </a:pPr>
                      <a:r>
                        <a:rPr/>
                        <a:t>affective</a:t>
                      </a:r>
                    </a:p>
                  </a:txBody>
                  <a:tcPr/>
                </a:tc>
                <a:tc>
                  <a:txBody>
                    <a:bodyPr/>
                    <a:lstStyle/>
                    <a:p>
                      <a:pPr lvl="0" indent="0" marL="0" algn="ctr">
                        <a:buNone/>
                      </a:pPr>
                      <a:r>
                        <a:rPr/>
                        <a:t>psychomotoric</a:t>
                      </a:r>
                    </a:p>
                  </a:txBody>
                  <a:tcPr/>
                </a:tc>
              </a:tr>
              <a:tr h="0">
                <a:tc>
                  <a:txBody>
                    <a:bodyPr/>
                    <a:lstStyle/>
                    <a:p>
                      <a:endParaRPr/>
                    </a:p>
                  </a:txBody>
                </a:tc>
                <a:tc>
                  <a:txBody>
                    <a:bodyPr/>
                    <a:lstStyle/>
                    <a:p>
                      <a:endParaRPr/>
                    </a:p>
                  </a:txBody>
                </a:tc>
                <a:tc>
                  <a:txBody>
                    <a:bodyPr/>
                    <a:lstStyle/>
                    <a:p>
                      <a:pPr lvl="0" indent="0" marL="0" algn="ctr">
                        <a:buNone/>
                      </a:pPr>
                      <a:r>
                        <a:rPr/>
                        <a:t>origination</a:t>
                      </a:r>
                    </a:p>
                  </a:txBody>
                </a:tc>
              </a:tr>
              <a:tr h="0">
                <a:tc>
                  <a:txBody>
                    <a:bodyPr/>
                    <a:lstStyle/>
                    <a:p>
                      <a:pPr lvl="0" indent="0" marL="0" algn="ctr">
                        <a:buNone/>
                      </a:pPr>
                      <a:r>
                        <a:rPr/>
                        <a:t>create</a:t>
                      </a:r>
                    </a:p>
                  </a:txBody>
                </a:tc>
                <a:tc>
                  <a:txBody>
                    <a:bodyPr/>
                    <a:lstStyle/>
                    <a:p>
                      <a:endParaRPr/>
                    </a:p>
                  </a:txBody>
                </a:tc>
                <a:tc>
                  <a:txBody>
                    <a:bodyPr/>
                    <a:lstStyle/>
                    <a:p>
                      <a:pPr lvl="0" indent="0" marL="0" algn="ctr">
                        <a:buNone/>
                      </a:pPr>
                      <a:r>
                        <a:rPr/>
                        <a:t>adaptation</a:t>
                      </a:r>
                    </a:p>
                  </a:txBody>
                </a:tc>
              </a:tr>
              <a:tr h="0">
                <a:tc>
                  <a:txBody>
                    <a:bodyPr/>
                    <a:lstStyle/>
                    <a:p>
                      <a:pPr lvl="0" indent="0" marL="0" algn="ctr">
                        <a:buNone/>
                      </a:pPr>
                      <a:r>
                        <a:rPr/>
                        <a:t>evaluate</a:t>
                      </a:r>
                    </a:p>
                  </a:txBody>
                </a:tc>
                <a:tc>
                  <a:txBody>
                    <a:bodyPr/>
                    <a:lstStyle/>
                    <a:p>
                      <a:pPr lvl="0" indent="0" marL="0" algn="ctr">
                        <a:buNone/>
                      </a:pPr>
                      <a:r>
                        <a:rPr/>
                        <a:t>characterizing</a:t>
                      </a:r>
                    </a:p>
                  </a:txBody>
                </a:tc>
                <a:tc>
                  <a:txBody>
                    <a:bodyPr/>
                    <a:lstStyle/>
                    <a:p>
                      <a:pPr lvl="0" indent="0" marL="0" algn="ctr">
                        <a:buNone/>
                      </a:pPr>
                      <a:r>
                        <a:rPr/>
                        <a:t>complex overt response</a:t>
                      </a:r>
                    </a:p>
                  </a:txBody>
                </a:tc>
              </a:tr>
              <a:tr h="0">
                <a:tc>
                  <a:txBody>
                    <a:bodyPr/>
                    <a:lstStyle/>
                    <a:p>
                      <a:pPr lvl="0" indent="0" marL="0" algn="ctr">
                        <a:buNone/>
                      </a:pPr>
                      <a:r>
                        <a:rPr/>
                        <a:t>analyse</a:t>
                      </a:r>
                    </a:p>
                  </a:txBody>
                </a:tc>
                <a:tc>
                  <a:txBody>
                    <a:bodyPr/>
                    <a:lstStyle/>
                    <a:p>
                      <a:pPr lvl="0" indent="0" marL="0" algn="ctr">
                        <a:buNone/>
                      </a:pPr>
                      <a:r>
                        <a:rPr/>
                        <a:t>organizing</a:t>
                      </a:r>
                    </a:p>
                  </a:txBody>
                </a:tc>
                <a:tc>
                  <a:txBody>
                    <a:bodyPr/>
                    <a:lstStyle/>
                    <a:p>
                      <a:pPr lvl="0" indent="0" marL="0" algn="ctr">
                        <a:buNone/>
                      </a:pPr>
                      <a:r>
                        <a:rPr/>
                        <a:t>mechanism</a:t>
                      </a:r>
                    </a:p>
                  </a:txBody>
                </a:tc>
              </a:tr>
              <a:tr h="0">
                <a:tc>
                  <a:txBody>
                    <a:bodyPr/>
                    <a:lstStyle/>
                    <a:p>
                      <a:pPr lvl="0" indent="0" marL="0" algn="ctr">
                        <a:buNone/>
                      </a:pPr>
                      <a:r>
                        <a:rPr/>
                        <a:t>apply</a:t>
                      </a:r>
                    </a:p>
                  </a:txBody>
                </a:tc>
                <a:tc>
                  <a:txBody>
                    <a:bodyPr/>
                    <a:lstStyle/>
                    <a:p>
                      <a:pPr lvl="0" indent="0" marL="0" algn="ctr">
                        <a:buNone/>
                      </a:pPr>
                      <a:r>
                        <a:rPr/>
                        <a:t>valuing</a:t>
                      </a:r>
                    </a:p>
                  </a:txBody>
                </a:tc>
                <a:tc>
                  <a:txBody>
                    <a:bodyPr/>
                    <a:lstStyle/>
                    <a:p>
                      <a:pPr lvl="0" indent="0" marL="0" algn="ctr">
                        <a:buNone/>
                      </a:pPr>
                      <a:r>
                        <a:rPr/>
                        <a:t>guided response</a:t>
                      </a:r>
                    </a:p>
                  </a:txBody>
                </a:tc>
              </a:tr>
              <a:tr h="0">
                <a:tc>
                  <a:txBody>
                    <a:bodyPr/>
                    <a:lstStyle/>
                    <a:p>
                      <a:pPr lvl="0" indent="0" marL="0" algn="ctr">
                        <a:buNone/>
                      </a:pPr>
                      <a:r>
                        <a:rPr/>
                        <a:t>understand</a:t>
                      </a:r>
                    </a:p>
                  </a:txBody>
                </a:tc>
                <a:tc>
                  <a:txBody>
                    <a:bodyPr/>
                    <a:lstStyle/>
                    <a:p>
                      <a:pPr lvl="0" indent="0" marL="0" algn="ctr">
                        <a:buNone/>
                      </a:pPr>
                      <a:r>
                        <a:rPr/>
                        <a:t>responding</a:t>
                      </a:r>
                    </a:p>
                  </a:txBody>
                </a:tc>
                <a:tc>
                  <a:txBody>
                    <a:bodyPr/>
                    <a:lstStyle/>
                    <a:p>
                      <a:pPr lvl="0" indent="0" marL="0" algn="ctr">
                        <a:buNone/>
                      </a:pPr>
                      <a:r>
                        <a:rPr/>
                        <a:t>set</a:t>
                      </a:r>
                    </a:p>
                  </a:txBody>
                </a:tc>
              </a:tr>
              <a:tr h="0">
                <a:tc>
                  <a:txBody>
                    <a:bodyPr/>
                    <a:lstStyle/>
                    <a:p>
                      <a:pPr lvl="0" indent="0" marL="0" algn="ctr">
                        <a:buNone/>
                      </a:pPr>
                      <a:r>
                        <a:rPr/>
                        <a:t>remember</a:t>
                      </a:r>
                    </a:p>
                  </a:txBody>
                </a:tc>
                <a:tc>
                  <a:txBody>
                    <a:bodyPr/>
                    <a:lstStyle/>
                    <a:p>
                      <a:pPr lvl="0" indent="0" marL="0" algn="ctr">
                        <a:buNone/>
                      </a:pPr>
                      <a:r>
                        <a:rPr/>
                        <a:t>receiving</a:t>
                      </a:r>
                    </a:p>
                  </a:txBody>
                </a:tc>
                <a:tc>
                  <a:txBody>
                    <a:bodyPr/>
                    <a:lstStyle/>
                    <a:p>
                      <a:pPr lvl="0" indent="0" marL="0" algn="ctr">
                        <a:buNone/>
                      </a:pPr>
                      <a:r>
                        <a:rPr/>
                        <a:t>perception</a:t>
                      </a:r>
                    </a:p>
                  </a:txBody>
                </a:tc>
              </a:tr>
            </a:tbl>
          </a:graphicData>
        </a:graphic>
      </p:graphicFrame>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i="1"/>
              <a:t>You are tasked to design a course module on Open Research practices and would like to include a lesson on open access publishing. The learning objectives for each learning domain are:</a:t>
            </a:r>
          </a:p>
          <a:p>
            <a:pPr lvl="0"/>
            <a:r>
              <a:rPr b="1"/>
              <a:t>Cognitive domain</a:t>
            </a:r>
            <a:r>
              <a:rPr/>
              <a:t>: Learners will be able to compare different open access publishing models, e.g., Gold, Green and Diamond Open Access and critically assess their advantages and limitations.</a:t>
            </a:r>
          </a:p>
          <a:p>
            <a:pPr lvl="0"/>
            <a:r>
              <a:rPr b="1"/>
              <a:t>Affective domain</a:t>
            </a:r>
            <a:r>
              <a:rPr/>
              <a:t>: Learners will critically reflect on the benefits and challenges of open access publishing and demonstrate openness toward differing perspectives on accessibility and publication costs.</a:t>
            </a:r>
          </a:p>
          <a:p>
            <a:pPr lvl="0"/>
            <a:r>
              <a:rPr b="1"/>
              <a:t>Psychomotor domain</a:t>
            </a:r>
            <a:r>
              <a:rPr/>
              <a:t>: Learners will accurately upload a manuscript to an open access repository and correctly apply metadata and an apprpriate license.</a:t>
            </a:r>
          </a:p>
          <a:p>
            <a:pPr lvl="0" indent="0" marL="0">
              <a:buNone/>
            </a:pPr>
            <a:r>
              <a:rPr i="1"/>
              <a:t>For each learning goal, design one assessment task, including an assessment method (checklist, scoring rubric etc.) and define at least one observable metric of successfully achieving the learning goal.</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Formulating learning objectives</a:t>
            </a:r>
          </a:p>
        </p:txBody>
      </p:sp>
      <p:pic>
        <p:nvPicPr>
          <p:cNvPr descr="images/formulating-learning-objectives.png" id="0" name="Picture 1"/>
          <p:cNvPicPr>
            <a:picLocks noGrp="1" noChangeAspect="1"/>
          </p:cNvPicPr>
          <p:nvPr/>
        </p:nvPicPr>
        <p:blipFill>
          <a:blip r:embed="rId3"/>
          <a:stretch>
            <a:fillRect/>
          </a:stretch>
        </p:blipFill>
        <p:spPr bwMode="auto">
          <a:xfrm>
            <a:off x="1562100" y="1193800"/>
            <a:ext cx="60325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p>
          <a:p>
            <a:pPr lvl="0" indent="-342900" marL="342900">
              <a:buAutoNum type="arabicPeriod"/>
            </a:pPr>
            <a:r>
              <a:rPr b="1"/>
              <a:t>Navigate</a:t>
            </a:r>
            <a:r>
              <a:rPr/>
              <a:t> to the following online tutorial: </a:t>
            </a:r>
            <a:r>
              <a:rPr>
                <a:hlinkClick r:id="rId3"/>
              </a:rPr>
              <a:t>https://lmu-osc.github.io/introduction-to-zotero/</a:t>
            </a:r>
            <a:r>
              <a:rPr/>
              <a:t>.</a:t>
            </a:r>
          </a:p>
          <a:p>
            <a:pPr lvl="0" indent="-342900" marL="342900">
              <a:buAutoNum type="arabicPeriod"/>
            </a:pPr>
            <a:r>
              <a:rPr b="1"/>
              <a:t>Skim over</a:t>
            </a:r>
            <a:r>
              <a:rPr/>
              <a:t> the different sections using the navigation menu or the arrows at the bottom of the page to get an idea of the content of the tutorial.</a:t>
            </a:r>
          </a:p>
          <a:p>
            <a:pPr lvl="0" indent="-342900" marL="342900">
              <a:buAutoNum type="arabicPeriod"/>
            </a:pPr>
            <a:r>
              <a:rPr/>
              <a:t>Using Bloom’s taxonomy, </a:t>
            </a:r>
            <a:r>
              <a:rPr b="1"/>
              <a:t>formulate</a:t>
            </a:r>
            <a:r>
              <a:rPr/>
              <a:t> three learning objectives and assessment methods that match the content and the teaching activities of the tutorial. Consider the following: Which level of Bloom’s taxonomy are you at and which domain are you targeting?</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Learning in an </a:t>
            </a:r>
            <a:r>
              <a:rPr b="1"/>
              <a:t>active process</a:t>
            </a:r>
            <a:r>
              <a:rPr/>
              <a:t>, integrated in a larger </a:t>
            </a:r>
            <a:r>
              <a:rPr b="1"/>
              <a:t>context</a:t>
            </a:r>
            <a:r>
              <a:rPr/>
              <a:t> and strongly shaped by </a:t>
            </a:r>
            <a:r>
              <a:rPr b="1"/>
              <a:t>prior knowledge and beliefs</a:t>
            </a:r>
            <a:r>
              <a:rPr/>
              <a:t> (</a:t>
            </a:r>
            <a:r>
              <a:rPr i="1"/>
              <a:t>constructivism</a:t>
            </a:r>
            <a:r>
              <a:rPr/>
              <a:t>)</a:t>
            </a:r>
          </a:p>
          <a:p>
            <a:pPr lvl="0"/>
            <a:r>
              <a:rPr/>
              <a:t>Different learners differ in their organization of prior knowledge: </a:t>
            </a:r>
            <a:r>
              <a:rPr i="1"/>
              <a:t>experts</a:t>
            </a:r>
            <a:r>
              <a:rPr/>
              <a:t> enjoy more connections and short-cuts among pieces of knowledge</a:t>
            </a:r>
          </a:p>
          <a:p>
            <a:pPr lvl="0"/>
            <a:r>
              <a:rPr/>
              <a:t>Ensuring that learning objectives, the assessment tasks and the teaching activities </a:t>
            </a:r>
            <a:r>
              <a:rPr b="1"/>
              <a:t>align</a:t>
            </a:r>
            <a:r>
              <a:rPr/>
              <a:t> is key for a successful learning process(</a:t>
            </a:r>
            <a:r>
              <a:rPr i="1"/>
              <a:t>constructive alignment</a:t>
            </a:r>
            <a:r>
              <a:rPr/>
              <a:t>)</a:t>
            </a:r>
          </a:p>
          <a:p>
            <a:pPr lvl="0"/>
            <a:r>
              <a:rPr/>
              <a:t>Before teaching, we need to know where we are going, i.e., </a:t>
            </a:r>
            <a:r>
              <a:rPr b="1"/>
              <a:t>formulate</a:t>
            </a:r>
            <a:r>
              <a:rPr/>
              <a:t> learning objectives according to a suitable learning domain(s): </a:t>
            </a:r>
            <a:r>
              <a:rPr b="1"/>
              <a:t>cognitive, affective, psychomotor</a:t>
            </a:r>
          </a:p>
          <a:p>
            <a:pPr lvl="0" indent="0" marL="1270000">
              <a:buNone/>
            </a:pPr>
            <a:r>
              <a:rPr sz="2000" b="1"/>
              <a:t>The formulation matters!</a:t>
            </a:r>
          </a:p>
          <a:p>
            <a:pPr lvl="0" indent="0" marL="1270000">
              <a:buNone/>
            </a:pPr>
            <a:r>
              <a:rPr sz="2000"/>
              <a:t>Place a particular emphasis on the </a:t>
            </a:r>
            <a:r>
              <a:rPr sz="2000" b="1"/>
              <a:t>verbs</a:t>
            </a:r>
            <a:r>
              <a:rPr sz="2000"/>
              <a:t> when formulating learning objectives!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 time!</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now feel most confident about in relation to didactics and teaching? (Select all that apply)</a:t>
            </a:r>
          </a:p>
          <a:p>
            <a:pPr lvl="0" indent="-342900" marL="342900">
              <a:buAutoNum type="alphaLcPeriod"/>
            </a:pPr>
            <a:r>
              <a:rPr/>
              <a:t>Considering the learner’s prior knowledge in the learning process</a:t>
            </a:r>
          </a:p>
          <a:p>
            <a:pPr lvl="0" indent="-342900" marL="342900">
              <a:buAutoNum type="alphaLcPeriod"/>
            </a:pPr>
            <a:r>
              <a:rPr/>
              <a:t>Constructivism</a:t>
            </a:r>
          </a:p>
          <a:p>
            <a:pPr lvl="0" indent="-342900" marL="342900">
              <a:buAutoNum type="alphaLcPeriod"/>
            </a:pPr>
            <a:r>
              <a:rPr/>
              <a:t>Constructive alignment</a:t>
            </a:r>
          </a:p>
          <a:p>
            <a:pPr lvl="0" indent="-342900" marL="342900">
              <a:buAutoNum type="alphaLcPeriod"/>
            </a:pPr>
            <a:r>
              <a:rPr/>
              <a:t>Formulating clear learning objectives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the three learning domains (cogntive, affective and psychomotor)?</a:t>
            </a:r>
          </a:p>
          <a:p>
            <a:pPr lvl="0" indent="-342900" marL="342900">
              <a:buAutoNum type="alphaLcPeriod"/>
            </a:pPr>
            <a:r>
              <a:rPr/>
              <a:t>I have never heard of them before.</a:t>
            </a:r>
          </a:p>
          <a:p>
            <a:pPr lvl="0" indent="-342900" marL="342900">
              <a:buAutoNum type="alphaLcPeriod"/>
            </a:pPr>
            <a:r>
              <a:rPr/>
              <a:t>I have heard of them but have never considered them in my teaching.</a:t>
            </a:r>
          </a:p>
          <a:p>
            <a:pPr lvl="0" indent="-342900" marL="342900">
              <a:buAutoNum type="alphaLcPeriod"/>
            </a:pPr>
            <a:r>
              <a:rPr/>
              <a:t>I have a basic understanding and sometimes implement them in my teaching.</a:t>
            </a:r>
          </a:p>
          <a:p>
            <a:pPr lvl="0" indent="-342900" marL="342900">
              <a:buAutoNum type="alphaLcPeriod"/>
            </a:pPr>
            <a:r>
              <a:rPr/>
              <a:t>I am very familiar and have routinely applied them in my teaching.</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Bloom’s taxonomy?</a:t>
            </a:r>
          </a:p>
          <a:p>
            <a:pPr lvl="0" indent="-342900" marL="342900">
              <a:buAutoNum type="alphaLcPeriod"/>
            </a:pPr>
            <a:r>
              <a:rPr/>
              <a:t>I have never heard of it before.</a:t>
            </a:r>
          </a:p>
          <a:p>
            <a:pPr lvl="0" indent="-342900" marL="342900">
              <a:buAutoNum type="alphaLcPeriod"/>
            </a:pPr>
            <a:r>
              <a:rPr/>
              <a:t>I have heard of it but have never implemented it in my teaching.</a:t>
            </a:r>
          </a:p>
          <a:p>
            <a:pPr lvl="0" indent="-342900" marL="342900">
              <a:buAutoNum type="alphaLcPeriod"/>
            </a:pPr>
            <a:r>
              <a:rPr/>
              <a:t>I have a basic understanding and sometimes implement it in my teaching.</a:t>
            </a:r>
          </a:p>
          <a:p>
            <a:pPr lvl="0" indent="-342900" marL="342900">
              <a:buAutoNum type="alphaLcPeriod"/>
            </a:pPr>
            <a:r>
              <a:rPr/>
              <a:t>I am very familiar and have routinely applied this in my teaching.</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 recap</a:t>
            </a:r>
          </a:p>
        </p:txBody>
      </p:sp>
      <p:sp>
        <p:nvSpPr>
          <p:cNvPr id="3" name="Content Placeholder 2"/>
          <p:cNvSpPr>
            <a:spLocks noGrp="1"/>
          </p:cNvSpPr>
          <p:nvPr>
            <p:ph idx="1"/>
          </p:nvPr>
        </p:nvSpPr>
        <p:spPr/>
        <p:txBody>
          <a:bodyPr/>
          <a:lstStyle/>
          <a:p>
            <a:pPr lvl="0" indent="0" marL="0">
              <a:buNone/>
            </a:pPr>
            <a:r>
              <a:rPr/>
              <a:t>At the end of this session, you will…</a:t>
            </a:r>
          </a:p>
          <a:p>
            <a:pPr lvl="0"/>
            <a:r>
              <a:rPr b="1"/>
              <a:t>Understand</a:t>
            </a:r>
            <a:r>
              <a:rPr/>
              <a:t> basic didactic concepts as the basis for learning success ✔</a:t>
            </a:r>
          </a:p>
          <a:p>
            <a:pPr lvl="0"/>
            <a:r>
              <a:rPr b="1"/>
              <a:t>Analyze</a:t>
            </a:r>
            <a:r>
              <a:rPr/>
              <a:t> how knowledge can be organized depending on the level of expertise ✔</a:t>
            </a:r>
          </a:p>
          <a:p>
            <a:pPr lvl="0"/>
            <a:r>
              <a:rPr b="1"/>
              <a:t>Evaluate</a:t>
            </a:r>
            <a:r>
              <a:rPr/>
              <a:t> the alignment between learning objectives, assessment types and teaching activities ✔</a:t>
            </a:r>
          </a:p>
          <a:p>
            <a:pPr lvl="0"/>
            <a:r>
              <a:rPr b="1"/>
              <a:t>Formulate</a:t>
            </a:r>
            <a:r>
              <a:rPr/>
              <a:t> concrete learning objectives according to specific learning domains for real-world content ✔</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Anderson, L. W., &amp; Krathwohl, D. R. (Eds.). (2001). </a:t>
            </a:r>
            <a:r>
              <a:rPr i="1"/>
              <a:t>A taxonomy for learning, teaching, and assessing: A revision of Bloom’s taxonomy of educational objectives</a:t>
            </a:r>
            <a:r>
              <a:rPr/>
              <a:t>. Addison Wesley Longman.</a:t>
            </a:r>
          </a:p>
          <a:p>
            <a:pPr lvl="0" indent="0" marL="0">
              <a:buNone/>
            </a:pPr>
            <a:r>
              <a:rPr/>
              <a:t>Bloom, B. S. (Ed.). (1973). </a:t>
            </a:r>
            <a:r>
              <a:rPr i="1"/>
              <a:t>Taxonomie von Lernzielen im kognitiven Bereich</a:t>
            </a:r>
            <a:r>
              <a:rPr/>
              <a:t> (3. Aufl.). Beltz.</a:t>
            </a:r>
          </a:p>
          <a:p>
            <a:pPr lvl="0" indent="0" marL="0">
              <a:buNone/>
            </a:pPr>
            <a:r>
              <a:rPr/>
              <a:t>Bloom, B. S., Engelhart, M. D., Furst, E. J., Hill, W. H., &amp; Krathwohl, D. R. (Eds.). (1956). </a:t>
            </a:r>
            <a:r>
              <a:rPr i="1"/>
              <a:t>Taxonomy of educational objectives: The classification of educational goals. Handbook I: Cognitive domain</a:t>
            </a:r>
            <a:r>
              <a:rPr/>
              <a:t>. David McKay Company.</a:t>
            </a:r>
          </a:p>
          <a:p>
            <a:pPr lvl="0" indent="0" marL="0">
              <a:buNone/>
            </a:pPr>
            <a:r>
              <a:rPr/>
              <a:t>Bruner, J. S. (1960). </a:t>
            </a:r>
            <a:r>
              <a:rPr i="1"/>
              <a:t>The process of education</a:t>
            </a:r>
            <a:r>
              <a:rPr/>
              <a:t>. Harvard University Press.</a:t>
            </a:r>
          </a:p>
          <a:p>
            <a:pPr lvl="0" indent="0" marL="0">
              <a:buNone/>
            </a:pPr>
            <a:r>
              <a:rPr/>
              <a:t>Fosnot, C. T. (Ed.). (2013). </a:t>
            </a:r>
            <a:r>
              <a:rPr i="1"/>
              <a:t>Constructivism: Theory, perspectives, and practice</a:t>
            </a:r>
            <a:r>
              <a:rPr/>
              <a:t> (2nd ed.). Teachers College Press.</a:t>
            </a:r>
          </a:p>
          <a:p>
            <a:pPr lvl="0" indent="0" marL="0">
              <a:buNone/>
            </a:pPr>
            <a:r>
              <a:rPr/>
              <a:t>Piaget, J. (1950). </a:t>
            </a:r>
            <a:r>
              <a:rPr i="1"/>
              <a:t>The psychology of intelligence</a:t>
            </a:r>
            <a:r>
              <a:rPr/>
              <a:t>. Routledge &amp; Kegan Paul.</a:t>
            </a:r>
          </a:p>
          <a:p>
            <a:pPr lvl="0" indent="0" marL="0">
              <a:buNone/>
            </a:pPr>
            <a:r>
              <a:rPr/>
              <a:t>von Glasersfeld, E. (1995). </a:t>
            </a:r>
            <a:r>
              <a:rPr i="1"/>
              <a:t>Radical constructivism: A way of knowing and learning</a:t>
            </a:r>
            <a:r>
              <a:rPr/>
              <a:t>. Falmer Press.</a:t>
            </a:r>
          </a:p>
          <a:p>
            <a:pPr lvl="0" indent="0" marL="0">
              <a:buNone/>
            </a:pPr>
            <a:r>
              <a:rPr/>
              <a:t>Vygotsky, L. S. (1978). </a:t>
            </a:r>
            <a:r>
              <a:rPr i="1"/>
              <a:t>Mind in society: The development of higher psychological processes</a:t>
            </a:r>
            <a:r>
              <a:rPr/>
              <a:t>. Harvard University Press.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Thanks! :)</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Additional content slides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Constructing knowledge</a:t>
            </a:r>
          </a:p>
        </p:txBody>
      </p:sp>
      <p:sp>
        <p:nvSpPr>
          <p:cNvPr id="3" name="Content Placeholder 2"/>
          <p:cNvSpPr>
            <a:spLocks noGrp="1"/>
          </p:cNvSpPr>
          <p:nvPr>
            <p:ph idx="1"/>
          </p:nvPr>
        </p:nvSpPr>
        <p:spPr/>
        <p:txBody>
          <a:bodyPr/>
          <a:lstStyle/>
          <a:p>
            <a:pPr lvl="0"/>
            <a:r>
              <a:rPr/>
              <a:t>Knowledge is </a:t>
            </a:r>
            <a:r>
              <a:rPr b="1"/>
              <a:t>actively constructed</a:t>
            </a:r>
            <a:r>
              <a:rPr/>
              <a:t> by the learner, </a:t>
            </a:r>
            <a:r>
              <a:rPr i="1"/>
              <a:t>not imposed</a:t>
            </a:r>
          </a:p>
          <a:p>
            <a:pPr lvl="0"/>
            <a:r>
              <a:rPr/>
              <a:t>Learners </a:t>
            </a:r>
            <a:r>
              <a:rPr b="1"/>
              <a:t>bring existing concepts</a:t>
            </a:r>
            <a:r>
              <a:rPr/>
              <a:t> to learning situations</a:t>
            </a:r>
          </a:p>
          <a:p>
            <a:pPr lvl="1"/>
            <a:r>
              <a:rPr/>
              <a:t>Existing ideas need to be </a:t>
            </a:r>
            <a:r>
              <a:rPr b="1"/>
              <a:t>incorporated</a:t>
            </a:r>
            <a:r>
              <a:rPr/>
              <a:t> into teaching in order to challenge/change these</a:t>
            </a:r>
          </a:p>
          <a:p>
            <a:pPr lvl="0"/>
            <a:r>
              <a:rPr/>
              <a:t>Learners construct knowledge </a:t>
            </a:r>
            <a:r>
              <a:rPr b="1"/>
              <a:t>through interaction</a:t>
            </a:r>
            <a:r>
              <a:rPr/>
              <a:t> with physical world/ social settings and within specific cultural/linguistic environments</a:t>
            </a:r>
          </a:p>
          <a:p>
            <a:pPr lvl="1"/>
            <a:r>
              <a:rPr/>
              <a:t>The </a:t>
            </a:r>
            <a:r>
              <a:rPr b="1"/>
              <a:t>learning environment</a:t>
            </a:r>
            <a:r>
              <a:rPr/>
              <a:t> is integrated into the learning process</a:t>
            </a:r>
          </a:p>
          <a:p>
            <a:pPr lvl="0" indent="0" marL="0">
              <a:buNone/>
            </a:pPr>
            <a:r>
              <a:rPr/>
              <a:t>Sjoberg, 2010; Tauber, 2006</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Why use Bloom’s taxonomy in your teaching?</a:t>
            </a:r>
          </a:p>
        </p:txBody>
      </p:sp>
      <p:sp>
        <p:nvSpPr>
          <p:cNvPr id="3" name="Content Placeholder 2"/>
          <p:cNvSpPr>
            <a:spLocks noGrp="1"/>
          </p:cNvSpPr>
          <p:nvPr>
            <p:ph idx="1"/>
          </p:nvPr>
        </p:nvSpPr>
        <p:spPr/>
        <p:txBody>
          <a:bodyPr/>
          <a:lstStyle/>
          <a:p>
            <a:pPr lvl="0"/>
            <a:r>
              <a:rPr/>
              <a:t>To </a:t>
            </a:r>
            <a:r>
              <a:rPr b="1"/>
              <a:t>align</a:t>
            </a:r>
            <a:r>
              <a:rPr/>
              <a:t> teaching with learning objectives by guiding lesson planning, activities, and instructional delivery</a:t>
            </a:r>
          </a:p>
          <a:p>
            <a:pPr lvl="0"/>
            <a:r>
              <a:rPr/>
              <a:t>To support the creation of matching, reliable assessments that target </a:t>
            </a:r>
            <a:r>
              <a:rPr i="1"/>
              <a:t>all</a:t>
            </a:r>
            <a:r>
              <a:rPr/>
              <a:t> levels of understanding (not just memorization)</a:t>
            </a:r>
          </a:p>
          <a:p>
            <a:pPr lvl="0"/>
            <a:r>
              <a:rPr/>
              <a:t>To enhance higher-order thinking (e.g., critical thinking) while improving metacognition, clarifying objectives, and revealing misconceptions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open research: Core didactic principles</dc:title>
  <dc:creator>Sarah von Grebmer</dc:creator>
  <cp:keywords/>
  <dcterms:created xsi:type="dcterms:W3CDTF">2026-05-15T16:07:54Z</dcterms:created>
  <dcterms:modified xsi:type="dcterms:W3CDTF">2026-05-15T16:07:54Z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15/05/2026</vt:lpwstr>
  </property>
  <property fmtid="{D5CDD505-2E9C-101B-9397-08002B2CF9AE}" pid="6" name="date-format">
    <vt:lpwstr>DD/MM/YYYY</vt:lpwstr>
  </property>
  <property fmtid="{D5CDD505-2E9C-101B-9397-08002B2CF9AE}" pid="7" name="engines">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oc-title">
    <vt:lpwstr>Table of contents</vt:lpwstr>
  </property>
</Properties>
</file>