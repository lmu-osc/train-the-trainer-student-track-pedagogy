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That change results from experience and may involve knowledge, skills, attitudes, or approaches to problems. 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a:t>
            </a:r>
          </a:p>
          <a:p>
            <a:pPr lvl="0" indent="0" marL="0">
              <a:buNone/>
            </a:pPr>
          </a:p>
          <a:p>
            <a:pPr lvl="0" indent="0" marL="0">
              <a:buNone/>
            </a:pPr>
            <a:r>
              <a:rPr/>
              <a:t>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a:t>
            </a:r>
          </a:p>
          <a:p>
            <a:pPr lvl="0" indent="0" marL="0">
              <a:buNone/>
            </a:pPr>
          </a:p>
          <a:p>
            <a:pPr lvl="0" indent="0" marL="0">
              <a:buNone/>
            </a:pPr>
            <a:r>
              <a:rPr/>
              <a:t>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(2 mins). Then discuss with your neighbor (2 mins). We will then discuss in the larger group.</a:t>
            </a:r>
          </a:p>
          <a:p>
            <a:pPr lvl="0" indent="0" marL="0">
              <a:buNone/>
            </a:pPr>
          </a:p>
          <a:p>
            <a:pPr lvl="0" indent="0" marL="0">
              <a:buNone/>
            </a:pPr>
            <a:r>
              <a:rPr b="1"/>
              <a:t>Instructor Notes</a:t>
            </a:r>
            <a:r>
              <a:rPr/>
              <a:t>: Ask for interaction from the audience or make it an individual activity. Allow for approx. 6 minutes.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 These quotes here represent the famous conversation between Alice and the Cheshire Cat in Alice in Wonderland. They highlight the importance of having a clear objective before choosing a direction.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broad and interdisciplinary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(Bloom et al., 1964)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 (Anderson &amp; Krathwohl, 2001).</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with learners becoming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a:t>
            </a:r>
          </a:p>
          <a:p>
            <a:pPr lvl="0" indent="0" marL="0">
              <a:buNone/>
            </a:pPr>
          </a:p>
          <a:p>
            <a:pPr lvl="0" indent="0" marL="0">
              <a:buNone/>
            </a:pPr>
            <a:r>
              <a:rPr/>
              <a:t>Valuing: Finds value and worth in one’s learning with motivation to continue.</a:t>
            </a:r>
          </a:p>
          <a:p>
            <a:pPr lvl="0" indent="0" marL="0">
              <a:buNone/>
            </a:pPr>
          </a:p>
          <a:p>
            <a:pPr lvl="0" indent="0" marL="0">
              <a:buNone/>
            </a:pPr>
            <a:r>
              <a:rPr/>
              <a:t>Organizing: Integrates and compares values, resolves conflict between these values, and orders them according to priorities.</a:t>
            </a:r>
          </a:p>
          <a:p>
            <a:pPr lvl="0" indent="0" marL="0">
              <a:buNone/>
            </a:pPr>
          </a:p>
          <a:p>
            <a:pPr lvl="0" indent="0" marL="0">
              <a:buNone/>
            </a:pPr>
            <a:r>
              <a:rPr/>
              <a:t>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a:t>
            </a:r>
          </a:p>
          <a:p>
            <a:pPr lvl="0" indent="0" marL="0">
              <a:buNone/>
            </a:pPr>
          </a:p>
          <a:p>
            <a:pPr lvl="0" indent="0" marL="0">
              <a:buNone/>
            </a:pPr>
            <a:r>
              <a:rPr/>
              <a:t>Bloom’s taxonomy helps instructors create valid and reliable assessments by aligning course learning objectives to any given level of student understanding or proficiency. Crooks (1988)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&amp;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10.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 Id="rId3" Type="http://schemas.openxmlformats.org/officeDocument/2006/relationships/image" Target="../media/image11.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2.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lmu-osc.github.io/introduction-to-zotero/"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641/0006-3568(2006)056[0066:ANMFAC]2.0.CO;2" TargetMode="External" /><Relationship Id="rId4" Type="http://schemas.openxmlformats.org/officeDocument/2006/relationships/hyperlink" Target="https://doi.org/10.18845/rc.v29i1-2020.5258" TargetMode="External" /><Relationship Id="rId5" Type="http://schemas.openxmlformats.org/officeDocument/2006/relationships/hyperlink" Target="https://doi.org/10.3102/00346543058004438" TargetMode="External" /><Relationship Id="rId6" Type="http://schemas.openxmlformats.org/officeDocument/2006/relationships/hyperlink" Target="https://doi.org/10.1007/978-94-007-2150-0_156" TargetMode="External" /><Relationship Id="rId7" Type="http://schemas.openxmlformats.org/officeDocument/2006/relationships/hyperlink" Target="https://doi.org/10.2991/assehr.k.211020.032" TargetMode="External" /><Relationship Id="rId8" Type="http://schemas.openxmlformats.org/officeDocument/2006/relationships/hyperlink" Target="https://doi.org/10.15863/TAS.2020.05.85.146"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Riskulova et al. (2020)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ADD WORDCLOUD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Efgivia et al. (2021), Lovett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 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a:t>
            </a:r>
            <a:r>
              <a:rPr i="1"/>
              <a:t>different from open access</a:t>
            </a:r>
            <a:r>
              <a:rPr/>
              <a:t>).</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3568700" y="482600"/>
            <a:ext cx="5105400" cy="382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3568700" y="444500"/>
            <a:ext cx="51054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buNone/>
            </a:pPr>
            <a:r>
              <a:rPr/>
              <a:t>ADD QR code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a:p>
            <a:pPr lvl="0" indent="0" marL="0">
              <a:spcBef>
                <a:spcPts val="3000"/>
              </a:spcBef>
              <a:buNone/>
            </a:pPr>
            <a:r>
              <a:rPr b="1"/>
              <a:t>Question 2</a:t>
            </a:r>
          </a:p>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a:p>
            <a:pPr lvl="0" indent="0" marL="0">
              <a:spcBef>
                <a:spcPts val="3000"/>
              </a:spcBef>
              <a:buNone/>
            </a:pPr>
            <a:r>
              <a:rPr b="1"/>
              <a:t>Question 3</a:t>
            </a:r>
          </a:p>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Bissell, A. N., &amp; Lemons, P. P. (2006). A new method for assessing critical thinking in the classroom. </a:t>
            </a:r>
            <a:r>
              <a:rPr i="1"/>
              <a:t>BioScience</a:t>
            </a:r>
            <a:r>
              <a:rPr/>
              <a:t>, </a:t>
            </a:r>
            <a:r>
              <a:rPr i="1"/>
              <a:t>56</a:t>
            </a:r>
            <a:r>
              <a:rPr/>
              <a:t>(1), 66–72. </a:t>
            </a:r>
            <a:r>
              <a:rPr>
                <a:hlinkClick r:id="rId3"/>
              </a:rPr>
              <a:t>https://doi.org/10.1641/0006-3568(2006)056[0066:ANMFAC]2.0.CO;2</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4"/>
              </a:rPr>
              <a:t>https://doi.org/10.18845/rc.v29i1-2020.5258</a:t>
            </a:r>
          </a:p>
          <a:p>
            <a:pPr lvl="0" indent="0" marL="0">
              <a:buNone/>
            </a:pPr>
            <a:r>
              <a:rPr/>
              <a:t>Crooks, T. J. (1988). The impact of classroom evaluation practices on students. </a:t>
            </a:r>
            <a:r>
              <a:rPr i="1"/>
              <a:t>Review of Educational Research</a:t>
            </a:r>
            <a:r>
              <a:rPr/>
              <a:t>, </a:t>
            </a:r>
            <a:r>
              <a:rPr i="1"/>
              <a:t>58</a:t>
            </a:r>
            <a:r>
              <a:rPr/>
              <a:t>(4), 438–481. </a:t>
            </a:r>
            <a:r>
              <a:rPr>
                <a:hlinkClick r:id="rId5"/>
              </a:rPr>
              <a:t>https://doi.org/10.3102/00346543058004438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6"/>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7"/>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8"/>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Sjøberg (2010)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TODO</a:t>
            </a:r>
          </a:p>
        </p:txBody>
      </p:sp>
      <p:sp>
        <p:nvSpPr>
          <p:cNvPr id="3" name="Content Placeholder 2"/>
          <p:cNvSpPr>
            <a:spLocks noGrp="1"/>
          </p:cNvSpPr>
          <p:nvPr>
            <p:ph idx="1"/>
          </p:nvPr>
        </p:nvSpPr>
        <p:spPr/>
        <p:txBody>
          <a:bodyPr/>
          <a:lstStyle/>
          <a:p>
            <a:pPr lvl="0"/>
            <a:r>
              <a:rPr/>
              <a:t>☐ Add wordcloud and QR codes</a:t>
            </a:r>
          </a:p>
          <a:p>
            <a:pPr lvl="0"/>
            <a:r>
              <a:rPr/>
              <a:t>☐ Add alt text to all figures</a:t>
            </a:r>
          </a:p>
          <a:p>
            <a:pPr lvl="0"/>
            <a:r>
              <a:rPr/>
              <a:t>☐ Sort out all 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 zu Wolfsthurn</dc:creator>
  <cp:keywords/>
  <dcterms:created xsi:type="dcterms:W3CDTF">2026-08-14T15:43:45Z</dcterms:created>
  <dcterms:modified xsi:type="dcterms:W3CDTF">2026-08-14T15:43:45Z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