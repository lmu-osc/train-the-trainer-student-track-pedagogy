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notesMaster" Target="notesMasters/notesMaster1.xml" /><Relationship Id="rId54" Type="http://schemas.openxmlformats.org/officeDocument/2006/relationships/viewProps" Target="viewProps.xml" /><Relationship Id="rId53" Type="http://schemas.openxmlformats.org/officeDocument/2006/relationships/presProps" Target="presProps.xml" /><Relationship Id="rId1" Type="http://schemas.openxmlformats.org/officeDocument/2006/relationships/slideMaster" Target="slideMasters/slideMaster1.xml" /><Relationship Id="rId56" Type="http://schemas.openxmlformats.org/officeDocument/2006/relationships/tableStyles" Target="tableStyles.xml" /><Relationship Id="rId5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i="1"/>
              <a:t>Instructor Notes</a:t>
            </a:r>
            <a:r>
              <a:rPr/>
              <a:t> There are also </a:t>
            </a:r>
            <a:r>
              <a:rPr b="1"/>
              <a:t>instructor notes</a:t>
            </a:r>
            <a:r>
              <a:rPr/>
              <a:t>. For some slides, there will be pedagogical tips, suggestions for acitivities and troubleshooting tips for issues your audience might run into. You can find these notes underneath the speaker notes.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Before we start, a reminder towards the end of the session, we will be doing an activity where we assess the bibliography in our own work.</a:t>
            </a:r>
          </a:p>
          <a:p>
            <a:pPr lvl="0" indent="0" marL="0">
              <a:buNone/>
            </a:pPr>
          </a:p>
          <a:p>
            <a:pPr lvl="0" indent="0" marL="0">
              <a:buNone/>
            </a:pPr>
            <a:r>
              <a:rPr i="1"/>
              <a:t>Instructor Notes</a:t>
            </a:r>
          </a:p>
          <a:p>
            <a:pPr lvl="0" indent="0" marL="0">
              <a:buNone/>
            </a:pPr>
          </a:p>
          <a:p>
            <a:pPr lvl="0" indent="0" marL="0">
              <a:buNone/>
            </a:pPr>
            <a:r>
              <a:rPr/>
              <a:t>For submodule delivery in person:</a:t>
            </a:r>
          </a:p>
          <a:p>
            <a:pPr lvl="0" indent="0" marL="0">
              <a:buNone/>
            </a:pPr>
          </a:p>
          <a:p>
            <a:pPr lvl="0"/>
            <a:r>
              <a:rPr/>
              <a:t>You will need an account set up with Particify</a:t>
            </a:r>
          </a:p>
          <a:p>
            <a:pPr lvl="0" indent="0" marL="0">
              <a:buNone/>
            </a:pPr>
          </a:p>
          <a:p>
            <a:pPr lvl="0"/>
            <a:r>
              <a:rPr/>
              <a:t>Post it notes and pens</a:t>
            </a:r>
          </a:p>
          <a:p>
            <a:pPr lvl="0" indent="0" marL="0">
              <a:buNone/>
            </a:pPr>
          </a:p>
          <a:p>
            <a:pPr lvl="1" indent="0" marL="342900">
              <a:buNone/>
            </a:pPr>
            <a:r>
              <a:rPr/>
              <a:t>In advance of delivery of submodule:</a:t>
            </a:r>
          </a:p>
          <a:p>
            <a:pPr lvl="0" indent="0" marL="0">
              <a:buNone/>
            </a:pPr>
          </a:p>
          <a:p>
            <a:pPr lvl="0"/>
            <a:r>
              <a:rPr/>
              <a:t>Send out the pre-submodule survey questions to learners using Particify (they will appear between slides X and Y)</a:t>
            </a:r>
          </a:p>
          <a:p>
            <a:pPr lvl="0" indent="0" marL="0">
              <a:buNone/>
            </a:pPr>
          </a:p>
          <a:p>
            <a:pPr lvl="0"/>
            <a:r>
              <a:rPr/>
              <a:t>Remind learners i that they will need to have access to a computer and internet connection and a piece of their own work for GBAT assessment.</a:t>
            </a:r>
          </a:p>
          <a:p>
            <a:pPr lvl="0" indent="0" marL="0">
              <a:buNone/>
            </a:pPr>
          </a:p>
          <a:p>
            <a:pPr lvl="0"/>
            <a:r>
              <a:rPr/>
              <a:t>Their work can be from anywhere (previous schooling, organisation, personal writing project)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Let’s take a look at the results of the short survey that was sent out before class. We will then compare our answers at the end of class.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Here are the results from the survey</a:t>
            </a:r>
          </a:p>
          <a:p>
            <a:pPr lvl="0" indent="0" marL="0">
              <a:buNone/>
            </a:pPr>
          </a:p>
          <a:p>
            <a:pPr lvl="0" indent="0" marL="0">
              <a:buNone/>
            </a:pPr>
            <a:r>
              <a:rPr i="1"/>
              <a:t>Instructor Notes:</a:t>
            </a:r>
          </a:p>
          <a:p>
            <a:pPr lvl="0" indent="0" marL="0">
              <a:buNone/>
            </a:pPr>
          </a:p>
          <a:p>
            <a:pPr lvl="0"/>
            <a:r>
              <a:rPr/>
              <a:t>Briefly examine the answers given to each question interactively with the group</a:t>
            </a:r>
          </a:p>
          <a:p>
            <a:pPr lvl="0" indent="0" marL="0">
              <a:buNone/>
            </a:pPr>
          </a:p>
          <a:p>
            <a:pPr lvl="0"/>
            <a:r>
              <a:rPr/>
              <a:t>Use visuals from the survey to highlight specific answers.</a:t>
            </a:r>
          </a:p>
          <a:p>
            <a:pPr lvl="0" indent="0" marL="0">
              <a:buNone/>
            </a:pPr>
          </a:p>
          <a:p>
            <a:pPr lvl="0"/>
            <a:r>
              <a:rPr/>
              <a:t>Make it clear to the group that there will be a similar post-submodule survey to examine understanding and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The over all of this submodule is to examine the concept of citational politics, its links to knowledge production and dissemination and learn to use some tools and practices for more contentious citations.</a:t>
            </a:r>
          </a:p>
          <a:p>
            <a:pPr lvl="0" indent="0" marL="0">
              <a:buNone/>
            </a:pPr>
          </a:p>
          <a:p>
            <a:pPr lvl="0" indent="0" marL="0">
              <a:buNone/>
            </a:pPr>
            <a:r>
              <a:rPr/>
              <a:t>There are five sections to this submodule where the first two sections focus on the issues and the third and fourth sections focus on solutions.</a:t>
            </a:r>
          </a:p>
          <a:p>
            <a:pPr lvl="0" indent="0" marL="0">
              <a:buNone/>
            </a:pPr>
          </a:p>
          <a:p>
            <a:pPr lvl="0" indent="0" marL="0">
              <a:buNone/>
            </a:pPr>
            <a:r>
              <a:rPr/>
              <a:t>We will end with wrap up session and think about what next.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After completing section 1 you should be able to:</a:t>
            </a:r>
          </a:p>
          <a:p>
            <a:pPr lvl="0" indent="0" marL="0">
              <a:buNone/>
            </a:pPr>
          </a:p>
          <a:p>
            <a:pPr lvl="0"/>
            <a:r>
              <a:rPr b="1"/>
              <a:t>Recognize</a:t>
            </a:r>
            <a:r>
              <a:rPr/>
              <a:t> the social and political context of citations</a:t>
            </a:r>
          </a:p>
          <a:p>
            <a:pPr lvl="0" indent="0" marL="0">
              <a:buNone/>
            </a:pPr>
          </a:p>
          <a:p>
            <a:pPr lvl="0"/>
            <a:r>
              <a:rPr b="1"/>
              <a:t>Explain</a:t>
            </a:r>
            <a:r>
              <a:rPr/>
              <a:t> why citational practices are not neutral</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After completing section 2 you should be able to:</a:t>
            </a:r>
          </a:p>
          <a:p>
            <a:pPr lvl="0" indent="0" marL="0">
              <a:buNone/>
            </a:pPr>
          </a:p>
          <a:p>
            <a:pPr lvl="0"/>
            <a:r>
              <a:rPr b="1"/>
              <a:t>Describe</a:t>
            </a:r>
            <a:r>
              <a:rPr/>
              <a:t> some of the mechanisms and effects of citational inequities</a:t>
            </a:r>
          </a:p>
          <a:p>
            <a:pPr lvl="0" indent="0" marL="0">
              <a:buNone/>
            </a:pPr>
          </a:p>
          <a:p>
            <a:pPr lvl="0"/>
            <a:r>
              <a:rPr b="1"/>
              <a:t>Identify</a:t>
            </a:r>
            <a:r>
              <a:rPr/>
              <a:t> the key principles of citational equity</a:t>
            </a:r>
          </a:p>
          <a:p>
            <a:pPr lvl="0" indent="0" marL="0">
              <a:buNone/>
            </a:pPr>
          </a:p>
          <a:p>
            <a:pPr lvl="0"/>
            <a:r>
              <a:rPr b="1"/>
              <a:t>Give</a:t>
            </a:r>
            <a:r>
              <a:rPr/>
              <a:t> examples of how consequences of citational disparities impact individuals and the research ecosystem</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After completing section 3 you should be able to:</a:t>
            </a:r>
          </a:p>
          <a:p>
            <a:pPr lvl="0" indent="0" marL="0">
              <a:buNone/>
            </a:pPr>
          </a:p>
          <a:p>
            <a:pPr lvl="0"/>
            <a:r>
              <a:rPr b="1"/>
              <a:t>Recognize</a:t>
            </a:r>
            <a:r>
              <a:rPr/>
              <a:t> the main stages of research from ideas to producing a report, essay, journal article</a:t>
            </a:r>
          </a:p>
          <a:p>
            <a:pPr lvl="0" indent="0" marL="0">
              <a:buNone/>
            </a:pPr>
          </a:p>
          <a:p>
            <a:pPr lvl="0"/>
            <a:r>
              <a:rPr/>
              <a:t>Be able to </a:t>
            </a:r>
            <a:r>
              <a:rPr b="1"/>
              <a:t>classify</a:t>
            </a:r>
            <a:r>
              <a:rPr/>
              <a:t> which citational tools and practices can be used during each of the four major research stages: planning, project, paper and publication.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indent="0" marL="0">
              <a:buNone/>
            </a:pPr>
            <a:r>
              <a:rPr/>
              <a:t>After completing section 4 you should be able to:</a:t>
            </a:r>
          </a:p>
          <a:p>
            <a:pPr lvl="0" indent="0" marL="0">
              <a:buNone/>
            </a:pPr>
          </a:p>
          <a:p>
            <a:pPr lvl="0"/>
            <a:r>
              <a:rPr b="1"/>
              <a:t>Assess</a:t>
            </a:r>
            <a:r>
              <a:rPr/>
              <a:t> the gender diversity in a bibliography from your own work.</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indent="0" marL="0">
              <a:buNone/>
            </a:pPr>
            <a:r>
              <a:rPr/>
              <a:t>After completing section 5 you should be able to:</a:t>
            </a:r>
          </a:p>
          <a:p>
            <a:pPr lvl="0" indent="0" marL="0">
              <a:buNone/>
            </a:pPr>
          </a:p>
          <a:p>
            <a:pPr lvl="0"/>
            <a:r>
              <a:rPr b="1"/>
              <a:t>Summarize</a:t>
            </a:r>
            <a:r>
              <a:rPr/>
              <a:t> the key terms relating to citational politics (citations, citational politics, citational cliques)</a:t>
            </a:r>
          </a:p>
          <a:p>
            <a:pPr lvl="0" indent="0" marL="0">
              <a:buNone/>
            </a:pPr>
          </a:p>
          <a:p>
            <a:pPr lvl="0"/>
            <a:r>
              <a:rPr/>
              <a:t>Be able to </a:t>
            </a:r>
            <a:r>
              <a:rPr b="1"/>
              <a:t>explain</a:t>
            </a:r>
            <a:r>
              <a:rPr/>
              <a:t> how to conduct a self-audit of their citation practices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indent="0" marL="0">
              <a:buNone/>
            </a:pPr>
            <a:r>
              <a:rPr/>
              <a:t>We will now do a think-pair-share activity based on a two part question: What are citations, and why do we cite?</a:t>
            </a:r>
          </a:p>
          <a:p>
            <a:pPr lvl="0" indent="0" marL="0">
              <a:buNone/>
            </a:pPr>
          </a:p>
          <a:p>
            <a:pPr lvl="0" indent="0" marL="0">
              <a:buNone/>
            </a:pPr>
            <a:r>
              <a:rPr/>
              <a:t>On your own you will first think about the answer. Then find a partner to discuss your answers before writing out a collective response to the question. We are aiming for a sentence or two answer. Then we will come together and each pair will report back their answers before we discuss as a class.</a:t>
            </a:r>
          </a:p>
          <a:p>
            <a:pPr lvl="0" indent="0" marL="0">
              <a:buNone/>
            </a:pPr>
          </a:p>
          <a:p>
            <a:pPr lvl="0" indent="0" marL="0">
              <a:buNone/>
            </a:pPr>
            <a:r>
              <a:rPr i="1"/>
              <a:t>Instructor Notes:</a:t>
            </a:r>
          </a:p>
          <a:p>
            <a:pPr lvl="0" indent="0" marL="0">
              <a:buNone/>
            </a:pPr>
          </a:p>
          <a:p>
            <a:pPr lvl="0" indent="0" marL="0">
              <a:buNone/>
            </a:pPr>
            <a:r>
              <a:rPr/>
              <a:t>Activity delivery mode:</a:t>
            </a:r>
          </a:p>
          <a:p>
            <a:pPr lvl="0" indent="0" marL="0">
              <a:buNone/>
            </a:pPr>
          </a:p>
          <a:p>
            <a:pPr lvl="0" indent="0" marL="0">
              <a:buNone/>
            </a:pPr>
            <a:r>
              <a:rPr/>
              <a:t>If an in-person class: Learners first think about answers individually. Learners then discuss in pairs their answers and write a collective response on a post it note. Invite learners to explain their answers, one pair at a time. Stick their post it notes answers on the class board.</a:t>
            </a:r>
          </a:p>
          <a:p>
            <a:pPr lvl="0" indent="0" marL="0">
              <a:buNone/>
            </a:pPr>
          </a:p>
          <a:p>
            <a:pPr lvl="0" indent="0" marL="0">
              <a:buNone/>
            </a:pPr>
            <a:r>
              <a:rPr/>
              <a:t>Online class (Zoom): Have learners think independently before discussing answers in pairs in break out rooms. Ask pairs to submit their answer in a pre-prepared Mentimeter and project onto Zoom whiteboard</a:t>
            </a:r>
          </a:p>
          <a:p>
            <a:pPr lvl="0" indent="0" marL="0">
              <a:buNone/>
            </a:pPr>
          </a:p>
          <a:p>
            <a:pPr lvl="0" indent="0" marL="0">
              <a:buNone/>
            </a:pPr>
            <a:r>
              <a:rPr/>
              <a:t>Hybrid class: Particify (requires in person learners to have access to device to participate). Follow steps outlined in online class mode, where in person learners and online learners pair up respectively.</a:t>
            </a:r>
          </a:p>
          <a:p>
            <a:pPr lvl="0" indent="0" marL="0">
              <a:buNone/>
            </a:pPr>
          </a:p>
          <a:p>
            <a:pPr lvl="0" indent="0" marL="0">
              <a:buNone/>
            </a:pPr>
            <a:r>
              <a:rPr i="1"/>
              <a:t>Accessibility tip:</a:t>
            </a:r>
            <a:r>
              <a:rPr/>
              <a:t>Explain to learners why the tasks are designed the way they are (link to learning objectives). Setting out expectations of the class should increase engagement (e.g. improved note taking and in class discussions)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In everyday life we use citations, perhaps without realizing, for example verbal citations “X said this y”.</a:t>
            </a:r>
          </a:p>
          <a:p>
            <a:pPr lvl="0" indent="0" marL="0">
              <a:buNone/>
            </a:pPr>
          </a:p>
          <a:p>
            <a:pPr lvl="0" indent="0" marL="0">
              <a:buNone/>
            </a:pPr>
            <a:r>
              <a:rPr/>
              <a:t>This is the basis for the basic definition of a citation: a reference to an information source, where the original author is given credit.</a:t>
            </a:r>
          </a:p>
          <a:p>
            <a:pPr lvl="0" indent="0" marL="0">
              <a:buNone/>
            </a:pPr>
          </a:p>
          <a:p>
            <a:pPr lvl="0" indent="0" marL="0">
              <a:buNone/>
            </a:pPr>
            <a:r>
              <a:rPr/>
              <a:t>But citations are more than referencing an information source</a:t>
            </a:r>
          </a:p>
          <a:p>
            <a:pPr lvl="0" indent="0" marL="0">
              <a:buNone/>
            </a:pPr>
          </a:p>
          <a:p>
            <a:pPr lvl="0" indent="0" marL="0">
              <a:buNone/>
            </a:pPr>
            <a:r>
              <a:rPr/>
              <a:t>In the current academic system, patterns of citations reflect dominant world views (Western, racialized white men, Anglophone, non-disabled, higher socio-economic status)</a:t>
            </a:r>
          </a:p>
          <a:p>
            <a:pPr lvl="0" indent="0" marL="0">
              <a:buNone/>
            </a:pPr>
          </a:p>
          <a:p>
            <a:pPr lvl="0" indent="0" marL="0">
              <a:buNone/>
            </a:pPr>
            <a:r>
              <a:rPr/>
              <a:t>How and who we cite informs what type of knowledge we value and whose knowledge we platform</a:t>
            </a:r>
          </a:p>
          <a:p>
            <a:pPr lvl="0" indent="0" marL="0">
              <a:buNone/>
            </a:pPr>
          </a:p>
          <a:p>
            <a:pPr lvl="0" indent="0" marL="0">
              <a:buNone/>
            </a:pPr>
            <a:r>
              <a:rPr i="1"/>
              <a:t>Instructor Notes:</a:t>
            </a:r>
            <a:r>
              <a:rPr/>
              <a:t> Link definition presented here to answers learners gave in the warm up question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a:r>
              <a:rPr/>
              <a:t>We can map knowledge relationships made up of nodes that link together using Bibliometric analyses</a:t>
            </a:r>
          </a:p>
          <a:p>
            <a:pPr lvl="0" indent="0" marL="0">
              <a:buNone/>
            </a:pPr>
          </a:p>
          <a:p>
            <a:pPr lvl="0"/>
            <a:r>
              <a:rPr/>
              <a:t>This colorful network maps out citations of documents relating to the medical field of Coronary microvascular dysfunction. Different color indicates different clusters. The size of the nodes represents the counts of citations. The distance between the two nodes indicates their correlation.</a:t>
            </a:r>
          </a:p>
          <a:p>
            <a:pPr lvl="0" indent="0" marL="0">
              <a:buNone/>
            </a:pPr>
          </a:p>
          <a:p>
            <a:pPr lvl="0"/>
            <a:r>
              <a:rPr/>
              <a:t>We can also see how these knowledge maps change through time</a:t>
            </a:r>
          </a:p>
          <a:p>
            <a:pPr lvl="0" indent="0" marL="0">
              <a:buNone/>
            </a:pPr>
          </a:p>
          <a:p>
            <a:pPr lvl="0"/>
            <a:r>
              <a:rPr/>
              <a:t>This particular figure was made using VosViewer</a:t>
            </a:r>
          </a:p>
          <a:p>
            <a:pPr lvl="0" indent="0" marL="0">
              <a:buNone/>
            </a:pPr>
          </a:p>
          <a:p>
            <a:pPr lvl="0" indent="0" marL="0">
              <a:buNone/>
            </a:pPr>
            <a:r>
              <a:rPr i="1"/>
              <a:t>Instructor Notes:</a:t>
            </a:r>
          </a:p>
          <a:p>
            <a:pPr lvl="0" indent="0" marL="0">
              <a:buNone/>
            </a:pPr>
          </a:p>
          <a:p>
            <a:pPr lvl="0"/>
            <a:r>
              <a:rPr/>
              <a:t>To add an interactive element to this slide you can ask learners to guess which paper is cited the most based on figure from Lin </a:t>
            </a:r>
            <a:r>
              <a:rPr i="1"/>
              <a:t>et al.</a:t>
            </a:r>
            <a:r>
              <a:rPr/>
              <a:t> (2022). Answer is the largest node labelled as “paulus (2023)” - the red one on the top left of the image.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a:r>
              <a:rPr/>
              <a:t>As we saw with the example knowledge map, it is evident when we see a highly cited paper.</a:t>
            </a:r>
          </a:p>
          <a:p>
            <a:pPr lvl="0" indent="0" marL="0">
              <a:buNone/>
            </a:pPr>
          </a:p>
          <a:p>
            <a:pPr lvl="0"/>
            <a:r>
              <a:rPr/>
              <a:t>Citations reflect </a:t>
            </a:r>
            <a:r>
              <a:rPr i="1"/>
              <a:t>choices</a:t>
            </a:r>
            <a:r>
              <a:rPr/>
              <a:t> scholars make in who they cite and who they overlook in their work.</a:t>
            </a:r>
          </a:p>
          <a:p>
            <a:pPr lvl="0" indent="0" marL="0">
              <a:buNone/>
            </a:pPr>
          </a:p>
          <a:p>
            <a:pPr lvl="0"/>
            <a:r>
              <a:rPr/>
              <a:t>It is just not about merit - there are inherent </a:t>
            </a:r>
            <a:r>
              <a:rPr i="1"/>
              <a:t>biases</a:t>
            </a:r>
            <a:r>
              <a:rPr/>
              <a:t> and </a:t>
            </a:r>
            <a:r>
              <a:rPr i="1"/>
              <a:t>systemic inequalities</a:t>
            </a:r>
            <a:r>
              <a:rPr/>
              <a:t> that result in epistemic hierarchies – that is the recognition and legitimization of </a:t>
            </a:r>
            <a:r>
              <a:rPr i="1"/>
              <a:t>dominant</a:t>
            </a:r>
            <a:r>
              <a:rPr/>
              <a:t> world views at the </a:t>
            </a:r>
            <a:r>
              <a:rPr i="1"/>
              <a:t>exclusion</a:t>
            </a:r>
            <a:r>
              <a:rPr/>
              <a:t> of others knowledge systems (Sauve </a:t>
            </a:r>
            <a:r>
              <a:rPr i="1"/>
              <a:t>et al.,</a:t>
            </a:r>
            <a:r>
              <a:rPr/>
              <a:t> 2025).</a:t>
            </a:r>
          </a:p>
          <a:p>
            <a:pPr lvl="0" indent="0" marL="0">
              <a:buNone/>
            </a:pPr>
          </a:p>
          <a:p>
            <a:pPr lvl="0"/>
            <a:r>
              <a:rPr/>
              <a:t>In the next section we will look at citation politics in more detail</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For students who advance faster: Prepare extra exercises.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orcid.org/0000-0001-5307-8029" TargetMode="External" /><Relationship Id="rId4" Type="http://schemas.openxmlformats.org/officeDocument/2006/relationships/hyperlink" Target="https://creativecommons.org/licenses/by/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jlsumner.shinyapps.io/syllabustool/"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SvonGrebmer/Template-Slides-Students" TargetMode="External" /><Relationship Id="rId3" Type="http://schemas.openxmlformats.org/officeDocument/2006/relationships/hyperlink" Target="https://creativecommons.org/licenses/by/4.0/"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Citation Politics: what is it and why should we care?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Sara Lil Middleton</a:t>
            </a:r>
          </a:p>
        </p:txBody>
      </p:sp>
      <p:sp>
        <p:nvSpPr>
          <p:cNvPr id="4" name="Date Placeholder 3"/>
          <p:cNvSpPr>
            <a:spLocks noGrp="1"/>
          </p:cNvSpPr>
          <p:nvPr>
            <p:ph idx="10" sz="half" type="dt"/>
          </p:nvPr>
        </p:nvSpPr>
        <p:spPr/>
        <p:txBody>
          <a:bodyPr/>
          <a:lstStyle/>
          <a:p>
            <a:pPr lvl="0" indent="0" marL="0">
              <a:buNone/>
            </a:pPr>
            <a:r>
              <a:rPr/>
              <a:t>15/02/2026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Contributor statement and licence</a:t>
            </a:r>
          </a:p>
          <a:p>
            <a:pPr lvl="0" indent="0" marL="0">
              <a:buNone/>
            </a:pPr>
            <a:r>
              <a:rPr b="1"/>
              <a:t>Created by:</a:t>
            </a:r>
            <a:r>
              <a:rPr/>
              <a:t> Sara Lil Middleton </a:t>
            </a:r>
            <a:r>
              <a:rPr i="1">
                <a:hlinkClick r:id="rId3"/>
              </a:rPr>
              <a:t>0000-0001-5307-8029</a:t>
            </a:r>
          </a:p>
          <a:p>
            <a:pPr lvl="0" indent="0" marL="0">
              <a:buNone/>
            </a:pPr>
            <a:r>
              <a:rPr b="1"/>
              <a:t>Reviewed by:</a:t>
            </a:r>
            <a:r>
              <a:rPr/>
              <a:t> Sarah von Grebmer zu Wolfsthurn</a:t>
            </a:r>
          </a:p>
          <a:p>
            <a:pPr lvl="0" indent="0" marL="0">
              <a:buNone/>
            </a:pPr>
            <a:r>
              <a:rPr b="1"/>
              <a:t>Acknowledgements:</a:t>
            </a:r>
            <a:r>
              <a:rPr/>
              <a:t> Flavio Azevedo</a:t>
            </a:r>
          </a:p>
          <a:p>
            <a:pPr lvl="0" indent="0" marL="0">
              <a:buNone/>
            </a:pPr>
            <a:r>
              <a:rPr/>
              <a:t> </a:t>
            </a:r>
          </a:p>
          <a:p>
            <a:pPr lvl="0" indent="0" marL="0">
              <a:buNone/>
            </a:pPr>
            <a:r>
              <a:rPr/>
              <a:t>This work by Sara Lil Middleton and Sarah von Grebmer zu Wolfsthurn is licensed under a CC-BY 4.0 </a:t>
            </a:r>
            <a:r>
              <a:rPr>
                <a:hlinkClick r:id="rId4"/>
              </a:rPr>
              <a:t>Creative Commons Attribution 4.0 International License</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necessary prerequisites.</a:t>
            </a:r>
          </a:p>
          <a:p>
            <a:pPr lvl="0"/>
            <a:r>
              <a:rPr/>
              <a:t>You will need access to a piece of your </a:t>
            </a:r>
            <a:r>
              <a:rPr b="1"/>
              <a:t>own work</a:t>
            </a:r>
            <a:r>
              <a:rPr/>
              <a:t> (a report, essay, journal article, blogpost, presentation) containing a </a:t>
            </a:r>
            <a:r>
              <a:rPr b="1"/>
              <a:t>bibliography</a:t>
            </a:r>
            <a:r>
              <a:rPr/>
              <a:t> with </a:t>
            </a:r>
            <a:r>
              <a:rPr b="1"/>
              <a:t>10 or more references</a:t>
            </a:r>
            <a:r>
              <a:rPr/>
              <a:t>, preferably in </a:t>
            </a:r>
            <a:r>
              <a:rPr b="1"/>
              <a:t>.bib</a:t>
            </a:r>
            <a:r>
              <a:rPr/>
              <a:t> or </a:t>
            </a:r>
            <a:r>
              <a:rPr b="1"/>
              <a:t>.txt</a:t>
            </a:r>
            <a:r>
              <a:rPr/>
              <a:t> file format (this is needed for the </a:t>
            </a:r>
            <a:r>
              <a:rPr>
                <a:hlinkClick r:id="rId3"/>
              </a:rPr>
              <a:t>GBAT assessment</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Results of survey!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a:t>
            </a:r>
            <a:r>
              <a:rPr b="1" i="1"/>
              <a:t>familiar</a:t>
            </a:r>
            <a:r>
              <a:rPr b="1"/>
              <a:t> are you with the concept of citational politics?</a:t>
            </a:r>
          </a:p>
          <a:p>
            <a:pPr lvl="0" indent="0" marL="0">
              <a:buNone/>
            </a:pPr>
            <a:r>
              <a:rPr b="1"/>
              <a:t>Scale 1 to 5: 1 = never heard of it, 5 = extensive knowledge.</a:t>
            </a:r>
          </a:p>
          <a:p>
            <a:pPr lvl="0" indent="-342900" marL="342900">
              <a:buAutoNum type="arabicPeriod"/>
            </a:pPr>
            <a:r>
              <a:rPr/>
              <a:t>Never heard of it</a:t>
            </a:r>
          </a:p>
          <a:p>
            <a:pPr lvl="0" indent="-342900" marL="342900">
              <a:buAutoNum type="arabicPeriod"/>
            </a:pPr>
            <a:r>
              <a:rPr/>
              <a:t>Basic knowledge, but cannot describe in detail</a:t>
            </a:r>
          </a:p>
          <a:p>
            <a:pPr lvl="0" indent="-342900" marL="342900">
              <a:buAutoNum type="arabicPeriod"/>
            </a:pPr>
            <a:r>
              <a:rPr/>
              <a:t>Some knowledge and can discuss</a:t>
            </a:r>
          </a:p>
          <a:p>
            <a:pPr lvl="0" indent="-342900" marL="342900">
              <a:buAutoNum type="arabicPeriod"/>
            </a:pPr>
            <a:r>
              <a:rPr/>
              <a:t>Some knowledge, can discuss and relate to with other issues</a:t>
            </a:r>
          </a:p>
          <a:p>
            <a:pPr lvl="0" indent="-342900" marL="342900">
              <a:buAutoNum type="arabicPeriod"/>
            </a:pPr>
            <a:r>
              <a:rPr/>
              <a:t>Extensive knowledge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would you rate your </a:t>
            </a:r>
            <a:r>
              <a:rPr b="1" i="1"/>
              <a:t>confidence</a:t>
            </a:r>
            <a:r>
              <a:rPr b="1"/>
              <a:t> to carry out an audit of your citational practices on your work?</a:t>
            </a:r>
          </a:p>
          <a:p>
            <a:pPr lvl="0" indent="0" marL="0">
              <a:buNone/>
            </a:pPr>
            <a:r>
              <a:rPr b="1"/>
              <a:t>Scale 1 to 5: 1 = Not confident at all , 5 = Completely confident)</a:t>
            </a:r>
          </a:p>
          <a:p>
            <a:pPr lvl="0" indent="-342900" marL="342900">
              <a:buAutoNum type="arabicPeriod"/>
            </a:pPr>
            <a:r>
              <a:rPr/>
              <a:t>Not confident at all</a:t>
            </a:r>
          </a:p>
          <a:p>
            <a:pPr lvl="0" indent="-342900" marL="342900">
              <a:buAutoNum type="arabicPeriod"/>
            </a:pPr>
            <a:r>
              <a:rPr/>
              <a:t>Slightly confident</a:t>
            </a:r>
          </a:p>
          <a:p>
            <a:pPr lvl="0" indent="-342900" marL="342900">
              <a:buAutoNum type="arabicPeriod"/>
            </a:pPr>
            <a:r>
              <a:rPr/>
              <a:t>Somewhat confident</a:t>
            </a:r>
          </a:p>
          <a:p>
            <a:pPr lvl="0" indent="-342900" marL="342900">
              <a:buAutoNum type="arabicPeriod"/>
            </a:pPr>
            <a:r>
              <a:rPr/>
              <a:t>Very confident</a:t>
            </a:r>
          </a:p>
          <a:p>
            <a:pPr lvl="0" indent="-342900" marL="342900">
              <a:buAutoNum type="arabicPeriod"/>
            </a:pPr>
            <a:r>
              <a:rPr/>
              <a:t>Completely confident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List three adjectives that you expect or hope to </a:t>
            </a:r>
            <a:r>
              <a:rPr b="1" i="1"/>
              <a:t>feel</a:t>
            </a:r>
            <a:r>
              <a:rPr b="1"/>
              <a:t> at the end of the class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Aim and overview of submodule</a:t>
            </a:r>
          </a:p>
          <a:p>
            <a:pPr lvl="0" indent="0" marL="0">
              <a:buNone/>
            </a:pPr>
            <a:r>
              <a:rPr b="1"/>
              <a:t>Aim</a:t>
            </a:r>
            <a:r>
              <a:rPr/>
              <a:t>: Examine the concept of citational politics, its links to knowledge production and dissemination and learn to use some tools and practices for more contentious citations. </a:t>
            </a:r>
          </a:p>
          <a:p>
            <a:pPr lvl="0" indent="0" marL="0">
              <a:buNone/>
            </a:pPr>
            <a:r>
              <a:rPr/>
              <a:t>There are </a:t>
            </a:r>
            <a:r>
              <a:rPr b="1"/>
              <a:t>five</a:t>
            </a:r>
            <a:r>
              <a:rPr/>
              <a:t> sections to this submodule:</a:t>
            </a:r>
          </a:p>
          <a:p>
            <a:pPr lvl="0"/>
            <a:r>
              <a:rPr b="1"/>
              <a:t>Section 1</a:t>
            </a:r>
            <a:r>
              <a:rPr/>
              <a:t>: Introduction and pre-submodule survey</a:t>
            </a:r>
          </a:p>
          <a:p>
            <a:pPr lvl="0"/>
            <a:r>
              <a:rPr b="1"/>
              <a:t>Section 2:</a:t>
            </a:r>
            <a:r>
              <a:rPr/>
              <a:t> Citation politics: the mechanisms and consequence of citational inequities</a:t>
            </a:r>
          </a:p>
          <a:p>
            <a:pPr lvl="0"/>
            <a:r>
              <a:rPr b="1"/>
              <a:t>Section 3:</a:t>
            </a:r>
            <a:r>
              <a:rPr/>
              <a:t> When should we think about citations?</a:t>
            </a:r>
          </a:p>
          <a:p>
            <a:pPr lvl="0"/>
            <a:r>
              <a:rPr b="1"/>
              <a:t>Section 4:</a:t>
            </a:r>
            <a:r>
              <a:rPr/>
              <a:t> Conducting a citational self-audit</a:t>
            </a:r>
          </a:p>
          <a:p>
            <a:pPr lvl="0"/>
            <a:r>
              <a:rPr b="1"/>
              <a:t>Section 5:</a:t>
            </a:r>
            <a:r>
              <a:rPr/>
              <a:t> Wrap up and what can we do to move towards citational equity?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1: Learning goals and overview</a:t>
            </a:r>
          </a:p>
          <a:p>
            <a:pPr lvl="0" indent="0" marL="0">
              <a:buNone/>
            </a:pPr>
            <a:r>
              <a:rPr/>
              <a:t>Section 1 is all about learning the key terms and definitions and to get you thinking about the </a:t>
            </a:r>
            <a:r>
              <a:rPr i="1"/>
              <a:t>what</a:t>
            </a:r>
            <a:r>
              <a:rPr/>
              <a:t> and the </a:t>
            </a:r>
            <a:r>
              <a:rPr i="1"/>
              <a:t>why</a:t>
            </a:r>
            <a:r>
              <a:rPr/>
              <a:t> of citations.</a:t>
            </a:r>
          </a:p>
          <a:p>
            <a:pPr lvl="0" indent="0" marL="0">
              <a:buNone/>
            </a:pPr>
            <a:r>
              <a:rPr/>
              <a:t>Activity: “Think-pair-share” discussions</a:t>
            </a:r>
          </a:p>
          <a:p>
            <a:pPr lvl="0" indent="0" marL="0">
              <a:buNone/>
            </a:pPr>
            <a:r>
              <a:rPr/>
              <a:t>After completing section 1 you should be able to:</a:t>
            </a:r>
          </a:p>
          <a:p>
            <a:pPr lvl="0"/>
            <a:r>
              <a:rPr b="1"/>
              <a:t>Recognize</a:t>
            </a:r>
            <a:r>
              <a:rPr/>
              <a:t> the social and political context of citations</a:t>
            </a:r>
          </a:p>
          <a:p>
            <a:pPr lvl="0"/>
            <a:r>
              <a:rPr b="1"/>
              <a:t>Explain</a:t>
            </a:r>
            <a:r>
              <a:rPr/>
              <a:t> why citational practices are not neutral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2: Learning goals and overview</a:t>
            </a:r>
          </a:p>
          <a:p>
            <a:pPr lvl="0" indent="0" marL="0">
              <a:buNone/>
            </a:pPr>
            <a:r>
              <a:rPr/>
              <a:t>In Section 2 we will examine the </a:t>
            </a:r>
            <a:r>
              <a:rPr i="1"/>
              <a:t>mechanisms</a:t>
            </a:r>
            <a:r>
              <a:rPr/>
              <a:t> and </a:t>
            </a:r>
            <a:r>
              <a:rPr i="1"/>
              <a:t>consequences</a:t>
            </a:r>
            <a:r>
              <a:rPr/>
              <a:t> of citational inequities.</a:t>
            </a:r>
          </a:p>
          <a:p>
            <a:pPr lvl="0" indent="0" marL="0">
              <a:buNone/>
            </a:pPr>
            <a:r>
              <a:rPr/>
              <a:t>Activity: Pass the discussion (ball)</a:t>
            </a:r>
          </a:p>
          <a:p>
            <a:pPr lvl="0" indent="0" marL="0">
              <a:buNone/>
            </a:pPr>
            <a:r>
              <a:rPr/>
              <a:t>After completing Section 2 you should be able to:</a:t>
            </a:r>
          </a:p>
          <a:p>
            <a:pPr lvl="0"/>
            <a:r>
              <a:rPr b="1"/>
              <a:t>Describe</a:t>
            </a:r>
            <a:r>
              <a:rPr/>
              <a:t> some of the mechanisms and effects of citational inequities</a:t>
            </a:r>
          </a:p>
          <a:p>
            <a:pPr lvl="0"/>
            <a:r>
              <a:rPr b="1"/>
              <a:t>Identify</a:t>
            </a:r>
            <a:r>
              <a:rPr/>
              <a:t> the key principles of citational equity</a:t>
            </a:r>
          </a:p>
          <a:p>
            <a:pPr lvl="0"/>
            <a:r>
              <a:rPr b="1"/>
              <a:t>Give</a:t>
            </a:r>
            <a:r>
              <a:rPr/>
              <a:t> examples of how consequences of citational disparities impact individuals and the research ecosystem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3: Learning goals and overview</a:t>
            </a:r>
          </a:p>
          <a:p>
            <a:pPr lvl="0" indent="0" marL="0">
              <a:buNone/>
            </a:pPr>
            <a:r>
              <a:rPr/>
              <a:t>Section 3 looks at which stages in our work we should think about citations.</a:t>
            </a:r>
          </a:p>
          <a:p>
            <a:pPr lvl="0" indent="0" marL="0">
              <a:buNone/>
            </a:pPr>
            <a:r>
              <a:rPr/>
              <a:t>Activity: 4 corners (small group discussions)</a:t>
            </a:r>
          </a:p>
          <a:p>
            <a:pPr lvl="0" indent="0" marL="0">
              <a:buNone/>
            </a:pPr>
            <a:r>
              <a:rPr/>
              <a:t>After completing Section 3 you should be able to:</a:t>
            </a:r>
          </a:p>
          <a:p>
            <a:pPr lvl="0"/>
            <a:r>
              <a:rPr b="1"/>
              <a:t>Recognize</a:t>
            </a:r>
            <a:r>
              <a:rPr/>
              <a:t> the main stages of research from ideas to producing a report, essay, journal article</a:t>
            </a:r>
          </a:p>
          <a:p>
            <a:pPr lvl="0"/>
            <a:r>
              <a:rPr/>
              <a:t>Be able to </a:t>
            </a:r>
            <a:r>
              <a:rPr b="1"/>
              <a:t>classify</a:t>
            </a:r>
            <a:r>
              <a:rPr/>
              <a:t> which citational tools and practices can be used during each of the four major research stages: planning, project, paper and publication.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4: Learning goals and overview</a:t>
            </a:r>
          </a:p>
          <a:p>
            <a:pPr lvl="0" indent="0" marL="0">
              <a:buNone/>
            </a:pPr>
            <a:r>
              <a:rPr/>
              <a:t>Section 4 is all about putting to practice what you have learned and conducting your own citational self-audit!</a:t>
            </a:r>
          </a:p>
          <a:p>
            <a:pPr lvl="0" indent="0" marL="0">
              <a:buNone/>
            </a:pPr>
            <a:r>
              <a:rPr/>
              <a:t>Activity: Citational self-audit for gender diversity</a:t>
            </a:r>
          </a:p>
          <a:p>
            <a:pPr lvl="0" indent="0" marL="0">
              <a:buNone/>
            </a:pPr>
            <a:r>
              <a:rPr/>
              <a:t>After completing Section 4 you should be able to:</a:t>
            </a:r>
          </a:p>
          <a:p>
            <a:pPr lvl="0"/>
            <a:r>
              <a:rPr b="1"/>
              <a:t>Assess</a:t>
            </a:r>
            <a:r>
              <a:rPr/>
              <a:t> the gender diversity in a bibliography from your own work.</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5: Learning goals and overview</a:t>
            </a:r>
          </a:p>
          <a:p>
            <a:pPr lvl="0" indent="0" marL="0">
              <a:buNone/>
            </a:pPr>
            <a:r>
              <a:rPr/>
              <a:t>In the last section (5) we will recap the previous sections</a:t>
            </a:r>
          </a:p>
          <a:p>
            <a:pPr lvl="0" indent="0" marL="0">
              <a:buNone/>
            </a:pPr>
            <a:r>
              <a:rPr/>
              <a:t>Activity: End of submodule quiz (open book)</a:t>
            </a:r>
          </a:p>
          <a:p>
            <a:pPr lvl="0" indent="0" marL="0">
              <a:buNone/>
            </a:pPr>
            <a:r>
              <a:rPr/>
              <a:t>After completing Section 5 you should be able to:</a:t>
            </a:r>
          </a:p>
          <a:p>
            <a:pPr lvl="0"/>
            <a:r>
              <a:rPr b="1"/>
              <a:t>Summarize</a:t>
            </a:r>
            <a:r>
              <a:rPr/>
              <a:t> the key terms relating to citational politics (citations, citational politics, citational cliques)</a:t>
            </a:r>
          </a:p>
          <a:p>
            <a:pPr lvl="0"/>
            <a:r>
              <a:rPr/>
              <a:t>Be able to </a:t>
            </a:r>
            <a:r>
              <a:rPr b="1"/>
              <a:t>explain</a:t>
            </a:r>
            <a:r>
              <a:rPr/>
              <a:t> how to conduct a self-audit of their citation practices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Warm up question to get us started!</a:t>
            </a:r>
          </a:p>
          <a:p>
            <a:pPr lvl="0" indent="0" marL="0">
              <a:buNone/>
            </a:pPr>
            <a:r>
              <a:rPr b="1"/>
              <a:t>What are citations, and why do we cite?</a:t>
            </a:r>
          </a:p>
          <a:p>
            <a:pPr lvl="0" indent="-342900" marL="342900">
              <a:buAutoNum type="arabicPeriod"/>
            </a:pPr>
            <a:r>
              <a:rPr i="1"/>
              <a:t>think</a:t>
            </a:r>
            <a:r>
              <a:rPr/>
              <a:t> about answer on your own</a:t>
            </a:r>
          </a:p>
          <a:p>
            <a:pPr lvl="0" indent="-342900" marL="342900">
              <a:buAutoNum type="arabicPeriod"/>
            </a:pPr>
            <a:r>
              <a:rPr i="1"/>
              <a:t>discuss</a:t>
            </a:r>
            <a:r>
              <a:rPr/>
              <a:t> answer with neighbor and </a:t>
            </a:r>
            <a:r>
              <a:rPr i="1"/>
              <a:t>write</a:t>
            </a:r>
            <a:r>
              <a:rPr/>
              <a:t> out a joint answer</a:t>
            </a:r>
          </a:p>
          <a:p>
            <a:pPr lvl="0" indent="-342900" marL="342900">
              <a:buAutoNum type="arabicPeriod"/>
            </a:pPr>
            <a:r>
              <a:rPr/>
              <a:t>we will </a:t>
            </a:r>
            <a:r>
              <a:rPr i="1"/>
              <a:t>share</a:t>
            </a:r>
            <a:r>
              <a:rPr/>
              <a:t> our answers in class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are citations?</a:t>
            </a:r>
          </a:p>
          <a:p>
            <a:pPr lvl="0" indent="0" marL="1270000">
              <a:buNone/>
            </a:pPr>
            <a:r>
              <a:rPr sz="2000" b="1"/>
              <a:t>Definition</a:t>
            </a:r>
          </a:p>
          <a:p>
            <a:pPr lvl="0"/>
            <a:r>
              <a:rPr sz="2000"/>
              <a:t>A reference to an information </a:t>
            </a:r>
            <a:r>
              <a:rPr sz="2000" i="1"/>
              <a:t>source</a:t>
            </a:r>
            <a:r>
              <a:rPr sz="2000"/>
              <a:t>, where the original author is given </a:t>
            </a:r>
            <a:r>
              <a:rPr sz="2000" i="1"/>
              <a:t>credit</a:t>
            </a:r>
            <a:r>
              <a:rPr sz="2000"/>
              <a:t>.</a:t>
            </a:r>
          </a:p>
          <a:p>
            <a:pPr lvl="0"/>
            <a:r>
              <a:rPr sz="2000"/>
              <a:t>Citations map out the lineage of ideas upon which scholarship is built and informs what knowledge we </a:t>
            </a:r>
            <a:r>
              <a:rPr sz="2000" i="1"/>
              <a:t>value</a:t>
            </a:r>
            <a:r>
              <a:rPr sz="2000"/>
              <a:t> and whose knowledge we </a:t>
            </a:r>
            <a:r>
              <a:rPr sz="2000" i="1"/>
              <a:t>platform</a:t>
            </a:r>
            <a:r>
              <a:rPr sz="2000"/>
              <a:t>.</a:t>
            </a:r>
          </a:p>
          <a:p>
            <a:pPr lvl="0"/>
            <a:r>
              <a:rPr sz="2000"/>
              <a:t>Citations are a key </a:t>
            </a:r>
            <a:r>
              <a:rPr sz="2000" i="1"/>
              <a:t>currency</a:t>
            </a:r>
            <a:r>
              <a:rPr sz="2000"/>
              <a:t> in academia where more citations equal more </a:t>
            </a:r>
            <a:r>
              <a:rPr sz="2000" i="1"/>
              <a:t>prestige</a:t>
            </a:r>
            <a:r>
              <a:rPr sz="2000"/>
              <a:t> (e.g. H index) (Sauve </a:t>
            </a:r>
            <a:r>
              <a:rPr sz="2000" i="1"/>
              <a:t>et al.,</a:t>
            </a:r>
            <a:r>
              <a:rPr sz="2000"/>
              <a:t> 2025).</a:t>
            </a:r>
          </a:p>
          <a:p>
            <a:pPr lvl="0" indent="0" marL="0">
              <a:buNone/>
            </a:pPr>
            <a:r>
              <a:rPr/>
              <a:t>For example, this definition cites work by Sauve and colleagues from 2025 where the full reference will appear in the bibliography at the end.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Citations as a knowledge map</a:t>
            </a:r>
          </a:p>
          <a:p>
            <a:pPr lvl="0"/>
            <a:r>
              <a:rPr i="1"/>
              <a:t>Bibliometric</a:t>
            </a:r>
            <a:r>
              <a:rPr/>
              <a:t> analyses reveal patterns in citation practices (e.g. most cited papers or scholars)</a:t>
            </a:r>
          </a:p>
          <a:p>
            <a:pPr lvl="0"/>
            <a:r>
              <a:rPr/>
              <a:t>A </a:t>
            </a:r>
            <a:r>
              <a:rPr i="1"/>
              <a:t>node</a:t>
            </a:r>
            <a:r>
              <a:rPr/>
              <a:t> is like a busy urban center that is linked to other nodes via highways, where several nodes can form </a:t>
            </a:r>
            <a:r>
              <a:rPr i="1"/>
              <a:t>clusters</a:t>
            </a:r>
          </a:p>
          <a:p>
            <a:pPr lvl="0"/>
            <a:r>
              <a:rPr/>
              <a:t>Example: the Changning, Hongkou, Yangpu districts (</a:t>
            </a:r>
            <a:r>
              <a:rPr i="1"/>
              <a:t>nodes</a:t>
            </a:r>
            <a:r>
              <a:rPr/>
              <a:t>) have closer </a:t>
            </a:r>
            <a:r>
              <a:rPr i="1"/>
              <a:t>links</a:t>
            </a:r>
            <a:r>
              <a:rPr/>
              <a:t> forming city of Shanghai (</a:t>
            </a:r>
            <a:r>
              <a:rPr i="1"/>
              <a:t>cluster</a:t>
            </a:r>
            <a:r>
              <a:rPr/>
              <a:t>) compared to districts in Jiaxing &gt;100 km away</a:t>
            </a:r>
          </a:p>
          <a:p>
            <a:pPr lvl="0"/>
            <a:r>
              <a:rPr/>
              <a:t>Figure adapted Lin </a:t>
            </a:r>
            <a:r>
              <a:rPr i="1"/>
              <a:t>et al.</a:t>
            </a:r>
            <a:r>
              <a:rPr/>
              <a:t> (2022)</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Citations as a politic</a:t>
            </a:r>
          </a:p>
          <a:p>
            <a:pPr lvl="0" indent="0" marL="0">
              <a:buNone/>
            </a:pPr>
            <a:r>
              <a:rPr/>
              <a:t>Citations are more than a technical formality.</a:t>
            </a:r>
          </a:p>
          <a:p>
            <a:pPr lvl="0" indent="0" marL="1270000">
              <a:buNone/>
            </a:pPr>
            <a:r>
              <a:rPr sz="2000" b="1"/>
              <a:t>Definition</a:t>
            </a:r>
          </a:p>
          <a:p>
            <a:pPr lvl="0"/>
            <a:r>
              <a:rPr sz="2000"/>
              <a:t>Citations reflect </a:t>
            </a:r>
            <a:r>
              <a:rPr sz="2000" i="1"/>
              <a:t>choices</a:t>
            </a:r>
            <a:r>
              <a:rPr sz="2000"/>
              <a:t> scholars make in who they cite and who they overlook in their work.</a:t>
            </a:r>
          </a:p>
          <a:p>
            <a:pPr lvl="0"/>
            <a:r>
              <a:rPr sz="2000"/>
              <a:t>There are inherent </a:t>
            </a:r>
            <a:r>
              <a:rPr sz="2000" i="1"/>
              <a:t>biases</a:t>
            </a:r>
            <a:r>
              <a:rPr sz="2000"/>
              <a:t> and </a:t>
            </a:r>
            <a:r>
              <a:rPr sz="2000" i="1"/>
              <a:t>systemic inequalities</a:t>
            </a:r>
            <a:r>
              <a:rPr sz="2000"/>
              <a:t> that result in epistemic hierarchies – that is the recognition and legitimization of </a:t>
            </a:r>
            <a:r>
              <a:rPr sz="2000" i="1"/>
              <a:t>dominant</a:t>
            </a:r>
            <a:r>
              <a:rPr sz="2000"/>
              <a:t> world views at the </a:t>
            </a:r>
            <a:r>
              <a:rPr sz="2000" i="1"/>
              <a:t>exclusion</a:t>
            </a:r>
            <a:r>
              <a:rPr sz="2000"/>
              <a:t> of others knowledge systems (Sauve </a:t>
            </a:r>
            <a:r>
              <a:rPr sz="2000" i="1"/>
              <a:t>et al.,</a:t>
            </a:r>
            <a:r>
              <a:rPr sz="2000"/>
              <a:t> 2025).</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2: Citation politics: the mechanisms and consequence of citational inequities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practise.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or other survey software (particify, formR) to establish the following questions (shown on separate slides):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a:p>
            <a:pPr lvl="0"/>
            <a:r>
              <a:rPr/>
              <a:t>First bullet point</a:t>
            </a:r>
          </a:p>
          <a:p>
            <a:pPr lvl="0"/>
            <a:r>
              <a:rPr/>
              <a:t>Second bullet point</a:t>
            </a:r>
          </a:p>
          <a:p>
            <a:pPr lvl="0"/>
            <a:r>
              <a:rPr/>
              <a:t>Third bullet point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a:p>
            <a:pPr lvl="0"/>
            <a:r>
              <a:rPr/>
              <a:t>First bullet point</a:t>
            </a:r>
          </a:p>
          <a:p>
            <a:pPr lvl="0"/>
            <a:r>
              <a:rPr/>
              <a:t>Second bullet point</a:t>
            </a:r>
          </a:p>
          <a:p>
            <a:pPr lvl="0"/>
            <a:r>
              <a:rPr/>
              <a:t>Third bullet point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PMM-M4-S3-Citation-Politics-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Attribution and license details</a:t>
            </a:r>
          </a:p>
          <a:p>
            <a:pPr lvl="0"/>
            <a:r>
              <a:rPr/>
              <a:t>This slide should contain information about the license and attribution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attribution (for previous slide)</a:t>
            </a:r>
          </a:p>
          <a:p>
            <a:pPr lvl="0" indent="0" marL="0">
              <a:buNone/>
            </a:pPr>
            <a:r>
              <a:rPr/>
              <a:t>“</a:t>
            </a:r>
            <a:r>
              <a:rPr>
                <a:hlinkClick r:id="rId2"/>
              </a:rPr>
              <a:t>Tutorial template for student track</a:t>
            </a:r>
            <a:r>
              <a:rPr/>
              <a:t>” by Sarah von Grebmer is licensed under </a:t>
            </a:r>
            <a:r>
              <a:rPr>
                <a:hlinkClick r:id="rId3"/>
              </a:rPr>
              <a:t>CC-BY-SA 4.0</a:t>
            </a:r>
            <a:r>
              <a:rPr/>
              <a:t>.</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Citation Politics: what is it and why should we care?</dc:title>
  <dc:creator>Sara Lil Middleton</dc:creator>
  <cp:keywords/>
  <dcterms:created xsi:type="dcterms:W3CDTF">2026-02-15T23:30:38Z</dcterms:created>
  <dcterms:modified xsi:type="dcterms:W3CDTF">2026-02-15T23:30:38Z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15/02/2026</vt:lpwstr>
  </property>
  <property fmtid="{D5CDD505-2E9C-101B-9397-08002B2CF9AE}" pid="6" name="date-format">
    <vt:lpwstr>DD/MM/YYYY</vt:lpwstr>
  </property>
  <property fmtid="{D5CDD505-2E9C-101B-9397-08002B2CF9AE}" pid="7" name="editor">
    <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oc-title">
    <vt:lpwstr>Table of contents</vt:lpwstr>
  </property>
</Properties>
</file>