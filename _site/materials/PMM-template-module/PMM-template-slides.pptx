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notesMaster" Target="notesMasters/notesMaster1.xml" /><Relationship Id="rId53" Type="http://schemas.openxmlformats.org/officeDocument/2006/relationships/viewProps" Target="viewProps.xml" /><Relationship Id="rId5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5" Type="http://schemas.openxmlformats.org/officeDocument/2006/relationships/tableStyles" Target="tableStyles.xml" /><Relationship Id="rId54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are the </a:t>
            </a:r>
            <a:r>
              <a:rPr b="1"/>
              <a:t>speaker notes</a:t>
            </a:r>
            <a:r>
              <a:rPr/>
              <a:t>. You will a script for the presenter for every slide. In presentation mode, your audience will not be able to see these speaker notes, they are only visible to the presenter.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There are also </a:t>
            </a:r>
            <a:r>
              <a:rPr b="1"/>
              <a:t>instructor notes</a:t>
            </a:r>
            <a:r>
              <a:rPr/>
              <a:t>. For some slides, there will be pedagogical tips, suggestons for acitivities and troubleshooting tips for issues your audience might run into. You can find these notes underneath the speaker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Make it clear to the group that there will be a similar post-submodule survey to examine understanding and learning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Base yourself on conceptual change theory and examine exisiting concepts in relation to some key terms. Re-examine formation of new concepts at the end of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a 90-minute lesson, the instructor should try to “lecture” for only 20 minutes, students should work in groups/pairs/on their own for at least 55 minutes of the lesson (+ a 15 minute break).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students who advance faster: Prepare extra exercises.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hyperlink" Target="https://quarto.org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quarto.org/docs/" TargetMode="External" /><Relationship Id="rId3" Type="http://schemas.openxmlformats.org/officeDocument/2006/relationships/hyperlink" Target="https://revealjs.com/" TargetMode="External" /><Relationship Id="rId4" Type="http://schemas.openxmlformats.org/officeDocument/2006/relationships/hyperlink" Target="https://www.markdownguide.org/" TargetMode="External" /><Relationship Id="rId5" Type="http://schemas.openxmlformats.org/officeDocument/2006/relationships/hyperlink" Target="https://github.com/" TargetMode="Externa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reativecommons.org/licenses/by/4.0/" TargetMode="Externa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SvonGrebmer/Template-Slides-Students" TargetMode="External" /><Relationship Id="rId3" Type="http://schemas.openxmlformats.org/officeDocument/2006/relationships/hyperlink" Target="https://creativecommons.org/licenses/by/4.0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PMM Template Slides: Title of Submodule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Author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20/08/2025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Credit statement and licence</a:t>
            </a:r>
          </a:p>
          <a:p>
            <a:pPr lvl="0" indent="0" marL="0">
              <a:buNone/>
            </a:pPr>
            <a:r>
              <a:rPr/>
              <a:t>Possible roles using the CRediT contribition system:</a:t>
            </a:r>
          </a:p>
          <a:p>
            <a:pPr lvl="0"/>
            <a:r>
              <a:rPr b="1"/>
              <a:t>Conceptualization</a:t>
            </a:r>
            <a:r>
              <a:rPr/>
              <a:t>: Ideas; formulation or evolution of overarching research goals and aims</a:t>
            </a:r>
          </a:p>
          <a:p>
            <a:pPr lvl="0"/>
            <a:r>
              <a:rPr b="1"/>
              <a:t>Methodology</a:t>
            </a:r>
            <a:r>
              <a:rPr/>
              <a:t>: Development or design of methodology; creation of models</a:t>
            </a:r>
          </a:p>
          <a:p>
            <a:pPr lvl="0"/>
            <a:r>
              <a:rPr b="1"/>
              <a:t>Software</a:t>
            </a:r>
            <a:r>
              <a:rPr/>
              <a:t> : Programming, software development; designing computer programs; implementation of the computer code and supporting algorithms; testing of existing code components</a:t>
            </a:r>
          </a:p>
          <a:p>
            <a:pPr lvl="0"/>
            <a:r>
              <a:rPr b="1"/>
              <a:t>Validation</a:t>
            </a:r>
            <a:r>
              <a:rPr/>
              <a:t>: Verification, whether as a part of the activity or separate, of the overall replication/ reproducibility of results/experiments and other research outputs</a:t>
            </a:r>
          </a:p>
          <a:p>
            <a:pPr lvl="0"/>
            <a:r>
              <a:rPr b="1"/>
              <a:t>Formal analysis</a:t>
            </a:r>
            <a:r>
              <a:rPr/>
              <a:t>: Application of statistical, mathematical, computational, or other formal techniques to analyze or synthesize study data</a:t>
            </a:r>
          </a:p>
          <a:p>
            <a:pPr lvl="0"/>
            <a:r>
              <a:rPr b="1"/>
              <a:t>Investigation</a:t>
            </a:r>
            <a:r>
              <a:rPr/>
              <a:t>: Conducting a research and investigation process, specifically performing the experiments, or data/evidence collection</a:t>
            </a:r>
          </a:p>
          <a:p>
            <a:pPr lvl="0"/>
            <a:r>
              <a:rPr b="1"/>
              <a:t>Resources</a:t>
            </a:r>
            <a:r>
              <a:rPr/>
              <a:t>: Provision of study materials, reagents, materials, patients, laboratory samples, animals, instrumentation, computing resources, or other analysis tools</a:t>
            </a:r>
          </a:p>
          <a:p>
            <a:pPr lvl="0"/>
            <a:r>
              <a:rPr b="1"/>
              <a:t>Data Curation</a:t>
            </a:r>
            <a:r>
              <a:rPr/>
              <a:t>: Management activities to annotate (produce metadata), scrub data and maintain research data (including software code, where it is necessary for interpreting the data itself) for initial use and later reuse</a:t>
            </a:r>
          </a:p>
          <a:p>
            <a:pPr lvl="0"/>
            <a:r>
              <a:rPr b="1"/>
              <a:t>Writing - Original Draft</a:t>
            </a:r>
            <a:r>
              <a:rPr/>
              <a:t>: Preparation, creation and/or presentation of the published work, specifically writing the initial draft (including substantive translation)</a:t>
            </a:r>
          </a:p>
          <a:p>
            <a:pPr lvl="0"/>
            <a:r>
              <a:rPr b="1"/>
              <a:t>Writing - Review &amp; Editing</a:t>
            </a:r>
            <a:r>
              <a:rPr/>
              <a:t>: Preparation, creation and/or presentation of the published work by those from the original research group, specifically critical review, commentary or revision – including pre-or postpublication stages</a:t>
            </a:r>
          </a:p>
          <a:p>
            <a:pPr lvl="0"/>
            <a:r>
              <a:rPr b="1"/>
              <a:t>Visualization</a:t>
            </a:r>
            <a:r>
              <a:rPr/>
              <a:t>: Preparation, creation and/or presentation of the published work, specifically visualization/ data presentation</a:t>
            </a:r>
          </a:p>
          <a:p>
            <a:pPr lvl="0"/>
            <a:r>
              <a:rPr b="1"/>
              <a:t>Supervision</a:t>
            </a:r>
            <a:r>
              <a:rPr/>
              <a:t>: Oversight and leadership responsibility for the research activity planning and execution, including mentorship external to the core team</a:t>
            </a:r>
          </a:p>
          <a:p>
            <a:pPr lvl="0"/>
            <a:r>
              <a:rPr b="1"/>
              <a:t>Project administration</a:t>
            </a:r>
            <a:r>
              <a:rPr/>
              <a:t>: Management and coordination responsibility for the research activity planning and execution</a:t>
            </a:r>
          </a:p>
          <a:p>
            <a:pPr lvl="0"/>
            <a:r>
              <a:rPr b="1"/>
              <a:t>Funding acquisition</a:t>
            </a:r>
            <a:r>
              <a:rPr/>
              <a:t>: Acquisition of the financial support for the project leading to this publication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Prerequisites</a:t>
            </a:r>
          </a:p>
          <a:p>
            <a:pPr lvl="0" indent="0" marL="1270000">
              <a:buNone/>
            </a:pPr>
            <a:r>
              <a:rPr sz="2000" b="1"/>
              <a:t>Prerequisites</a:t>
            </a:r>
          </a:p>
          <a:p>
            <a:pPr lvl="0" indent="0" marL="1270000">
              <a:buNone/>
            </a:pPr>
            <a:r>
              <a:rPr sz="2000"/>
              <a:t>Before completing this submodule, please carefully read about the necessary prerequisites.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Prerequisite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Link/Where to find 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Topic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Basic intro to 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Module + Submodule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Software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Configuring the environment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3"/>
                        </a:rPr>
                        <a:t>Download Link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Questions from previous submodule</a:t>
            </a:r>
          </a:p>
          <a:p>
            <a:pPr lvl="0"/>
            <a:r>
              <a:rPr b="1"/>
              <a:t>Aim</a:t>
            </a:r>
            <a:r>
              <a:rPr/>
              <a:t>: This first slide is dedicated to clarifying questions from the previous submodule and/or to discuss assignments.</a:t>
            </a:r>
          </a:p>
          <a:p>
            <a:pPr lvl="0"/>
            <a:r>
              <a:rPr/>
              <a:t>Additional slides may need to be added depending on the nature of the homework assignments.</a:t>
            </a:r>
          </a:p>
          <a:p>
            <a:pPr lvl="0"/>
            <a:r>
              <a:rPr/>
              <a:t>Critical for the learning process to ensure that students are on the same page and have been able to achieve the learning goals of the previous workshop.</a:t>
            </a:r>
          </a:p>
          <a:p>
            <a:pPr lvl="0"/>
            <a:r>
              <a:rPr/>
              <a:t>Not applicable if this set of slides corresponds to the first submodule of a new module.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 we start: Survey time!</a:t>
            </a:r>
          </a:p>
          <a:p>
            <a:pPr lvl="0"/>
            <a:r>
              <a:rPr b="1"/>
              <a:t>Aim</a:t>
            </a:r>
            <a:r>
              <a:rPr/>
              <a:t>: The pre-submodule survey serves to examine students’ prior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Aim”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Use visuals from the survey to highlight specific answers.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are we at?</a:t>
            </a:r>
          </a:p>
          <a:p>
            <a:pPr lvl="0"/>
            <a:r>
              <a:rPr b="1"/>
              <a:t>Aim</a:t>
            </a:r>
            <a:r>
              <a:rPr/>
              <a:t>: Place the topic of the current submodule within a broader context.</a:t>
            </a:r>
          </a:p>
          <a:p>
            <a:pPr lvl="0"/>
            <a:r>
              <a:rPr/>
              <a:t>Remind students what you are working towards and what the bigger picture is.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Learning goals</a:t>
            </a:r>
          </a:p>
          <a:p>
            <a:pPr lvl="0"/>
            <a:r>
              <a:rPr b="1"/>
              <a:t>Aim</a:t>
            </a:r>
            <a:r>
              <a:rPr/>
              <a:t>: Formulate specific, action-oriented goals learning goals which are measurable and observable in line with Bloom’s taxonomy (Anderson et al., 2001; Bloom et al., 1956)</a:t>
            </a:r>
          </a:p>
          <a:p>
            <a:pPr lvl="0"/>
            <a:r>
              <a:rPr/>
              <a:t>Place an emphasis on the </a:t>
            </a:r>
            <a:r>
              <a:rPr b="1"/>
              <a:t>verbs</a:t>
            </a:r>
            <a:r>
              <a:rPr/>
              <a:t> of the learning goals and choose verbs that align with the skills you want to develop or assess.</a:t>
            </a:r>
          </a:p>
          <a:p>
            <a:pPr lvl="0"/>
            <a:r>
              <a:rPr/>
              <a:t>Examples:</a:t>
            </a:r>
          </a:p>
          <a:p>
            <a:pPr lvl="1"/>
            <a:r>
              <a:rPr/>
              <a:t>Students will </a:t>
            </a:r>
            <a:r>
              <a:rPr b="1"/>
              <a:t>describe</a:t>
            </a:r>
            <a:r>
              <a:rPr/>
              <a:t> the process of photosynthesis or</a:t>
            </a:r>
          </a:p>
          <a:p>
            <a:pPr lvl="1"/>
            <a:r>
              <a:rPr/>
              <a:t>Students will </a:t>
            </a:r>
            <a:r>
              <a:rPr b="1"/>
              <a:t>construct</a:t>
            </a:r>
            <a:r>
              <a:rPr/>
              <a:t> a diagram illustrating the process of photosynthesis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Covered in in this session</a:t>
            </a:r>
          </a:p>
          <a:p>
            <a:pPr lvl="0"/>
            <a:r>
              <a:rPr b="1"/>
              <a:t>Aim</a:t>
            </a:r>
            <a:r>
              <a:rPr/>
              <a:t>: This slides serves as an overview of the topics that are discussed, presented as bullet point:</a:t>
            </a:r>
          </a:p>
          <a:p>
            <a:pPr lvl="0"/>
            <a:r>
              <a:rPr/>
              <a:t>Topic 1</a:t>
            </a:r>
          </a:p>
          <a:p>
            <a:pPr lvl="0"/>
            <a:r>
              <a:rPr/>
              <a:t>Topic 2</a:t>
            </a:r>
          </a:p>
          <a:p>
            <a:pPr lvl="0"/>
            <a:r>
              <a:rPr/>
              <a:t>Topic 3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terms and definitions</a:t>
            </a:r>
          </a:p>
          <a:p>
            <a:pPr lvl="0"/>
            <a:r>
              <a:rPr b="1"/>
              <a:t>Aim</a:t>
            </a:r>
            <a:r>
              <a:rPr/>
              <a:t>: Introduce key terms and definitions that students will come across throughout the session. </a:t>
            </a:r>
          </a:p>
          <a:p>
            <a:pPr lvl="0"/>
            <a:r>
              <a:rPr b="1"/>
              <a:t>Key Term 1</a:t>
            </a:r>
            <a:r>
              <a:rPr/>
              <a:t>: Definition</a:t>
            </a:r>
          </a:p>
          <a:p>
            <a:pPr lvl="0"/>
            <a:r>
              <a:rPr b="1"/>
              <a:t>Key Term 2</a:t>
            </a:r>
            <a:r>
              <a:rPr/>
              <a:t>: Definition</a:t>
            </a:r>
          </a:p>
          <a:p>
            <a:pPr lvl="0"/>
            <a:r>
              <a:rPr b="1"/>
              <a:t>Key Term 3</a:t>
            </a:r>
            <a:r>
              <a:rPr/>
              <a:t>: Definition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Introduction of submodule topic</a:t>
            </a:r>
          </a:p>
          <a:p>
            <a:pPr lvl="0"/>
            <a:r>
              <a:rPr b="1"/>
              <a:t>Aim</a:t>
            </a:r>
            <a:r>
              <a:rPr/>
              <a:t>: Core theoretical introduction of submodule topic.</a:t>
            </a:r>
          </a:p>
          <a:p>
            <a:pPr lvl="0"/>
            <a:r>
              <a:rPr/>
              <a:t>Pair theoretical aspects with practical exercises and group discussions according to the Think-Pair-Share style and according to Cognitive Load Theory (Sweller, 1980).</a:t>
            </a:r>
          </a:p>
          <a:p>
            <a:pPr lvl="0"/>
            <a:r>
              <a:rPr/>
              <a:t>Use multiple slides for this part.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Submodule content slide</a:t>
            </a:r>
          </a:p>
          <a:p>
            <a:pPr lvl="0"/>
            <a:r>
              <a:rPr b="1"/>
              <a:t>Aim</a:t>
            </a:r>
            <a:r>
              <a:rPr/>
              <a:t>: Present relevant content</a:t>
            </a:r>
          </a:p>
          <a:p>
            <a:pPr lvl="0"/>
            <a:r>
              <a:rPr/>
              <a:t>Highlight particularly important aspects with Quarto call-out boxes, for example:</a:t>
            </a:r>
          </a:p>
          <a:p>
            <a:pPr lvl="0" indent="0" marL="1270000">
              <a:buNone/>
            </a:pPr>
            <a:r>
              <a:rPr sz="2000" b="1"/>
              <a:t>Important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highlight particularly important information.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give important tips.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 1</a:t>
            </a:r>
          </a:p>
          <a:p>
            <a:pPr lvl="0"/>
            <a:r>
              <a:rPr b="1"/>
              <a:t>Aim</a:t>
            </a:r>
            <a:r>
              <a:rPr/>
              <a:t>: Design more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  <a:p>
            <a:pPr lvl="0"/>
            <a:r>
              <a:rPr/>
              <a:t>Add a description of the task, as well as a checklist as an overview of that your students need to be doing.</a:t>
            </a:r>
          </a:p>
          <a:p>
            <a:pPr lvl="0"/>
            <a:r>
              <a:rPr/>
              <a:t>☒ Step 1</a:t>
            </a:r>
          </a:p>
          <a:p>
            <a:pPr lvl="0"/>
            <a:r>
              <a:rPr/>
              <a:t>☐ Step 2</a:t>
            </a:r>
          </a:p>
          <a:p>
            <a:pPr lvl="0"/>
            <a:r>
              <a:rPr/>
              <a:t>☐ Step 3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Pre-break survey</a:t>
            </a:r>
          </a:p>
          <a:p>
            <a:pPr lvl="0"/>
            <a:r>
              <a:rPr b="1"/>
              <a:t>Aim</a:t>
            </a:r>
            <a:r>
              <a:rPr/>
              <a:t>: This pre-break survey serves to examine students’ current understanding of key concepts of the submodule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Use free survey software such as or other survey software (particify, formR) to establish the following questions (shown on separate slides):</a:t>
            </a:r>
          </a:p>
          <a:p>
            <a:pPr lvl="0" indent="0" marL="0">
              <a:buNone/>
            </a:pPr>
            <a:r>
              <a:rPr b="1"/>
              <a:t>Which species is the largest type of penguin</a:t>
            </a:r>
            <a:r>
              <a:rPr/>
              <a:t>?</a:t>
            </a:r>
          </a:p>
          <a:p>
            <a:pPr lvl="0" indent="-342900" marL="342900">
              <a:buAutoNum type="alphaLcPeriod"/>
            </a:pPr>
            <a:r>
              <a:rPr/>
              <a:t>Chinstrap Penguin</a:t>
            </a:r>
          </a:p>
          <a:p>
            <a:pPr lvl="0" indent="-342900" marL="342900">
              <a:buAutoNum type="alphaLcPeriod"/>
            </a:pPr>
            <a:r>
              <a:rPr/>
              <a:t>Emperor Penguin ✅</a:t>
            </a:r>
          </a:p>
          <a:p>
            <a:pPr lvl="0" indent="-342900" marL="342900">
              <a:buAutoNum type="alphaLcPeriod"/>
            </a:pPr>
            <a:r>
              <a:rPr/>
              <a:t>Adélie Penguin</a:t>
            </a:r>
          </a:p>
          <a:p>
            <a:pPr lvl="0" indent="-342900" marL="342900">
              <a:buAutoNum type="alphaLcPeriod"/>
            </a:pPr>
            <a:r>
              <a:rPr/>
              <a:t>King Penguin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the key biological feature that helps penguins swim efficiently?</a:t>
            </a:r>
          </a:p>
          <a:p>
            <a:pPr lvl="0" indent="-342900" marL="342900">
              <a:buAutoNum type="alphaLcPeriod"/>
            </a:pPr>
            <a:r>
              <a:rPr/>
              <a:t>Hollow bones for buoyancy</a:t>
            </a:r>
          </a:p>
          <a:p>
            <a:pPr lvl="0" indent="-342900" marL="342900">
              <a:buAutoNum type="alphaLcPeriod"/>
            </a:pPr>
            <a:r>
              <a:rPr/>
              <a:t>Webbed feet for paddling</a:t>
            </a:r>
          </a:p>
          <a:p>
            <a:pPr lvl="0" indent="-342900" marL="342900">
              <a:buAutoNum type="alphaLcPeriod"/>
            </a:pPr>
            <a:r>
              <a:rPr/>
              <a:t>Waterproof feathers and flipper-like wings ✅</a:t>
            </a:r>
          </a:p>
          <a:p>
            <a:pPr lvl="0" indent="-342900" marL="342900">
              <a:buAutoNum type="alphaLcPeriod"/>
            </a:pPr>
            <a:r>
              <a:rPr/>
              <a:t>Gills to breathe underwater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Break! 15 minutes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Post-break survey discussion</a:t>
            </a:r>
          </a:p>
          <a:p>
            <a:pPr lvl="0"/>
            <a:r>
              <a:rPr b="1"/>
              <a:t>Aim</a:t>
            </a:r>
            <a:r>
              <a:rPr/>
              <a:t>: To clarify concepts and aspects that are not yet understood</a:t>
            </a:r>
          </a:p>
          <a:p>
            <a:pPr lvl="0"/>
            <a:r>
              <a:rPr/>
              <a:t>Highlight specific answers given during the survey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 2</a:t>
            </a:r>
          </a:p>
          <a:p>
            <a:pPr lvl="0"/>
            <a:r>
              <a:rPr b="1"/>
              <a:t>Aim</a:t>
            </a:r>
            <a:r>
              <a:rPr/>
              <a:t>: Design more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  <a:p>
            <a:pPr lvl="0"/>
            <a:r>
              <a:rPr/>
              <a:t>Add a description of the task, as well as a checklist as an overview of that your students need to be doing.</a:t>
            </a:r>
          </a:p>
          <a:p>
            <a:pPr lvl="0"/>
            <a:r>
              <a:rPr/>
              <a:t>☒ Step 1</a:t>
            </a:r>
          </a:p>
          <a:p>
            <a:pPr lvl="0"/>
            <a:r>
              <a:rPr/>
              <a:t>☐ Step 2</a:t>
            </a:r>
          </a:p>
          <a:p>
            <a:pPr lvl="0"/>
            <a:r>
              <a:rPr/>
              <a:t>☐ Step 3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Relevance and implications</a:t>
            </a:r>
          </a:p>
          <a:p>
            <a:pPr lvl="0"/>
            <a:r>
              <a:rPr b="1"/>
              <a:t>Aim</a:t>
            </a:r>
            <a:r>
              <a:rPr/>
              <a:t>: To work out the relevance of the topic to your students.</a:t>
            </a:r>
          </a:p>
          <a:p>
            <a:pPr lvl="0"/>
            <a:r>
              <a:rPr/>
              <a:t>In an interactive setting, discuss how the new skills could be applied in practise with specific examples.</a:t>
            </a:r>
          </a:p>
          <a:p>
            <a:pPr lvl="0"/>
            <a:r>
              <a:rPr/>
              <a:t>Examine downfalls and practical obstacles.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Take-home message</a:t>
            </a:r>
          </a:p>
          <a:p>
            <a:pPr lvl="0" indent="0" marL="0">
              <a:buNone/>
            </a:pPr>
            <a:r>
              <a:rPr b="1"/>
              <a:t>Aim</a:t>
            </a:r>
            <a:r>
              <a:rPr/>
              <a:t>: End lesson on clear take-home message that are interactively compiled by students.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Add one practical tips or take-home message.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Assignment</a:t>
            </a:r>
          </a:p>
          <a:p>
            <a:pPr lvl="0"/>
            <a:r>
              <a:rPr b="1"/>
              <a:t>Aim</a:t>
            </a:r>
            <a:r>
              <a:rPr/>
              <a:t>: Explain the homework assignment and the rationale behind the homework.</a:t>
            </a:r>
          </a:p>
          <a:p>
            <a:pPr lvl="0"/>
            <a:r>
              <a:rPr/>
              <a:t>Examine whether/how it will be assessed</a:t>
            </a:r>
          </a:p>
          <a:p>
            <a:pPr lvl="0"/>
            <a:r>
              <a:rPr/>
              <a:t>Mention scoring rubrics, if applicable</a:t>
            </a:r>
          </a:p>
          <a:p>
            <a:pPr lvl="0"/>
            <a:r>
              <a:rPr/>
              <a:t>Design a peer-review system for assignments to place students in role of reviewer and author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 conclude: Survey time!</a:t>
            </a:r>
          </a:p>
          <a:p>
            <a:pPr lvl="0"/>
            <a:r>
              <a:rPr b="1"/>
              <a:t>Aim</a:t>
            </a:r>
            <a:r>
              <a:rPr/>
              <a:t>: This post-submodule survey serves to examine students’ current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Compare and highlight specific differences in answers between pre- and post-survey answers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References</a:t>
            </a:r>
          </a:p>
          <a:p>
            <a:pPr lvl="0"/>
            <a:r>
              <a:rPr/>
              <a:t>Provide literature you refer to throughout this lesson.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Thanks!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See you next class :)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Pedagogical add-on tools for instructors</a:t>
            </a:r>
          </a:p>
          <a:p>
            <a:pPr lvl="0"/>
            <a:r>
              <a:rPr/>
              <a:t>This section is dedicated to ideas on how to incorporate pedagogical tools into teaching for this specific submodule topic. This could mean:</a:t>
            </a:r>
          </a:p>
          <a:p>
            <a:pPr lvl="1"/>
            <a:r>
              <a:rPr/>
              <a:t>Information about the scientific evidence on the theory of the pedagogical add-on tool and the evidence for its efficacy.</a:t>
            </a:r>
          </a:p>
          <a:p>
            <a:pPr lvl="1"/>
            <a:r>
              <a:rPr/>
              <a:t>Discussion/reflection on how tools can be incorporated into the teaching for this particular content.</a:t>
            </a:r>
          </a:p>
          <a:p>
            <a:pPr lvl="1"/>
            <a:r>
              <a:rPr/>
              <a:t>Extra exercises for faster students.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literature for instructors</a:t>
            </a:r>
          </a:p>
          <a:p>
            <a:pPr lvl="0"/>
            <a:r>
              <a:rPr/>
              <a:t>References for content</a:t>
            </a:r>
          </a:p>
          <a:p>
            <a:pPr lvl="0"/>
            <a:r>
              <a:rPr/>
              <a:t>References for pedagogical add-on tools</a:t>
            </a:r>
            <a:br/>
          </a:p>
          <a:p>
            <a:pPr lvl="0"/>
            <a:r>
              <a:rPr/>
              <a:t>Other resources (videos etc.)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Formatting elements for instructors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This section contains templates for different formatting elements, which can be modified and adapted for the instructor’s individual purposes.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Text with example links</a:t>
            </a:r>
          </a:p>
          <a:p>
            <a:pPr lvl="0"/>
            <a:r>
              <a:rPr>
                <a:hlinkClick r:id="rId2"/>
              </a:rPr>
              <a:t>Quarto Documentation</a:t>
            </a:r>
          </a:p>
          <a:p>
            <a:pPr lvl="0"/>
            <a:r>
              <a:rPr>
                <a:hlinkClick r:id="rId3"/>
              </a:rPr>
              <a:t>Reveal.js Documentation</a:t>
            </a:r>
          </a:p>
          <a:p>
            <a:pPr lvl="0"/>
            <a:r>
              <a:rPr>
                <a:hlinkClick r:id="rId4"/>
              </a:rPr>
              <a:t>Markdown Guide</a:t>
            </a:r>
          </a:p>
          <a:p>
            <a:pPr lvl="0"/>
            <a:r>
              <a:rPr>
                <a:hlinkClick r:id="rId5"/>
              </a:rPr>
              <a:t>GitHub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Basic text formatting</a:t>
            </a:r>
          </a:p>
          <a:p>
            <a:pPr lvl="0"/>
            <a:r>
              <a:rPr b="1"/>
              <a:t>Bold:</a:t>
            </a:r>
            <a:r>
              <a:rPr/>
              <a:t> </a:t>
            </a:r>
            <a:r>
              <a:rPr>
                <a:latin typeface="Courier"/>
              </a:rPr>
              <a:t>**bold**</a:t>
            </a:r>
            <a:r>
              <a:rPr/>
              <a:t> → </a:t>
            </a:r>
            <a:r>
              <a:rPr b="1"/>
              <a:t>bold</a:t>
            </a:r>
          </a:p>
          <a:p>
            <a:pPr lvl="0"/>
            <a:r>
              <a:rPr i="1"/>
              <a:t>Italic:</a:t>
            </a:r>
            <a:r>
              <a:rPr/>
              <a:t> </a:t>
            </a:r>
            <a:r>
              <a:rPr>
                <a:latin typeface="Courier"/>
              </a:rPr>
              <a:t>*italic*</a:t>
            </a:r>
            <a:r>
              <a:rPr/>
              <a:t> → </a:t>
            </a:r>
            <a:r>
              <a:rPr i="1"/>
              <a:t>italic</a:t>
            </a:r>
          </a:p>
          <a:p>
            <a:pPr lvl="0"/>
            <a:r>
              <a:rPr strike="sngStrike"/>
              <a:t>Strikethrough:</a:t>
            </a:r>
            <a:r>
              <a:rPr/>
              <a:t> </a:t>
            </a:r>
            <a:r>
              <a:rPr>
                <a:latin typeface="Courier"/>
              </a:rPr>
              <a:t>~~text~~</a:t>
            </a:r>
            <a:r>
              <a:rPr/>
              <a:t> → </a:t>
            </a:r>
            <a:r>
              <a:rPr strike="sngStrike"/>
              <a:t>text</a:t>
            </a:r>
          </a:p>
          <a:p>
            <a:pPr lvl="0"/>
            <a:r>
              <a:rPr>
                <a:latin typeface="Courier"/>
              </a:rPr>
              <a:t>Inline code:</a:t>
            </a:r>
            <a:r>
              <a:rPr/>
              <a:t> </a:t>
            </a:r>
            <a:r>
              <a:rPr>
                <a:latin typeface="Courier"/>
              </a:rPr>
              <a:t>`code`</a:t>
            </a:r>
            <a:r>
              <a:rPr/>
              <a:t> → </a:t>
            </a:r>
            <a:r>
              <a:rPr>
                <a:latin typeface="Courier"/>
              </a:rPr>
              <a:t>code</a:t>
            </a:r>
          </a:p>
          <a:p>
            <a:pPr lvl="0" indent="0" marL="1270000"/>
            <a:r>
              <a:rPr sz="2000"/>
              <a:t>Blockquote: </a:t>
            </a:r>
            <a:r>
              <a:rPr sz="2000">
                <a:latin typeface="Courier"/>
              </a:rPr>
              <a:t>&gt; Quote</a:t>
            </a:r>
            <a:r>
              <a:rPr sz="2000"/>
              <a:t> →</a:t>
            </a:r>
            <a:br/>
            <a:r>
              <a:rPr sz="2000"/>
              <a:t>“This is a quote”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caption</a:t>
            </a:r>
          </a:p>
          <a:p>
            <a:pPr lvl="0"/>
            <a:r>
              <a:rPr/>
              <a:t>Centered image and caption below in italics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This is a Penguin.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bullet points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Side-by-side figures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Stacked figures with text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  <a:br/>
            <a:r>
              <a:rPr/>
              <a:t>Cras venenatis euismod malesuada.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Three-column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  <a:p>
            <a:pPr lvl="0" indent="0" marL="0">
              <a:buNone/>
            </a:pPr>
            <a:r>
              <a:rPr b="1"/>
              <a:t>Column 3</a:t>
            </a:r>
          </a:p>
          <a:p>
            <a:pPr lvl="0" indent="0" marL="0">
              <a:buNone/>
            </a:pPr>
            <a:r>
              <a:rPr/>
              <a:t>Duis aute irure dolor in reprehenderit in voluptate velit esse cillum dolore eu fugiat nulla pariatur.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Simple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Complex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Task list</a:t>
            </a:r>
          </a:p>
          <a:p>
            <a:pPr lvl="0"/>
            <a:r>
              <a:rPr/>
              <a:t>☒ Done</a:t>
            </a:r>
          </a:p>
          <a:p>
            <a:pPr lvl="0"/>
            <a:r>
              <a:rPr/>
              <a:t>☐ To do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Embedding videos</a:t>
            </a:r>
          </a:p>
          <a:p>
            <a:pPr lvl="0" indent="0" marL="0">
              <a:buNone/>
            </a:pPr>
            <a:r>
              <a:rPr/>
              <a:t> 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blocks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basic R code chunk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(x)</a:t>
            </a:r>
          </a:p>
          <a:p>
            <a:pPr lvl="0" indent="0">
              <a:buNone/>
            </a:pPr>
            <a:r>
              <a:rPr>
                <a:latin typeface="Courier"/>
              </a:rPr>
              <a:t>[1] 5.5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simple plot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"Histogram of Random Normals"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PMM-template-slides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Attribution and license details</a:t>
            </a:r>
          </a:p>
          <a:p>
            <a:pPr lvl="0"/>
            <a:r>
              <a:rPr/>
              <a:t>This slide should contain information about the license and attribution details of this current set of slides.</a:t>
            </a:r>
          </a:p>
          <a:p>
            <a:pPr lvl="0"/>
            <a:r>
              <a:rPr/>
              <a:t>The default for the created materials is </a:t>
            </a:r>
            <a:r>
              <a:rPr>
                <a:hlinkClick r:id="rId2"/>
              </a:rPr>
              <a:t>CC-BY-SA 4.0</a:t>
            </a:r>
          </a:p>
          <a:p>
            <a:pPr lvl="1"/>
            <a:r>
              <a:rPr/>
              <a:t>= Creative Commons license that allows others to </a:t>
            </a:r>
            <a:r>
              <a:rPr b="1"/>
              <a:t>share, adapt, and build upon</a:t>
            </a:r>
            <a:r>
              <a:rPr/>
              <a:t> the original work</a:t>
            </a:r>
          </a:p>
          <a:p>
            <a:pPr lvl="1"/>
            <a:r>
              <a:rPr b="1"/>
              <a:t>only</a:t>
            </a:r>
            <a:r>
              <a:rPr/>
              <a:t> if they attribute the creator and also share their new work under the </a:t>
            </a:r>
            <a:r>
              <a:rPr b="1"/>
              <a:t>same terms</a:t>
            </a:r>
          </a:p>
          <a:p>
            <a:pPr lvl="1"/>
            <a:r>
              <a:rPr/>
              <a:t>allows for both </a:t>
            </a:r>
            <a:r>
              <a:rPr b="1"/>
              <a:t>commercial and non-commercial</a:t>
            </a:r>
            <a:r>
              <a:rPr/>
              <a:t> use of the licensed material</a:t>
            </a:r>
          </a:p>
          <a:p>
            <a:pPr lvl="0"/>
            <a:r>
              <a:rPr/>
              <a:t>Components of attributions:</a:t>
            </a:r>
          </a:p>
          <a:p>
            <a:pPr lvl="1"/>
            <a:r>
              <a:rPr>
                <a:latin typeface="Courier"/>
              </a:rPr>
              <a:t>Title</a:t>
            </a:r>
          </a:p>
          <a:p>
            <a:pPr lvl="1"/>
            <a:r>
              <a:rPr>
                <a:latin typeface="Courier"/>
              </a:rPr>
              <a:t>Author</a:t>
            </a:r>
          </a:p>
          <a:p>
            <a:pPr lvl="1"/>
            <a:r>
              <a:rPr>
                <a:latin typeface="Courier"/>
              </a:rPr>
              <a:t>Source</a:t>
            </a:r>
          </a:p>
          <a:p>
            <a:pPr lvl="1"/>
            <a:r>
              <a:rPr>
                <a:latin typeface="Courier"/>
              </a:rPr>
              <a:t>License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 attribution (for previous slide)</a:t>
            </a:r>
          </a:p>
          <a:p>
            <a:pPr lvl="0" indent="0" marL="0">
              <a:buNone/>
            </a:pPr>
            <a:r>
              <a:rPr/>
              <a:t>“</a:t>
            </a:r>
            <a:r>
              <a:rPr>
                <a:hlinkClick r:id="rId2"/>
              </a:rPr>
              <a:t>Tutorial template for student track</a:t>
            </a:r>
            <a:r>
              <a:rPr/>
              <a:t>” by Sarah von Grebmer is licensed under </a:t>
            </a:r>
            <a:r>
              <a:rPr>
                <a:hlinkClick r:id="rId3"/>
              </a:rPr>
              <a:t>CC-BY-SA 4.0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PMM Template Slides: Title of Submodule</dc:title>
  <dc:creator>Author</dc:creator>
  <cp:keywords/>
  <dcterms:created xsi:type="dcterms:W3CDTF">2025-08-20T14:26:37Z</dcterms:created>
  <dcterms:modified xsi:type="dcterms:W3CDTF">2025-08-20T14:26:37Z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20/08/2025</vt:lpwstr>
  </property>
  <property fmtid="{D5CDD505-2E9C-101B-9397-08002B2CF9AE}" pid="6" name="date-format">
    <vt:lpwstr>DD/MM/YYYY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