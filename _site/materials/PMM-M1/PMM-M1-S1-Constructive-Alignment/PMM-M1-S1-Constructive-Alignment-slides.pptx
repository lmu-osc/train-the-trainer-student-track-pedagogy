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notesMaster" Target="notesMasters/notesMaster1.xml" /><Relationship Id="rId75" Type="http://schemas.openxmlformats.org/officeDocument/2006/relationships/viewProps" Target="viewProps.xml" /><Relationship Id="rId74" Type="http://schemas.openxmlformats.org/officeDocument/2006/relationships/presProps" Target="presProps.xml" /><Relationship Id="rId1" Type="http://schemas.openxmlformats.org/officeDocument/2006/relationships/slideMaster" Target="slideMasters/slideMaster1.xml" /><Relationship Id="rId77" Type="http://schemas.openxmlformats.org/officeDocument/2006/relationships/tableStyles" Target="tableStyles.xml" /><Relationship Id="rId7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32.xml" /><Relationship Id="rId1" Type="http://schemas.openxmlformats.org/officeDocument/2006/relationships/notesMaster" Target="../notesMasters/notesMaster1.xml" /></Relationships>
</file>

<file path=ppt/notesSlides/_rels/notesSlide14.xml.rels><?xml version="1.0" encoding="UTF-8"?><Relationships xmlns="http://schemas.openxmlformats.org/package/2006/relationships"><Relationship Id="rId2" Type="http://schemas.openxmlformats.org/officeDocument/2006/relationships/slide" Target="../slides/slide35.xml" /><Relationship Id="rId1" Type="http://schemas.openxmlformats.org/officeDocument/2006/relationships/notesMaster" Target="../notesMasters/notesMaster1.xml" /></Relationships>
</file>

<file path=ppt/notesSlides/_rels/notesSlide15.xml.rels><?xml version="1.0" encoding="UTF-8"?><Relationships xmlns="http://schemas.openxmlformats.org/package/2006/relationships"><Relationship Id="rId2" Type="http://schemas.openxmlformats.org/officeDocument/2006/relationships/slide" Target="../slides/slide36.xml" /><Relationship Id="rId1" Type="http://schemas.openxmlformats.org/officeDocument/2006/relationships/notesMaster" Target="../notesMasters/notesMaster1.xml" /></Relationships>
</file>

<file path=ppt/notesSlides/_rels/notesSlide16.xml.rels><?xml version="1.0" encoding="UTF-8"?><Relationships xmlns="http://schemas.openxmlformats.org/package/2006/relationships"><Relationship Id="rId2" Type="http://schemas.openxmlformats.org/officeDocument/2006/relationships/slide" Target="../slides/slide43.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a:t>There are also </a:t>
            </a:r>
            <a:r>
              <a:rPr b="1"/>
              <a:t>instructor notes</a:t>
            </a:r>
            <a:r>
              <a:rPr/>
              <a:t>. For some slides, there will be pedagogical tips, suggestons for acitivities and troubleshooting tips for issues your audience might run into. You can find these notes underneath the speaker notes.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Make it clear to the group that there will be a similar post-submodule survey to examine understanding and learning progress.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much teaching experience they have. For online participants: Ask them to indicate experience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experiences. Involve your audience as early as possible, so that they pay attention in case they get called upon.</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much they think about didactics. For online participants: Ask them to indicate experience on the screen. Pick out two people on either end of the spectrum (one from the in-person audience, one from online audience) and have them explain their teaching experience. Next, pick two people around the middle (one from the in-person audience, one from online audience) and have them explain and compare their didactic thinking processes.</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in-person participants: Get people to stand along imaginary line across the room in terms of how the audiences are they already train or teach. For online participants: Ask them to indicate their target audience size on the screen. Pick out two different people to discuss their repsectie target audiences.</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Use of interactive white board/ interactive document.  Collect interactively: Which factors were important for your learnng process during your lest workshop/seminar/course? When do you learn worst?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what this could mean for the audience concretely. Call out specific names of audience members.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Ask if someone in your audience has already heard about this concept. Ask to provide examples. ‘In constructive alignment, we start with the outcomes we intend students to learn, and align teaching and assessment to those outcomes. The outcome statements contain a learning activity, a verb, [that] verb says what the relevant learning activities are that the students need to undertake in order to attain the intended learning outcome. Learning is constructed by what activities the students carry out; learning is about what they do, not about what we teachers do. Likewise, assessment is about how well they achieve the intended outcomes, not about how well they report back to us what we have told them or what they have read’ (Biggs n.d.).</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Example: Learning objective = conducting an anamnestic interview with a patient. Teaching activites = role plays. Assessment task = Anamnestic interview with fake/real patient.</a:t>
            </a:r>
          </a:p>
        </p:txBody>
      </p:sp>
      <p:sp>
        <p:nvSpPr>
          <p:cNvPr id="4" name="Slide Number Placeholder 3"/>
          <p:cNvSpPr>
            <a:spLocks noGrp="1"/>
          </p:cNvSpPr>
          <p:nvPr>
            <p:ph type="sldNum" sz="quarter" idx="10"/>
          </p:nvPr>
        </p:nvSpPr>
        <p:spPr/>
        <p:txBody>
          <a:bodyPr/>
          <a:lstStyle/>
          <a:p>
            <a:fld id="{18BDFEC3-8487-43E8-A154-7C12CBC1FFF2}" type="slidenum">
              <a:rPr lang="en-US"/>
              <a:t>23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Pick a learning goal from previous examples or collect learning goals interactively. Examine learning goals more closely in the group and discuss what could be a suitable learning goal and why/why not. Focus on what verbs are being used.</a:t>
            </a:r>
          </a:p>
        </p:txBody>
      </p:sp>
      <p:sp>
        <p:nvSpPr>
          <p:cNvPr id="4" name="Slide Number Placeholder 3"/>
          <p:cNvSpPr>
            <a:spLocks noGrp="1"/>
          </p:cNvSpPr>
          <p:nvPr>
            <p:ph type="sldNum" sz="quarter" idx="10"/>
          </p:nvPr>
        </p:nvSpPr>
        <p:spPr/>
        <p:txBody>
          <a:bodyPr/>
          <a:lstStyle/>
          <a:p>
            <a:fld id="{18BDFEC3-8487-43E8-A154-7C12CBC1FFF2}" type="slidenum">
              <a:rPr lang="en-US"/>
              <a:t>25</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What do you think are key aspects of a positive attitude towards your audience? Collect on papers and then try to sort into verbally, body language and methods.</a:t>
            </a:r>
          </a:p>
        </p:txBody>
      </p:sp>
      <p:sp>
        <p:nvSpPr>
          <p:cNvPr id="4" name="Slide Number Placeholder 3"/>
          <p:cNvSpPr>
            <a:spLocks noGrp="1"/>
          </p:cNvSpPr>
          <p:nvPr>
            <p:ph type="sldNum" sz="quarter" idx="10"/>
          </p:nvPr>
        </p:nvSpPr>
        <p:spPr/>
        <p:txBody>
          <a:bodyPr/>
          <a:lstStyle/>
          <a:p>
            <a:fld id="{18BDFEC3-8487-43E8-A154-7C12CBC1FFF2}" type="slidenum">
              <a:rPr lang="en-US"/>
              <a:t>27</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Collect examples for each one of the bullet points and what they could mean - add to the existing papers.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Interactively ask participants to provide feedback on the selected method, delivery and improvement points.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Base yourself on conceptual change theory and examine exisiting concepts in relation to some key terms. Re-examine formation of new concepts at the end of the lesson.</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a 90-minute lesson, the instructor should try to “lecture” for only 20 minutes, students should work in groups/pairs/on their own for at least 55 minutes of the lesson (+ a 15 minute break).</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For students who advance faster: Prepare extra exercises.</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3.xml" /><Relationship Id="rId3" Type="http://schemas.openxmlformats.org/officeDocument/2006/relationships/image" Target="../media/image1.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4.xml" /><Relationship Id="rId3" Type="http://schemas.openxmlformats.org/officeDocument/2006/relationships/image" Target="../media/image2.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 Id="rId3" Type="http://schemas.openxmlformats.org/officeDocument/2006/relationships/image" Target="../media/image3.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4.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5.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6.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docs/" TargetMode="External" /><Relationship Id="rId3" Type="http://schemas.openxmlformats.org/officeDocument/2006/relationships/hyperlink" Target="https://revealjs.com/" TargetMode="External" /><Relationship Id="rId4" Type="http://schemas.openxmlformats.org/officeDocument/2006/relationships/hyperlink" Target="https://www.markdownguide.org/" TargetMode="External" /><Relationship Id="rId5" Type="http://schemas.openxmlformats.org/officeDocument/2006/relationships/hyperlink" Target="https://github.com/" TargetMode="External"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creativecommons.org/licenses/by/4.0/" TargetMode="Externa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github.com/SvonGrebmer/Template-Slides-Students" TargetMode="External" /><Relationship Id="rId3" Type="http://schemas.openxmlformats.org/officeDocument/2006/relationships/hyperlink" Target="https://creativecommons.org/licenses/by/4.0/"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Constructional Alignment and Learning Goals</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Sarah von Grebmer</a:t>
            </a:r>
          </a:p>
        </p:txBody>
      </p:sp>
      <p:sp>
        <p:nvSpPr>
          <p:cNvPr id="4" name="Date Placeholder 3"/>
          <p:cNvSpPr>
            <a:spLocks noGrp="1"/>
          </p:cNvSpPr>
          <p:nvPr>
            <p:ph idx="10" sz="half" type="dt"/>
          </p:nvPr>
        </p:nvSpPr>
        <p:spPr/>
        <p:txBody>
          <a:bodyPr/>
          <a:lstStyle/>
          <a:p>
            <a:pPr lvl="0" indent="0" marL="0">
              <a:buNone/>
            </a:pPr>
            <a:r>
              <a:rPr/>
              <a:t>20/08/2025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statement and licence</a:t>
            </a:r>
          </a:p>
          <a:p>
            <a:pPr lvl="0" indent="0" marL="0">
              <a:buNone/>
            </a:pPr>
            <a:r>
              <a:rPr/>
              <a:t>Possible roles using the CRediT contribition system:</a:t>
            </a:r>
          </a:p>
          <a:p>
            <a:pPr lvl="0"/>
            <a:r>
              <a:rPr b="1"/>
              <a:t>Conceptualization</a:t>
            </a:r>
            <a:r>
              <a:rPr/>
              <a:t>: Ideas; formulation or evolution of overarching research goals and aims</a:t>
            </a:r>
          </a:p>
          <a:p>
            <a:pPr lvl="0"/>
            <a:r>
              <a:rPr b="1"/>
              <a:t>Methodology</a:t>
            </a:r>
            <a:r>
              <a:rPr/>
              <a:t>: Development or design of methodology; creation of models</a:t>
            </a:r>
          </a:p>
          <a:p>
            <a:pPr lvl="0"/>
            <a:r>
              <a:rPr b="1"/>
              <a:t>Software</a:t>
            </a:r>
            <a:r>
              <a:rPr/>
              <a:t> : Programming, software development; designing computer programs; implementation of the computer code and supporting algorithms; testing of existing code components</a:t>
            </a:r>
          </a:p>
          <a:p>
            <a:pPr lvl="0"/>
            <a:r>
              <a:rPr b="1"/>
              <a:t>Validation</a:t>
            </a:r>
            <a:r>
              <a:rPr/>
              <a:t>: Verification, whether as a part of the activity or separate, of the overall replication/ reproducibility of results/experiments and other research outputs</a:t>
            </a:r>
          </a:p>
          <a:p>
            <a:pPr lvl="0"/>
            <a:r>
              <a:rPr b="1"/>
              <a:t>Formal analysis</a:t>
            </a:r>
            <a:r>
              <a:rPr/>
              <a:t>: Application of statistical, mathematical, computational, or other formal techniques to analyze or synthesize study data</a:t>
            </a:r>
          </a:p>
          <a:p>
            <a:pPr lvl="0"/>
            <a:r>
              <a:rPr b="1"/>
              <a:t>Investigation</a:t>
            </a:r>
            <a:r>
              <a:rPr/>
              <a:t>: Conducting a research and investigation process, specifically performing the experiments, or data/evidence collection</a:t>
            </a:r>
          </a:p>
          <a:p>
            <a:pPr lvl="0"/>
            <a:r>
              <a:rPr b="1"/>
              <a:t>Resources</a:t>
            </a:r>
            <a:r>
              <a:rPr/>
              <a:t>: Provision of study materials, reagents, materials, patients, laboratory samples, animals, instrumentation, computing resources, or other analysis tools</a:t>
            </a:r>
          </a:p>
          <a:p>
            <a:pPr lvl="0"/>
            <a:r>
              <a:rPr b="1"/>
              <a:t>Data Curation</a:t>
            </a:r>
            <a:r>
              <a:rPr/>
              <a:t>: Management activities to annotate (produce metadata), scrub data and maintain research data (including software code, where it is necessary for interpreting the data itself) for initial use and later reuse</a:t>
            </a:r>
          </a:p>
          <a:p>
            <a:pPr lvl="0"/>
            <a:r>
              <a:rPr b="1"/>
              <a:t>Writing - Original Draft</a:t>
            </a:r>
            <a:r>
              <a:rPr/>
              <a:t>: Preparation, creation and/or presentation of the published work, specifically writing the initial draft (including substantive translation)</a:t>
            </a:r>
          </a:p>
          <a:p>
            <a:pPr lvl="0"/>
            <a:r>
              <a:rPr b="1"/>
              <a:t>Writing - Review &amp; Editing</a:t>
            </a:r>
            <a:r>
              <a:rPr/>
              <a:t>: Preparation, creation and/or presentation of the published work by those from the original research group, specifically critical review, commentary or revision – including pre-or postpublication stages</a:t>
            </a:r>
          </a:p>
          <a:p>
            <a:pPr lvl="0"/>
            <a:r>
              <a:rPr b="1"/>
              <a:t>Visualization</a:t>
            </a:r>
            <a:r>
              <a:rPr/>
              <a:t>: Preparation, creation and/or presentation of the published work, specifically visualization/ data presentation</a:t>
            </a:r>
          </a:p>
          <a:p>
            <a:pPr lvl="0"/>
            <a:r>
              <a:rPr b="1"/>
              <a:t>Supervision</a:t>
            </a:r>
            <a:r>
              <a:rPr/>
              <a:t>: Oversight and leadership responsibility for the research activity planning and execution, including mentorship external to the core team</a:t>
            </a:r>
          </a:p>
          <a:p>
            <a:pPr lvl="0"/>
            <a:r>
              <a:rPr b="1"/>
              <a:t>Project administration</a:t>
            </a:r>
            <a:r>
              <a:rPr/>
              <a:t>: Management and coordination responsibility for the research activity planning and execution</a:t>
            </a:r>
          </a:p>
          <a:p>
            <a:pPr lvl="0"/>
            <a:r>
              <a:rPr b="1"/>
              <a:t>Funding acquisition</a:t>
            </a:r>
            <a:r>
              <a:rPr/>
              <a:t>: Acquisition of the financial support for the project leading to this publication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a:t>
            </a:r>
          </a:p>
          <a:p>
            <a:pPr lvl="0" indent="0" marL="1270000">
              <a:buNone/>
            </a:pPr>
            <a:r>
              <a:rPr sz="2000" b="1"/>
              <a:t>Prerequisites</a:t>
            </a:r>
          </a:p>
          <a:p>
            <a:pPr lvl="0" indent="0" marL="1270000">
              <a:buNone/>
            </a:pPr>
            <a:r>
              <a:rPr sz="2000"/>
              <a:t>Before completing this submodule, please carefully read about the necessary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Before we start: Survey time!</a:t>
            </a:r>
          </a:p>
          <a:p>
            <a:pPr lvl="0"/>
            <a:r>
              <a:rPr b="1"/>
              <a:t>Aim</a:t>
            </a:r>
            <a:r>
              <a:rPr/>
              <a:t>: The pre-submodule survey serves to examine students’ prior knowledge about the sumodule’s topic.</a:t>
            </a:r>
          </a:p>
          <a:p>
            <a:pPr lvl="0"/>
            <a:r>
              <a:rPr/>
              <a:t>Use free survey software such as or other survey software (particify, formR) to establish the following questions (shown on separate slides):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Use visuals from the survey to highlight specific answers.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Where are we at?</a:t>
            </a:r>
          </a:p>
          <a:p>
            <a:pPr lvl="0"/>
            <a:r>
              <a:rPr b="1"/>
              <a:t>Aim</a:t>
            </a:r>
            <a:r>
              <a:rPr/>
              <a:t>: Place the topic of the current submodule within a broader context.</a:t>
            </a:r>
          </a:p>
          <a:p>
            <a:pPr lvl="0"/>
            <a:r>
              <a:rPr/>
              <a:t>Remind students what you are working towards and what the bigger picture is.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Learning goals</a:t>
            </a:r>
          </a:p>
          <a:p>
            <a:pPr lvl="0"/>
            <a:r>
              <a:rPr b="1"/>
              <a:t>Aim</a:t>
            </a:r>
            <a:r>
              <a:rPr/>
              <a:t>: Formulate specific, action-oriented goals learning goals which are measurable and observable in line with Bloom’s taxonomy (Anderson et al., 2001; Bloom et al., 1956)</a:t>
            </a:r>
          </a:p>
          <a:p>
            <a:pPr lvl="0"/>
            <a:r>
              <a:rPr/>
              <a:t>Place an emphasis on the </a:t>
            </a:r>
            <a:r>
              <a:rPr b="1"/>
              <a:t>verbs</a:t>
            </a:r>
            <a:r>
              <a:rPr/>
              <a:t> of the learning goals and choose verbs that align with the skills you want to develop or assess.</a:t>
            </a:r>
          </a:p>
          <a:p>
            <a:pPr lvl="0"/>
            <a:r>
              <a:rPr/>
              <a:t>Examples:</a:t>
            </a:r>
          </a:p>
          <a:p>
            <a:pPr lvl="1"/>
            <a:r>
              <a:rPr/>
              <a:t>Students will </a:t>
            </a:r>
            <a:r>
              <a:rPr b="1"/>
              <a:t>describe</a:t>
            </a:r>
            <a:r>
              <a:rPr/>
              <a:t> the process of photosynthesis or</a:t>
            </a:r>
          </a:p>
          <a:p>
            <a:pPr lvl="1"/>
            <a:r>
              <a:rPr/>
              <a:t>Students will </a:t>
            </a:r>
            <a:r>
              <a:rPr b="1"/>
              <a:t>construct</a:t>
            </a:r>
            <a:r>
              <a:rPr/>
              <a:t> a diagram illustrating the process of photosynthesis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Covered in in this session</a:t>
            </a:r>
          </a:p>
          <a:p>
            <a:pPr lvl="0"/>
            <a:r>
              <a:rPr b="1"/>
              <a:t>Aim</a:t>
            </a:r>
            <a:r>
              <a:rPr/>
              <a:t>: This slides serves as an overview of the topics that are discussed, presented as bullet point:</a:t>
            </a:r>
          </a:p>
          <a:p>
            <a:pPr lvl="0" indent="0" marL="0">
              <a:buNone/>
            </a:pPr>
            <a:r>
              <a:rPr b="1"/>
              <a:t>(for now copied from Didactis2 go, use as basis only)</a:t>
            </a:r>
          </a:p>
          <a:p>
            <a:pPr lvl="0"/>
            <a:r>
              <a:rPr/>
              <a:t>Constructivism</a:t>
            </a:r>
          </a:p>
          <a:p>
            <a:pPr lvl="0"/>
            <a:r>
              <a:rPr/>
              <a:t>Constructive alignment</a:t>
            </a:r>
          </a:p>
          <a:p>
            <a:pPr lvl="0"/>
            <a:r>
              <a:rPr/>
              <a:t>Setting learning goals</a:t>
            </a:r>
          </a:p>
          <a:p>
            <a:pPr lvl="0"/>
            <a:r>
              <a:rPr/>
              <a:t>AVIVA-Schema</a:t>
            </a:r>
          </a:p>
          <a:p>
            <a:pPr lvl="0"/>
            <a:r>
              <a:rPr/>
              <a:t>Activation methods</a:t>
            </a:r>
          </a:p>
          <a:p>
            <a:pPr lvl="0"/>
            <a:r>
              <a:rPr/>
              <a:t>Reflection</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much teaching experience do you have?</a:t>
            </a:r>
          </a:p>
          <a:p>
            <a:pPr lvl="0"/>
            <a:r>
              <a:rPr/>
              <a:t>e.g., workshops, peer training, (guest) lectures etc.</a:t>
            </a:r>
          </a:p>
          <a:p>
            <a:pPr lvl="0" indent="0" marL="0">
              <a:buNone/>
            </a:pPr>
            <a:r>
              <a:rPr/>
              <a:t> </a:t>
            </a:r>
          </a:p>
        </p:txBody>
      </p:sp>
      <p:pic>
        <p:nvPicPr>
          <p:cNvPr descr="images/experience-spectrum.png" id="0" name="Picture 1"/>
          <p:cNvPicPr>
            <a:picLocks noGrp="1" noChangeAspect="1"/>
          </p:cNvPicPr>
          <p:nvPr/>
        </p:nvPicPr>
        <p:blipFill>
          <a:blip r:embed="rId3"/>
          <a:stretch>
            <a:fillRect/>
          </a:stretch>
        </p:blipFill>
        <p:spPr bwMode="auto">
          <a:xfrm>
            <a:off x="3568700" y="1866900"/>
            <a:ext cx="5105400" cy="10541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much have you already thought about didactics?</a:t>
            </a:r>
          </a:p>
          <a:p>
            <a:pPr lvl="0" indent="0" marL="0">
              <a:buNone/>
            </a:pPr>
            <a:r>
              <a:rPr/>
              <a:t>  </a:t>
            </a:r>
          </a:p>
        </p:txBody>
      </p:sp>
      <p:pic>
        <p:nvPicPr>
          <p:cNvPr descr="images/didactics-thoughts-spectrum.png" id="0" name="Picture 1"/>
          <p:cNvPicPr>
            <a:picLocks noGrp="1" noChangeAspect="1"/>
          </p:cNvPicPr>
          <p:nvPr/>
        </p:nvPicPr>
        <p:blipFill>
          <a:blip r:embed="rId3"/>
          <a:stretch>
            <a:fillRect/>
          </a:stretch>
        </p:blipFill>
        <p:spPr bwMode="auto">
          <a:xfrm>
            <a:off x="3568700" y="1854200"/>
            <a:ext cx="5105400" cy="1079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How big are your teaching/training audiences?</a:t>
            </a:r>
          </a:p>
          <a:p>
            <a:pPr lvl="0" indent="0" marL="0">
              <a:buNone/>
            </a:pPr>
            <a:r>
              <a:rPr/>
              <a:t>  </a:t>
            </a:r>
          </a:p>
        </p:txBody>
      </p:sp>
      <p:pic>
        <p:nvPicPr>
          <p:cNvPr descr="images/audience.png" id="0" name="Picture 1"/>
          <p:cNvPicPr>
            <a:picLocks noGrp="1" noChangeAspect="1"/>
          </p:cNvPicPr>
          <p:nvPr/>
        </p:nvPicPr>
        <p:blipFill>
          <a:blip r:embed="rId3"/>
          <a:stretch>
            <a:fillRect/>
          </a:stretch>
        </p:blipFill>
        <p:spPr bwMode="auto">
          <a:xfrm>
            <a:off x="3568700" y="2057400"/>
            <a:ext cx="5105400" cy="6731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Constructivism in learning</a:t>
            </a:r>
          </a:p>
          <a:p>
            <a:pPr lvl="0" indent="0" marL="0">
              <a:buNone/>
            </a:pPr>
            <a:r>
              <a:rPr/>
              <a:t>As a process, learning is …</a:t>
            </a:r>
          </a:p>
          <a:p>
            <a:pPr lvl="0"/>
            <a:r>
              <a:rPr/>
              <a:t>active and self-controlled</a:t>
            </a:r>
          </a:p>
          <a:p>
            <a:pPr lvl="0"/>
            <a:r>
              <a:rPr/>
              <a:t>student-centered</a:t>
            </a:r>
          </a:p>
          <a:p>
            <a:pPr lvl="0"/>
            <a:r>
              <a:rPr/>
              <a:t>integrated in a broader context and a positive learning atmosphere</a:t>
            </a:r>
          </a:p>
          <a:p>
            <a:pPr lvl="0"/>
            <a:r>
              <a:rPr/>
              <a:t>social and emotional</a:t>
            </a:r>
          </a:p>
          <a:p>
            <a:pPr lvl="0" indent="0" marL="0">
              <a:buNone/>
            </a:pPr>
            <a:r>
              <a:rPr/>
              <a:t>Efgivia et al., 2021</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Constructivism: Core aspects</a:t>
            </a:r>
          </a:p>
          <a:p>
            <a:pPr lvl="0"/>
            <a:r>
              <a:rPr/>
              <a:t>Knowledge is actively constructed by the learner, not imposed</a:t>
            </a:r>
          </a:p>
          <a:p>
            <a:pPr lvl="0"/>
            <a:r>
              <a:rPr/>
              <a:t>Learners bring exisiting concepts to learning situations</a:t>
            </a:r>
          </a:p>
          <a:p>
            <a:pPr lvl="1"/>
            <a:r>
              <a:rPr/>
              <a:t>Existing ideas need to be incroporated into teaching in order to challenge/change these</a:t>
            </a:r>
          </a:p>
          <a:p>
            <a:pPr lvl="0"/>
            <a:r>
              <a:rPr/>
              <a:t>Learners construct knowledge through interaction with physical world/ social settings and within specific cultural/linguistic environments</a:t>
            </a:r>
          </a:p>
          <a:p>
            <a:pPr lvl="0"/>
            <a:r>
              <a:rPr/>
              <a:t>Learning environment is integrated into the learning process</a:t>
            </a:r>
          </a:p>
          <a:p>
            <a:pPr lvl="0" indent="0" marL="0">
              <a:buNone/>
            </a:pPr>
            <a:r>
              <a:rPr/>
              <a:t>Sjoberg, 2010; Tauber, 2006</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Constructional alignment</a:t>
            </a:r>
          </a:p>
          <a:p>
            <a:pPr lvl="0" indent="0" marL="0">
              <a:buNone/>
            </a:pPr>
            <a:r>
              <a:rPr/>
              <a:t>Focus here on learning objectives: what do we want (our audience) to achieve?</a:t>
            </a:r>
          </a:p>
        </p:txBody>
      </p:sp>
      <p:pic>
        <p:nvPicPr>
          <p:cNvPr descr="images/constructional-alignment.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Biggs, 1996</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“Hierarchy” learning objectives</a:t>
            </a:r>
          </a:p>
          <a:p>
            <a:pPr lvl="0"/>
            <a:r>
              <a:rPr/>
              <a:t>What is the general objective of this course?</a:t>
            </a:r>
          </a:p>
          <a:p>
            <a:pPr lvl="0"/>
            <a:r>
              <a:rPr/>
              <a:t>What are specific individual learning objectives?</a:t>
            </a:r>
          </a:p>
        </p:txBody>
      </p:sp>
      <p:pic>
        <p:nvPicPr>
          <p:cNvPr descr="images/objectives-hierarchy.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Bloom’s taxonomy</a:t>
            </a:r>
          </a:p>
          <a:p>
            <a:pPr lvl="0"/>
            <a:r>
              <a:rPr/>
              <a:t>Three learning domains: cognitive, affective, psychomotor (https://teaching.uic.edu/cate-teaching-guides/syllabus-course-design/blooms-taxonomy-of-educational-objectives/)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ctr">
                        <a:buNone/>
                      </a:pPr>
                      <a:r>
                        <a:rPr/>
                        <a:t>cognitive</a:t>
                      </a:r>
                    </a:p>
                  </a:txBody>
                  <a:tcPr/>
                </a:tc>
                <a:tc>
                  <a:txBody>
                    <a:bodyPr/>
                    <a:lstStyle/>
                    <a:p>
                      <a:pPr lvl="0" indent="0" marL="0" algn="ctr">
                        <a:buNone/>
                      </a:pPr>
                      <a:r>
                        <a:rPr/>
                        <a:t>affective</a:t>
                      </a:r>
                    </a:p>
                  </a:txBody>
                  <a:tcPr/>
                </a:tc>
                <a:tc>
                  <a:txBody>
                    <a:bodyPr/>
                    <a:lstStyle/>
                    <a:p>
                      <a:pPr lvl="0" indent="0" marL="0" algn="ctr">
                        <a:buNone/>
                      </a:pPr>
                      <a:r>
                        <a:rPr/>
                        <a:t>psychomotoric</a:t>
                      </a:r>
                    </a:p>
                  </a:txBody>
                  <a:tcPr/>
                </a:tc>
              </a:tr>
              <a:tr h="0">
                <a:tc>
                  <a:txBody>
                    <a:bodyPr/>
                    <a:lstStyle/>
                    <a:p>
                      <a:endParaRPr/>
                    </a:p>
                  </a:txBody>
                </a:tc>
                <a:tc>
                  <a:txBody>
                    <a:bodyPr/>
                    <a:lstStyle/>
                    <a:p>
                      <a:endParaRPr/>
                    </a:p>
                  </a:txBody>
                </a:tc>
                <a:tc>
                  <a:txBody>
                    <a:bodyPr/>
                    <a:lstStyle/>
                    <a:p>
                      <a:pPr lvl="0" indent="0" marL="0" algn="ctr">
                        <a:buNone/>
                      </a:pPr>
                      <a:r>
                        <a:rPr/>
                        <a:t>origination</a:t>
                      </a:r>
                    </a:p>
                  </a:txBody>
                </a:tc>
              </a:tr>
              <a:tr h="0">
                <a:tc>
                  <a:txBody>
                    <a:bodyPr/>
                    <a:lstStyle/>
                    <a:p>
                      <a:pPr lvl="0" indent="0" marL="0" algn="ctr">
                        <a:buNone/>
                      </a:pPr>
                      <a:r>
                        <a:rPr/>
                        <a:t>create</a:t>
                      </a:r>
                    </a:p>
                  </a:txBody>
                </a:tc>
                <a:tc>
                  <a:txBody>
                    <a:bodyPr/>
                    <a:lstStyle/>
                    <a:p>
                      <a:endParaRPr/>
                    </a:p>
                  </a:txBody>
                </a:tc>
                <a:tc>
                  <a:txBody>
                    <a:bodyPr/>
                    <a:lstStyle/>
                    <a:p>
                      <a:pPr lvl="0" indent="0" marL="0" algn="ctr">
                        <a:buNone/>
                      </a:pPr>
                      <a:r>
                        <a:rPr/>
                        <a:t>adaptation</a:t>
                      </a:r>
                    </a:p>
                  </a:txBody>
                </a:tc>
              </a:tr>
              <a:tr h="0">
                <a:tc>
                  <a:txBody>
                    <a:bodyPr/>
                    <a:lstStyle/>
                    <a:p>
                      <a:pPr lvl="0" indent="0" marL="0" algn="ctr">
                        <a:buNone/>
                      </a:pPr>
                      <a:r>
                        <a:rPr/>
                        <a:t>evaluate</a:t>
                      </a:r>
                    </a:p>
                  </a:txBody>
                </a:tc>
                <a:tc>
                  <a:txBody>
                    <a:bodyPr/>
                    <a:lstStyle/>
                    <a:p>
                      <a:pPr lvl="0" indent="0" marL="0" algn="ctr">
                        <a:buNone/>
                      </a:pPr>
                      <a:r>
                        <a:rPr/>
                        <a:t>characterising</a:t>
                      </a:r>
                    </a:p>
                  </a:txBody>
                </a:tc>
                <a:tc>
                  <a:txBody>
                    <a:bodyPr/>
                    <a:lstStyle/>
                    <a:p>
                      <a:pPr lvl="0" indent="0" marL="0" algn="ctr">
                        <a:buNone/>
                      </a:pPr>
                      <a:r>
                        <a:rPr/>
                        <a:t>complex overt response</a:t>
                      </a:r>
                    </a:p>
                  </a:txBody>
                </a:tc>
              </a:tr>
              <a:tr h="0">
                <a:tc>
                  <a:txBody>
                    <a:bodyPr/>
                    <a:lstStyle/>
                    <a:p>
                      <a:pPr lvl="0" indent="0" marL="0" algn="ctr">
                        <a:buNone/>
                      </a:pPr>
                      <a:r>
                        <a:rPr/>
                        <a:t>analyse</a:t>
                      </a:r>
                    </a:p>
                  </a:txBody>
                </a:tc>
                <a:tc>
                  <a:txBody>
                    <a:bodyPr/>
                    <a:lstStyle/>
                    <a:p>
                      <a:pPr lvl="0" indent="0" marL="0" algn="ctr">
                        <a:buNone/>
                      </a:pPr>
                      <a:r>
                        <a:rPr/>
                        <a:t>organising</a:t>
                      </a:r>
                    </a:p>
                  </a:txBody>
                </a:tc>
                <a:tc>
                  <a:txBody>
                    <a:bodyPr/>
                    <a:lstStyle/>
                    <a:p>
                      <a:pPr lvl="0" indent="0" marL="0" algn="ctr">
                        <a:buNone/>
                      </a:pPr>
                      <a:r>
                        <a:rPr/>
                        <a:t>mechanism</a:t>
                      </a:r>
                    </a:p>
                  </a:txBody>
                </a:tc>
              </a:tr>
              <a:tr h="0">
                <a:tc>
                  <a:txBody>
                    <a:bodyPr/>
                    <a:lstStyle/>
                    <a:p>
                      <a:pPr lvl="0" indent="0" marL="0" algn="ctr">
                        <a:buNone/>
                      </a:pPr>
                      <a:r>
                        <a:rPr/>
                        <a:t>apply</a:t>
                      </a:r>
                    </a:p>
                  </a:txBody>
                </a:tc>
                <a:tc>
                  <a:txBody>
                    <a:bodyPr/>
                    <a:lstStyle/>
                    <a:p>
                      <a:pPr lvl="0" indent="0" marL="0" algn="ctr">
                        <a:buNone/>
                      </a:pPr>
                      <a:r>
                        <a:rPr/>
                        <a:t>valuing</a:t>
                      </a:r>
                    </a:p>
                  </a:txBody>
                </a:tc>
                <a:tc>
                  <a:txBody>
                    <a:bodyPr/>
                    <a:lstStyle/>
                    <a:p>
                      <a:pPr lvl="0" indent="0" marL="0" algn="ctr">
                        <a:buNone/>
                      </a:pPr>
                      <a:r>
                        <a:rPr/>
                        <a:t>guided response</a:t>
                      </a:r>
                    </a:p>
                  </a:txBody>
                </a:tc>
              </a:tr>
              <a:tr h="0">
                <a:tc>
                  <a:txBody>
                    <a:bodyPr/>
                    <a:lstStyle/>
                    <a:p>
                      <a:pPr lvl="0" indent="0" marL="0" algn="ctr">
                        <a:buNone/>
                      </a:pPr>
                      <a:r>
                        <a:rPr/>
                        <a:t>understand</a:t>
                      </a:r>
                    </a:p>
                  </a:txBody>
                </a:tc>
                <a:tc>
                  <a:txBody>
                    <a:bodyPr/>
                    <a:lstStyle/>
                    <a:p>
                      <a:pPr lvl="0" indent="0" marL="0" algn="ctr">
                        <a:buNone/>
                      </a:pPr>
                      <a:r>
                        <a:rPr/>
                        <a:t>responding</a:t>
                      </a:r>
                    </a:p>
                  </a:txBody>
                </a:tc>
                <a:tc>
                  <a:txBody>
                    <a:bodyPr/>
                    <a:lstStyle/>
                    <a:p>
                      <a:pPr lvl="0" indent="0" marL="0" algn="ctr">
                        <a:buNone/>
                      </a:pPr>
                      <a:r>
                        <a:rPr/>
                        <a:t>set</a:t>
                      </a:r>
                    </a:p>
                  </a:txBody>
                </a:tc>
              </a:tr>
              <a:tr h="0">
                <a:tc>
                  <a:txBody>
                    <a:bodyPr/>
                    <a:lstStyle/>
                    <a:p>
                      <a:pPr lvl="0" indent="0" marL="0" algn="ctr">
                        <a:buNone/>
                      </a:pPr>
                      <a:r>
                        <a:rPr/>
                        <a:t>remember</a:t>
                      </a:r>
                    </a:p>
                  </a:txBody>
                </a:tc>
                <a:tc>
                  <a:txBody>
                    <a:bodyPr/>
                    <a:lstStyle/>
                    <a:p>
                      <a:pPr lvl="0" indent="0" marL="0" algn="ctr">
                        <a:buNone/>
                      </a:pPr>
                      <a:r>
                        <a:rPr/>
                        <a:t>receiving</a:t>
                      </a:r>
                    </a:p>
                  </a:txBody>
                </a:tc>
                <a:tc>
                  <a:txBody>
                    <a:bodyPr/>
                    <a:lstStyle/>
                    <a:p>
                      <a:pPr lvl="0" indent="0" marL="0" algn="ctr">
                        <a:buNone/>
                      </a:pPr>
                      <a:r>
                        <a:rPr/>
                        <a:t>perception</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slides on learning goals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Examples</a:t>
            </a:r>
          </a:p>
          <a:p>
            <a:pPr lvl="0" indent="0" marL="0">
              <a:buNone/>
            </a:pPr>
            <a:r>
              <a:rPr/>
              <a:t>Can you think of examples from your own experience on what aligned learning outcomes, assessment tasks and teaching activities could look like in practise?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Formulating learning objectives</a:t>
            </a:r>
          </a:p>
        </p:txBody>
      </p:sp>
      <p:pic>
        <p:nvPicPr>
          <p:cNvPr descr="images/formulating-learning-objectives.png" id="0" name="Picture 1"/>
          <p:cNvPicPr>
            <a:picLocks noGrp="1" noChangeAspect="1"/>
          </p:cNvPicPr>
          <p:nvPr/>
        </p:nvPicPr>
        <p:blipFill>
          <a:blip r:embed="rId2"/>
          <a:stretch>
            <a:fillRect/>
          </a:stretch>
        </p:blipFill>
        <p:spPr bwMode="auto">
          <a:xfrm>
            <a:off x="3568700" y="952500"/>
            <a:ext cx="5105400" cy="2870200"/>
          </a:xfrm>
          <a:prstGeom prst="rect">
            <a:avLst/>
          </a:prstGeom>
          <a:noFill/>
          <a:ln w="9525">
            <a:noFill/>
            <a:headEnd/>
            <a:tailEnd/>
          </a:ln>
        </p:spPr>
      </p:pic>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Example: Formulate one learning objective for your own seminar.</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Structuring your course</a:t>
            </a:r>
          </a:p>
          <a:p>
            <a:pPr lvl="0"/>
            <a:r>
              <a:rPr/>
              <a:t>Check your working conditions: how much time do I have? How long are the sessions? Mielstones?</a:t>
            </a:r>
          </a:p>
          <a:p>
            <a:pPr lvl="0"/>
            <a:r>
              <a:rPr/>
              <a:t>Plan time for orientation during first and last session: who is who? What is happening? What is expected? What remains unclear?</a:t>
            </a:r>
          </a:p>
          <a:p>
            <a:pPr lvl="0"/>
            <a:r>
              <a:rPr/>
              <a:t>Formulate learning objectives for course</a:t>
            </a:r>
          </a:p>
          <a:p>
            <a:pPr lvl="0"/>
            <a:r>
              <a:rPr/>
              <a:t>Formulate learning objectives for each session</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 towards your audience</a:t>
            </a:r>
          </a:p>
          <a:p>
            <a:pPr lvl="0" indent="0" marL="0">
              <a:buNone/>
            </a:pPr>
            <a:r>
              <a:rPr/>
              <a:t>What can you do to create a positive learning environment?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Verbal</a:t>
            </a:r>
          </a:p>
          <a:p>
            <a:pPr lvl="0"/>
            <a:r>
              <a:rPr/>
              <a:t>Small-talk (yes, it is important)</a:t>
            </a:r>
          </a:p>
          <a:p>
            <a:pPr lvl="0"/>
            <a:r>
              <a:rPr/>
              <a:t>Call by name</a:t>
            </a:r>
          </a:p>
          <a:p>
            <a:pPr lvl="0"/>
            <a:r>
              <a:rPr/>
              <a:t>Validate and show appreciation</a:t>
            </a:r>
          </a:p>
          <a:p>
            <a:pPr lvl="0"/>
            <a:r>
              <a:rPr/>
              <a:t>Paraphrase what audience members express</a:t>
            </a:r>
          </a:p>
          <a:p>
            <a:pPr lvl="0"/>
            <a:r>
              <a:rPr/>
              <a:t>Give tangible examples</a:t>
            </a:r>
          </a:p>
          <a:p>
            <a:pPr lvl="0"/>
            <a:r>
              <a:rPr/>
              <a:t>Ask open questions</a:t>
            </a:r>
          </a:p>
          <a:p>
            <a:pPr lvl="0"/>
            <a:r>
              <a:rPr/>
              <a:t>Accept silences</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body language</a:t>
            </a:r>
          </a:p>
          <a:p>
            <a:pPr lvl="0"/>
            <a:r>
              <a:rPr/>
              <a:t>Maintain eye contact with students</a:t>
            </a:r>
          </a:p>
          <a:p>
            <a:pPr lvl="0"/>
            <a:r>
              <a:rPr/>
              <a:t>Use non-verbal communication (shake head, use hands)</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Attitudes towards your audience: methods</a:t>
            </a:r>
          </a:p>
          <a:p>
            <a:pPr lvl="0"/>
            <a:r>
              <a:rPr/>
              <a:t>Have introductory round</a:t>
            </a:r>
          </a:p>
          <a:p>
            <a:pPr lvl="0"/>
            <a:r>
              <a:rPr/>
              <a:t>Motivate audience to get involved as early as possible</a:t>
            </a:r>
          </a:p>
          <a:p>
            <a:pPr lvl="0"/>
            <a:r>
              <a:rPr/>
              <a:t>Observe the room</a:t>
            </a:r>
          </a:p>
          <a:p>
            <a:pPr lvl="0"/>
            <a:r>
              <a:rPr/>
              <a:t>Use different visualisation methods/tools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Interactive teaching methods</a:t>
            </a:r>
          </a:p>
          <a:p>
            <a:pPr lvl="0" indent="0" marL="0">
              <a:buNone/>
            </a:pPr>
            <a:r>
              <a:rPr/>
              <a:t>transition to activation method</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Your turn!</a:t>
            </a:r>
          </a:p>
          <a:p>
            <a:pPr lvl="0" indent="0" marL="0">
              <a:buNone/>
            </a:pPr>
            <a:r>
              <a:rPr/>
              <a:t>Take 20 minutes in pairs to practise an activation method of your choice in the context of a topic of your choice. Each pair demonstrates the activity in “class”, with the rest acting as audience.</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Literature</a:t>
            </a:r>
          </a:p>
          <a:p>
            <a:pPr lvl="0"/>
            <a:r>
              <a:rPr/>
              <a:t>Antosch-Bardohn, J. (2018): Nicht-intentionale Lernprozesse im Alltag von Studierenden. Logos Verlag.</a:t>
            </a:r>
          </a:p>
          <a:p>
            <a:pPr lvl="0"/>
            <a:r>
              <a:rPr/>
              <a:t>Antosch-Bardohn, J., Beege, B., &amp; Primus, N. (2019). In die Lehre starten. UTB GmbH.</a:t>
            </a:r>
          </a:p>
          <a:p>
            <a:pPr lvl="0"/>
            <a:r>
              <a:rPr/>
              <a:t>Antosch-Bardohn, J. (2019): “Für mein Thema brennen die Studis” - Lernmotivation in der Hochschullehre. In: Neues Handbuch Hochschullehre. Nummer 89, S. 1-18.</a:t>
            </a:r>
          </a:p>
          <a:p>
            <a:pPr lvl="0"/>
            <a:r>
              <a:rPr/>
              <a:t>Hofmann, E. &amp; Löhle, M. (2004). Erfolgreich lernen. Hogrefe Verlag.</a:t>
            </a:r>
          </a:p>
          <a:p>
            <a:pPr lvl="0"/>
            <a:r>
              <a:rPr/>
              <a:t>Kergel, D. &amp; Heidkamp-Kergel, B. (2020). E-Learning, EDidaktik und digitales Lernen. Springer VS.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 you!</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terms and definitions</a:t>
            </a:r>
          </a:p>
          <a:p>
            <a:pPr lvl="0"/>
            <a:r>
              <a:rPr b="1"/>
              <a:t>Aim</a:t>
            </a:r>
            <a:r>
              <a:rPr/>
              <a:t>: Introduce key terms and definitions that students will come across throughout the session. </a:t>
            </a:r>
          </a:p>
          <a:p>
            <a:pPr lvl="0"/>
            <a:r>
              <a:rPr b="1"/>
              <a:t>Key Term 1</a:t>
            </a:r>
            <a:r>
              <a:rPr/>
              <a:t>: Definition</a:t>
            </a:r>
          </a:p>
          <a:p>
            <a:pPr lvl="0"/>
            <a:r>
              <a:rPr b="1"/>
              <a:t>Key Term 2</a:t>
            </a:r>
            <a:r>
              <a:rPr/>
              <a:t>: Definition</a:t>
            </a:r>
          </a:p>
          <a:p>
            <a:pPr lvl="0"/>
            <a:r>
              <a:rPr b="1"/>
              <a:t>Key Term 3</a:t>
            </a:r>
            <a:r>
              <a:rPr/>
              <a:t>: Definition</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Introduction of submodule topic</a:t>
            </a:r>
          </a:p>
          <a:p>
            <a:pPr lvl="0"/>
            <a:r>
              <a:rPr b="1"/>
              <a:t>Aim</a:t>
            </a:r>
            <a:r>
              <a:rPr/>
              <a:t>: Core theoretical introduction of submodule topic.</a:t>
            </a:r>
          </a:p>
          <a:p>
            <a:pPr lvl="0"/>
            <a:r>
              <a:rPr/>
              <a:t>Pair theoretical aspects with practical exercises and group discussions according to the Think-Pair-Share style and according to Cognitive Load Theory (Sweller, 1980).</a:t>
            </a:r>
          </a:p>
          <a:p>
            <a:pPr lvl="0"/>
            <a:r>
              <a:rPr/>
              <a:t>Use multiple slides for this part.</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Submodule content slide</a:t>
            </a:r>
          </a:p>
          <a:p>
            <a:pPr lvl="0"/>
            <a:r>
              <a:rPr b="1"/>
              <a:t>Aim</a:t>
            </a:r>
            <a:r>
              <a:rPr/>
              <a:t>: Present relevant content</a:t>
            </a:r>
          </a:p>
          <a:p>
            <a:pPr lvl="0"/>
            <a:r>
              <a:rPr/>
              <a:t>Highlight particularly important aspects with Quarto call-out boxes, for example:</a:t>
            </a:r>
          </a:p>
          <a:p>
            <a:pPr lvl="0" indent="0" marL="1270000">
              <a:buNone/>
            </a:pPr>
            <a:r>
              <a:rPr sz="2000" b="1"/>
              <a:t>Important with Title</a:t>
            </a:r>
          </a:p>
          <a:p>
            <a:pPr lvl="0" indent="0" marL="1270000">
              <a:buNone/>
            </a:pPr>
            <a:r>
              <a:rPr sz="2000"/>
              <a:t>This is an example of a callout box to highlight particularly important information.</a:t>
            </a:r>
          </a:p>
          <a:p>
            <a:pPr lvl="0" indent="0" marL="1270000">
              <a:buNone/>
            </a:pPr>
            <a:r>
              <a:rPr sz="2000" b="1"/>
              <a:t>Tip with Title</a:t>
            </a:r>
          </a:p>
          <a:p>
            <a:pPr lvl="0" indent="0" marL="1270000">
              <a:buNone/>
            </a:pPr>
            <a:r>
              <a:rPr sz="2000"/>
              <a:t>This is an example of a callout box to give important tips.</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1</a:t>
            </a:r>
          </a:p>
          <a:p>
            <a:pPr lvl="0"/>
            <a:r>
              <a:rPr b="1"/>
              <a:t>Aim</a:t>
            </a:r>
            <a:r>
              <a:rPr/>
              <a:t>: Design more practical exercises for students to apply the new skills in practise.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Pre-break survey</a:t>
            </a:r>
          </a:p>
          <a:p>
            <a:pPr lvl="0"/>
            <a:r>
              <a:rPr b="1"/>
              <a:t>Aim</a:t>
            </a:r>
            <a:r>
              <a:rPr/>
              <a:t>: This pre-break survey serves to examine students’ current understanding of key concepts of the submodule</a:t>
            </a:r>
          </a:p>
          <a:p>
            <a:pPr lvl="0" indent="0" marL="0">
              <a:spcBef>
                <a:spcPts val="3000"/>
              </a:spcBef>
              <a:buNone/>
            </a:pPr>
            <a:r>
              <a:rPr b="1"/>
              <a:t>Use free survey software such as or other survey software (particify, formR) to establish the following questions (shown on separate slides):</a:t>
            </a:r>
          </a:p>
          <a:p>
            <a:pPr lvl="0" indent="0" marL="0">
              <a:buNone/>
            </a:pPr>
            <a:r>
              <a:rPr b="1"/>
              <a:t>Which species is the largest type of penguin</a:t>
            </a:r>
            <a:r>
              <a:rPr/>
              <a:t>?</a:t>
            </a:r>
          </a:p>
          <a:p>
            <a:pPr lvl="0" indent="-342900" marL="342900">
              <a:buAutoNum type="alphaLcPeriod"/>
            </a:pPr>
            <a:r>
              <a:rPr/>
              <a:t>Chinstrap Penguin</a:t>
            </a:r>
          </a:p>
          <a:p>
            <a:pPr lvl="0" indent="-342900" marL="342900">
              <a:buAutoNum type="alphaLcPeriod"/>
            </a:pPr>
            <a:r>
              <a:rPr/>
              <a:t>Emperor Penguin ✅</a:t>
            </a:r>
          </a:p>
          <a:p>
            <a:pPr lvl="0" indent="-342900" marL="342900">
              <a:buAutoNum type="alphaLcPeriod"/>
            </a:pPr>
            <a:r>
              <a:rPr/>
              <a:t>Adélie Penguin</a:t>
            </a:r>
          </a:p>
          <a:p>
            <a:pPr lvl="0" indent="-342900" marL="342900">
              <a:buAutoNum type="alphaLcPeriod"/>
            </a:pPr>
            <a:r>
              <a:rPr/>
              <a:t>King Penguin</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the key biological feature that helps penguins swim efficiently?</a:t>
            </a:r>
          </a:p>
          <a:p>
            <a:pPr lvl="0" indent="-342900" marL="342900">
              <a:buAutoNum type="alphaLcPeriod"/>
            </a:pPr>
            <a:r>
              <a:rPr/>
              <a:t>Hollow bones for buoyancy</a:t>
            </a:r>
          </a:p>
          <a:p>
            <a:pPr lvl="0" indent="-342900" marL="342900">
              <a:buAutoNum type="alphaLcPeriod"/>
            </a:pPr>
            <a:r>
              <a:rPr/>
              <a:t>Webbed feet for paddling</a:t>
            </a:r>
          </a:p>
          <a:p>
            <a:pPr lvl="0" indent="-342900" marL="342900">
              <a:buAutoNum type="alphaLcPeriod"/>
            </a:pPr>
            <a:r>
              <a:rPr/>
              <a:t>Waterproof feathers and flipper-like wings ✅</a:t>
            </a:r>
          </a:p>
          <a:p>
            <a:pPr lvl="0" indent="-342900" marL="342900">
              <a:buAutoNum type="alphaLcPeriod"/>
            </a:pPr>
            <a:r>
              <a:rPr/>
              <a:t>Gills to breathe underwater</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Break! 15 minutes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Post-break survey discussion</a:t>
            </a:r>
          </a:p>
          <a:p>
            <a:pPr lvl="0"/>
            <a:r>
              <a:rPr b="1"/>
              <a:t>Aim</a:t>
            </a:r>
            <a:r>
              <a:rPr/>
              <a:t>: To clarify concepts and aspects that are not yet understood</a:t>
            </a:r>
          </a:p>
          <a:p>
            <a:pPr lvl="0"/>
            <a:r>
              <a:rPr/>
              <a:t>Highlight specific answers given during the survey</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Practical Exercise 2</a:t>
            </a:r>
          </a:p>
          <a:p>
            <a:pPr lvl="0"/>
            <a:r>
              <a:rPr b="1"/>
              <a:t>Aim</a:t>
            </a:r>
            <a:r>
              <a:rPr/>
              <a:t>: Design more practical exercises for students to apply the new skills in practise.</a:t>
            </a:r>
          </a:p>
          <a:p>
            <a:pPr lvl="0"/>
            <a:r>
              <a:rPr/>
              <a:t>Depending on the topic, the exercises should be in accordance with the learning objective(s).</a:t>
            </a:r>
          </a:p>
          <a:p>
            <a:pPr lvl="0"/>
            <a:r>
              <a:rPr/>
              <a:t>Add a description of the task, as well as a checklist as an overview of that your students need to be doing.</a:t>
            </a:r>
          </a:p>
          <a:p>
            <a:pPr lvl="0"/>
            <a:r>
              <a:rPr/>
              <a:t>☒ Step 1</a:t>
            </a:r>
          </a:p>
          <a:p>
            <a:pPr lvl="0"/>
            <a:r>
              <a:rPr/>
              <a:t>☐ Step 2</a:t>
            </a:r>
          </a:p>
          <a:p>
            <a:pPr lvl="0"/>
            <a:r>
              <a:rPr/>
              <a:t>☐ Step 3</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Relevance and implications</a:t>
            </a:r>
          </a:p>
          <a:p>
            <a:pPr lvl="0"/>
            <a:r>
              <a:rPr b="1"/>
              <a:t>Aim</a:t>
            </a:r>
            <a:r>
              <a:rPr/>
              <a:t>: To work out the relevance of the topic to your students.</a:t>
            </a:r>
          </a:p>
          <a:p>
            <a:pPr lvl="0"/>
            <a:r>
              <a:rPr/>
              <a:t>In an interactive setting, discuss how the new skills could be applied in practise with specific examples.</a:t>
            </a:r>
          </a:p>
          <a:p>
            <a:pPr lvl="0"/>
            <a:r>
              <a:rPr/>
              <a:t>Examine downfalls and practical obstacles.</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Take-home message</a:t>
            </a:r>
          </a:p>
          <a:p>
            <a:pPr lvl="0" indent="0" marL="0">
              <a:buNone/>
            </a:pPr>
            <a:r>
              <a:rPr b="1"/>
              <a:t>Aim</a:t>
            </a:r>
            <a:r>
              <a:rPr/>
              <a:t>: End lesson on clear take-home message that are interactively compiled by students.</a:t>
            </a:r>
          </a:p>
          <a:p>
            <a:pPr lvl="0" indent="0" marL="1270000">
              <a:buNone/>
            </a:pPr>
            <a:r>
              <a:rPr sz="2000" b="1"/>
              <a:t>Tip with Title</a:t>
            </a:r>
          </a:p>
          <a:p>
            <a:pPr lvl="0" indent="0" marL="1270000">
              <a:buNone/>
            </a:pPr>
            <a:r>
              <a:rPr sz="2000"/>
              <a:t>Add one practical tips or take-home message.</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Assignment</a:t>
            </a:r>
          </a:p>
          <a:p>
            <a:pPr lvl="0"/>
            <a:r>
              <a:rPr b="1"/>
              <a:t>Aim</a:t>
            </a:r>
            <a:r>
              <a:rPr/>
              <a:t>: Explain the homework assignment and the rationale behind the homework.</a:t>
            </a:r>
          </a:p>
          <a:p>
            <a:pPr lvl="0"/>
            <a:r>
              <a:rPr/>
              <a:t>Examine whether/how it will be assessed</a:t>
            </a:r>
          </a:p>
          <a:p>
            <a:pPr lvl="0"/>
            <a:r>
              <a:rPr/>
              <a:t>Mention scoring rubrics, if applicable</a:t>
            </a:r>
          </a:p>
          <a:p>
            <a:pPr lvl="0"/>
            <a:r>
              <a:rPr/>
              <a:t>Design a peer-review system for assignments to place students in role of reviewer and author</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To conclude: Survey time!</a:t>
            </a:r>
          </a:p>
          <a:p>
            <a:pPr lvl="0"/>
            <a:r>
              <a:rPr b="1"/>
              <a:t>Aim</a:t>
            </a:r>
            <a:r>
              <a:rPr/>
              <a:t>: This post-submodule survey serves to examine students’ current knowledge about the sumodule’s topic.</a:t>
            </a:r>
          </a:p>
          <a:p>
            <a:pPr lvl="0"/>
            <a:r>
              <a:rPr/>
              <a:t>Use free survey software such as or other survey software (particify, formR) to establish the following questions (shown on separate slides):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What is your level of familiarity with [Topic] (e.g., basic concepts, terminology, or tools)?</a:t>
            </a:r>
          </a:p>
          <a:p>
            <a:pPr lvl="0" indent="-342900" marL="342900">
              <a:buAutoNum type="alphaLcPeriod"/>
            </a:pPr>
            <a:r>
              <a:rPr/>
              <a:t>I have never heard of it before.</a:t>
            </a:r>
          </a:p>
          <a:p>
            <a:pPr lvl="0" indent="-342900" marL="342900">
              <a:buAutoNum type="alphaLcPeriod"/>
            </a:pPr>
            <a:r>
              <a:rPr/>
              <a:t>I have heard of it but have never worked with it.</a:t>
            </a:r>
          </a:p>
          <a:p>
            <a:pPr lvl="0" indent="-342900" marL="342900">
              <a:buAutoNum type="alphaLcPeriod"/>
            </a:pPr>
            <a:r>
              <a:rPr/>
              <a:t>I have basic understanding and experience with it.</a:t>
            </a:r>
          </a:p>
          <a:p>
            <a:pPr lvl="0" indent="-342900" marL="342900">
              <a:buAutoNum type="alphaLcPeriod"/>
            </a:pPr>
            <a:r>
              <a:rPr/>
              <a:t>I am very familiar and have worked with it extensively.</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Which of the following concepts or skills do you feel most confident about in relation to [Topic]? (Select all that apply)</a:t>
            </a:r>
          </a:p>
          <a:p>
            <a:pPr lvl="0" indent="-342900" marL="342900">
              <a:buAutoNum type="alphaLcPeriod"/>
            </a:pPr>
            <a:r>
              <a:rPr/>
              <a:t>Concept 1</a:t>
            </a:r>
          </a:p>
          <a:p>
            <a:pPr lvl="0" indent="-342900" marL="342900">
              <a:buAutoNum type="alphaLcPeriod"/>
            </a:pPr>
            <a:r>
              <a:rPr/>
              <a:t>Concept 2</a:t>
            </a:r>
          </a:p>
          <a:p>
            <a:pPr lvl="0" indent="-342900" marL="342900">
              <a:buAutoNum type="alphaLcPeriod"/>
            </a:pPr>
            <a:r>
              <a:rPr/>
              <a:t>Concept 3</a:t>
            </a:r>
          </a:p>
          <a:p>
            <a:pPr lvl="0" indent="-342900" marL="342900">
              <a:buAutoNum type="alphaLcPeriod"/>
            </a:pPr>
            <a:r>
              <a:rPr/>
              <a:t>Concept 4</a:t>
            </a:r>
          </a:p>
          <a:p>
            <a:pPr lvl="0" indent="-342900" marL="342900">
              <a:buAutoNum type="alphaLcPeriod"/>
            </a:pPr>
            <a:r>
              <a:rPr/>
              <a:t>I am not sure about any of these concepts.</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 a scale of 1 to 5, how comfortable are you with using [specific tool/technology] related to [Topic]? (1 = Not comfortable at all, 5 = Very comfortable)</a:t>
            </a:r>
          </a:p>
          <a:p>
            <a:pPr lvl="0" indent="-342900" marL="342900">
              <a:buAutoNum type="alphaLcPeriod"/>
            </a:pPr>
            <a:r>
              <a:rPr/>
              <a:t>1</a:t>
            </a:r>
          </a:p>
          <a:p>
            <a:pPr lvl="0" indent="-342900" marL="342900">
              <a:buAutoNum type="alphaLcPeriod"/>
            </a:pPr>
            <a:r>
              <a:rPr/>
              <a:t>2</a:t>
            </a:r>
          </a:p>
          <a:p>
            <a:pPr lvl="0" indent="-342900" marL="342900">
              <a:buAutoNum type="alphaLcPeriod"/>
            </a:pPr>
            <a:r>
              <a:rPr/>
              <a:t>3</a:t>
            </a:r>
          </a:p>
          <a:p>
            <a:pPr lvl="0" indent="-342900" marL="342900">
              <a:buAutoNum type="alphaLcPeriod"/>
            </a:pPr>
            <a:r>
              <a:rPr/>
              <a:t>4</a:t>
            </a:r>
          </a:p>
          <a:p>
            <a:pPr lvl="0" indent="-342900" marL="342900">
              <a:buAutoNum type="alphaLcPeriod"/>
            </a:pPr>
            <a:r>
              <a:rPr/>
              <a:t>5</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Discussion of survey results</a:t>
            </a:r>
          </a:p>
          <a:p>
            <a:pPr lvl="0"/>
            <a:r>
              <a:rPr b="1"/>
              <a:t>Aim</a:t>
            </a:r>
            <a:r>
              <a:rPr/>
              <a:t>: Briefly examine the answers given to each question interactively with the group.</a:t>
            </a:r>
          </a:p>
          <a:p>
            <a:pPr lvl="0"/>
            <a:r>
              <a:rPr/>
              <a:t>Compare and highlight specific differences in answers between pre- and post-survey answers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References</a:t>
            </a:r>
          </a:p>
          <a:p>
            <a:pPr lvl="0"/>
            <a:r>
              <a:rPr/>
              <a:t>Provide literature you refer to throughout this lesson.</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Thanks! </a:t>
            </a:r>
          </a:p>
        </p:txBody>
      </p:sp>
      <p:sp>
        <p:nvSpPr>
          <p:cNvPr id="3" name="Content Placeholder 2"/>
          <p:cNvSpPr>
            <a:spLocks noGrp="1"/>
          </p:cNvSpPr>
          <p:nvPr>
            <p:ph idx="1"/>
          </p:nvPr>
        </p:nvSpPr>
        <p:spPr/>
        <p:txBody>
          <a:bodyPr/>
          <a:lstStyle/>
          <a:p>
            <a:pPr lvl="0" indent="0" marL="0">
              <a:buNone/>
            </a:pPr>
            <a:r>
              <a:rPr/>
              <a:t>See you next class :)</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Pedagogical add-on tools for instructors</a:t>
            </a:r>
          </a:p>
          <a:p>
            <a:pPr lvl="0"/>
            <a:r>
              <a:rPr/>
              <a:t>This section is dedicated to ideas on how to incorporate pedagogical tools into teaching for this specific submodule topic. This could mean:</a:t>
            </a:r>
          </a:p>
          <a:p>
            <a:pPr lvl="1"/>
            <a:r>
              <a:rPr/>
              <a:t>Information about the scientific evidence on the theory of the pedagogical add-on tool and the evidence for its efficacy.</a:t>
            </a:r>
          </a:p>
          <a:p>
            <a:pPr lvl="1"/>
            <a:r>
              <a:rPr/>
              <a:t>Discussion/reflection on how tools can be incorporated into the teaching for this particular content.</a:t>
            </a:r>
          </a:p>
          <a:p>
            <a:pPr lvl="1"/>
            <a:r>
              <a:rPr/>
              <a:t>Extra exercises for faster students.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Additional literature for instructors</a:t>
            </a:r>
          </a:p>
          <a:p>
            <a:pPr lvl="0"/>
            <a:r>
              <a:rPr/>
              <a:t>References for content</a:t>
            </a:r>
          </a:p>
          <a:p>
            <a:pPr lvl="0"/>
            <a:r>
              <a:rPr/>
              <a:t>References for pedagogical add-on tools</a:t>
            </a:r>
            <a:br/>
          </a:p>
          <a:p>
            <a:pPr lvl="0"/>
            <a:r>
              <a:rPr/>
              <a:t>Other resources (videos etc.)</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Formatting elements for instructors</a:t>
            </a:r>
          </a:p>
        </p:txBody>
      </p:sp>
      <p:sp>
        <p:nvSpPr>
          <p:cNvPr id="3" name="Content Placeholder 2"/>
          <p:cNvSpPr>
            <a:spLocks noGrp="1"/>
          </p:cNvSpPr>
          <p:nvPr>
            <p:ph idx="1"/>
          </p:nvPr>
        </p:nvSpPr>
        <p:spPr/>
        <p:txBody>
          <a:bodyPr/>
          <a:lstStyle/>
          <a:p>
            <a:pPr lvl="0"/>
            <a:r>
              <a:rPr b="1"/>
              <a:t>Aim</a:t>
            </a:r>
            <a:r>
              <a:rPr/>
              <a:t>: This section contains templates for different formatting elements, which can be modified and adapted for the instructor’s individual purposes.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Text with example links</a:t>
            </a:r>
          </a:p>
          <a:p>
            <a:pPr lvl="0"/>
            <a:r>
              <a:rPr>
                <a:hlinkClick r:id="rId2"/>
              </a:rPr>
              <a:t>Quarto Documentation</a:t>
            </a:r>
          </a:p>
          <a:p>
            <a:pPr lvl="0"/>
            <a:r>
              <a:rPr>
                <a:hlinkClick r:id="rId3"/>
              </a:rPr>
              <a:t>Reveal.js Documentation</a:t>
            </a:r>
          </a:p>
          <a:p>
            <a:pPr lvl="0"/>
            <a:r>
              <a:rPr>
                <a:hlinkClick r:id="rId4"/>
              </a:rPr>
              <a:t>Markdown Guide</a:t>
            </a:r>
          </a:p>
          <a:p>
            <a:pPr lvl="0"/>
            <a:r>
              <a:rPr>
                <a:hlinkClick r:id="rId5"/>
              </a:rPr>
              <a:t>GitHub</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Basic text formatting</a:t>
            </a:r>
          </a:p>
          <a:p>
            <a:pPr lvl="0"/>
            <a:r>
              <a:rPr b="1"/>
              <a:t>Bold:</a:t>
            </a:r>
            <a:r>
              <a:rPr/>
              <a:t> </a:t>
            </a:r>
            <a:r>
              <a:rPr>
                <a:latin typeface="Courier"/>
              </a:rPr>
              <a:t>**bold**</a:t>
            </a:r>
            <a:r>
              <a:rPr/>
              <a:t> → </a:t>
            </a:r>
            <a:r>
              <a:rPr b="1"/>
              <a:t>bold</a:t>
            </a:r>
          </a:p>
          <a:p>
            <a:pPr lvl="0"/>
            <a:r>
              <a:rPr i="1"/>
              <a:t>Italic:</a:t>
            </a:r>
            <a:r>
              <a:rPr/>
              <a:t> </a:t>
            </a:r>
            <a:r>
              <a:rPr>
                <a:latin typeface="Courier"/>
              </a:rPr>
              <a:t>*italic*</a:t>
            </a:r>
            <a:r>
              <a:rPr/>
              <a:t> → </a:t>
            </a:r>
            <a:r>
              <a:rPr i="1"/>
              <a:t>italic</a:t>
            </a:r>
          </a:p>
          <a:p>
            <a:pPr lvl="0"/>
            <a:r>
              <a:rPr strike="sngStrike"/>
              <a:t>Strikethrough:</a:t>
            </a:r>
            <a:r>
              <a:rPr/>
              <a:t> </a:t>
            </a:r>
            <a:r>
              <a:rPr>
                <a:latin typeface="Courier"/>
              </a:rPr>
              <a:t>~~text~~</a:t>
            </a:r>
            <a:r>
              <a:rPr/>
              <a:t> → </a:t>
            </a:r>
            <a:r>
              <a:rPr strike="sngStrike"/>
              <a:t>text</a:t>
            </a:r>
          </a:p>
          <a:p>
            <a:pPr lvl="0"/>
            <a:r>
              <a:rPr>
                <a:latin typeface="Courier"/>
              </a:rPr>
              <a:t>Inline code:</a:t>
            </a:r>
            <a:r>
              <a:rPr/>
              <a:t> </a:t>
            </a:r>
            <a:r>
              <a:rPr>
                <a:latin typeface="Courier"/>
              </a:rPr>
              <a:t>`code`</a:t>
            </a:r>
            <a:r>
              <a:rPr/>
              <a:t> → </a:t>
            </a:r>
            <a:r>
              <a:rPr>
                <a:latin typeface="Courier"/>
              </a:rPr>
              <a:t>code</a:t>
            </a:r>
          </a:p>
          <a:p>
            <a:pPr lvl="0" indent="0" marL="1270000"/>
            <a:r>
              <a:rPr sz="2000"/>
              <a:t>Blockquote: </a:t>
            </a:r>
            <a:r>
              <a:rPr sz="2000">
                <a:latin typeface="Courier"/>
              </a:rPr>
              <a:t>&gt; Quote</a:t>
            </a:r>
            <a:r>
              <a:rPr sz="2000"/>
              <a:t> →</a:t>
            </a:r>
            <a:br/>
            <a:r>
              <a:rPr sz="2000"/>
              <a:t>“This is a quote”</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caption</a:t>
            </a:r>
          </a:p>
          <a:p>
            <a:pPr lvl="0"/>
            <a:r>
              <a:rPr/>
              <a:t>Centered image and caption below in italics</a:t>
            </a:r>
          </a:p>
          <a:p>
            <a:pPr lvl="0" indent="0" marL="0">
              <a:buNone/>
            </a:pPr>
          </a:p>
          <a:p>
            <a:pPr lvl="0" indent="0" marL="0">
              <a:buNone/>
            </a:pPr>
            <a:r>
              <a:rPr/>
              <a:t>This is a Penguin.</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Figure with bullet points</a:t>
            </a:r>
          </a:p>
          <a:p>
            <a:pPr lvl="0" indent="0" marL="0">
              <a:buNone/>
            </a:pPr>
          </a:p>
          <a:p>
            <a:pPr lvl="0"/>
            <a:r>
              <a:rPr/>
              <a:t>First bullet point</a:t>
            </a:r>
          </a:p>
          <a:p>
            <a:pPr lvl="0"/>
            <a:r>
              <a:rPr/>
              <a:t>Second bullet point</a:t>
            </a:r>
          </a:p>
          <a:p>
            <a:pPr lvl="0"/>
            <a:r>
              <a:rPr/>
              <a:t>Third bullet point</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Side-by-side figures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Stacked figures with text</a:t>
            </a:r>
          </a:p>
          <a:p>
            <a:pPr lvl="0" indent="0" marL="0">
              <a:buNone/>
            </a:pPr>
          </a:p>
          <a:p>
            <a:pPr lvl="0"/>
            <a:r>
              <a:rPr/>
              <a:t>First bullet point</a:t>
            </a:r>
          </a:p>
          <a:p>
            <a:pPr lvl="0"/>
            <a:r>
              <a:rPr/>
              <a:t>Second bullet point</a:t>
            </a:r>
          </a:p>
          <a:p>
            <a:pPr lvl="0"/>
            <a:r>
              <a:rPr/>
              <a:t>Third bullet point</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Two-column text slide</a:t>
            </a:r>
          </a:p>
          <a:p>
            <a:pPr lvl="0" indent="0" marL="0">
              <a:buNone/>
            </a:pPr>
            <a:r>
              <a:rPr b="1"/>
              <a:t>Column 1</a:t>
            </a:r>
          </a:p>
          <a:p>
            <a:pPr lvl="0" indent="0" marL="0">
              <a:buNone/>
            </a:pPr>
            <a:r>
              <a:rPr/>
              <a:t>Lorem ipsum dolor sit amet, consectetur adipiscing elit.</a:t>
            </a:r>
            <a:br/>
            <a:r>
              <a:rPr/>
              <a:t>Vivamus lacinia odio vitae vestibulum vestibulum.</a:t>
            </a:r>
            <a:br/>
            <a:r>
              <a:rPr/>
              <a:t>Cras venenatis euismod malesuada.</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Three-column text slide</a:t>
            </a:r>
          </a:p>
          <a:p>
            <a:pPr lvl="0" indent="0" marL="0">
              <a:buNone/>
            </a:pPr>
            <a:r>
              <a:rPr b="1"/>
              <a:t>Column 1</a:t>
            </a:r>
          </a:p>
          <a:p>
            <a:pPr lvl="0" indent="0" marL="0">
              <a:buNone/>
            </a:pPr>
            <a:r>
              <a:rPr/>
              <a:t>Lorem ipsum dolor sit amet, consectetur adipiscing elit.</a:t>
            </a:r>
            <a:br/>
            <a:r>
              <a:rPr/>
              <a:t>Vivamus lacinia odio vitae vestibulum vestibulum.</a:t>
            </a:r>
          </a:p>
          <a:p>
            <a:pPr lvl="0" indent="0" marL="0">
              <a:buNone/>
            </a:pPr>
            <a:r>
              <a:rPr b="1"/>
              <a:t>Column 2</a:t>
            </a:r>
          </a:p>
          <a:p>
            <a:pPr lvl="0" indent="0" marL="0">
              <a:buNone/>
            </a:pPr>
            <a:r>
              <a:rPr/>
              <a:t>Sed do eiusmod tempor incididunt ut labore et dolore magna aliqua.</a:t>
            </a:r>
            <a:br/>
            <a:r>
              <a:rPr/>
              <a:t>Ut enim ad minim veniam, quis nostrud exercitation ullamco laboris.</a:t>
            </a:r>
          </a:p>
          <a:p>
            <a:pPr lvl="0" indent="0" marL="0">
              <a:buNone/>
            </a:pPr>
            <a:r>
              <a:rPr b="1"/>
              <a:t>Column 3</a:t>
            </a:r>
          </a:p>
          <a:p>
            <a:pPr lvl="0" indent="0" marL="0">
              <a:buNone/>
            </a:pPr>
            <a:r>
              <a:rPr/>
              <a:t>Duis aute irure dolor in reprehenderit in voluptate velit esse cillum dolore eu fugiat nulla pariatur.</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Simple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Complex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Column 1</a:t>
                      </a:r>
                    </a:p>
                  </a:txBody>
                  <a:tcPr/>
                </a:tc>
                <a:tc>
                  <a:txBody>
                    <a:bodyPr/>
                    <a:lstStyle/>
                    <a:p>
                      <a:pPr lvl="0" indent="0" marL="0">
                        <a:buNone/>
                      </a:pPr>
                      <a:r>
                        <a:rPr/>
                        <a:t>Column 2</a:t>
                      </a:r>
                    </a:p>
                  </a:txBody>
                  <a:tcPr/>
                </a:tc>
                <a:tc>
                  <a:txBody>
                    <a:bodyPr/>
                    <a:lstStyle/>
                    <a:p>
                      <a:pPr lvl="0" indent="0" marL="0">
                        <a:buNone/>
                      </a:pPr>
                      <a:r>
                        <a:rPr/>
                        <a:t>Column 3</a:t>
                      </a:r>
                    </a:p>
                  </a:txBody>
                  <a:tcPr/>
                </a:tc>
              </a:tr>
              <a:tr h="0">
                <a:tc>
                  <a:txBody>
                    <a:bodyPr/>
                    <a:lstStyle/>
                    <a:p>
                      <a:pPr lvl="0" indent="0" marL="0">
                        <a:buNone/>
                      </a:pPr>
                      <a:r>
                        <a:rPr/>
                        <a:t>Row 1 Cell</a:t>
                      </a:r>
                    </a:p>
                  </a:txBody>
                </a:tc>
                <a:tc>
                  <a:txBody>
                    <a:bodyPr/>
                    <a:lstStyle/>
                    <a:p>
                      <a:pPr lvl="0" indent="0" marL="0">
                        <a:buNone/>
                      </a:pPr>
                      <a:r>
                        <a:rPr/>
                        <a:t>Row 1 Cell</a:t>
                      </a:r>
                    </a:p>
                  </a:txBody>
                </a:tc>
                <a:tc>
                  <a:txBody>
                    <a:bodyPr/>
                    <a:lstStyle/>
                    <a:p>
                      <a:pPr lvl="0" indent="0" marL="0">
                        <a:buNone/>
                      </a:pPr>
                      <a:r>
                        <a:rPr/>
                        <a:t>Row 1 Cell</a:t>
                      </a:r>
                    </a:p>
                  </a:txBody>
                </a:tc>
              </a:tr>
              <a:tr h="0">
                <a:tc>
                  <a:txBody>
                    <a:bodyPr/>
                    <a:lstStyle/>
                    <a:p>
                      <a:pPr lvl="0" indent="0" marL="0">
                        <a:buNone/>
                      </a:pPr>
                      <a:r>
                        <a:rPr/>
                        <a:t>Row 2 Cell</a:t>
                      </a:r>
                    </a:p>
                  </a:txBody>
                </a:tc>
                <a:tc>
                  <a:txBody>
                    <a:bodyPr/>
                    <a:lstStyle/>
                    <a:p>
                      <a:pPr lvl="0" indent="0" marL="0">
                        <a:buNone/>
                      </a:pPr>
                      <a:r>
                        <a:rPr/>
                        <a:t>Row 2 Cell</a:t>
                      </a:r>
                    </a:p>
                  </a:txBody>
                </a:tc>
                <a:tc>
                  <a:txBody>
                    <a:bodyPr/>
                    <a:lstStyle/>
                    <a:p>
                      <a:pPr lvl="0" indent="0" marL="0">
                        <a:buNone/>
                      </a:pPr>
                      <a:r>
                        <a:rPr/>
                        <a:t>Row 2 Cell</a:t>
                      </a:r>
                    </a:p>
                  </a:txBody>
                </a:tc>
              </a:tr>
              <a:tr h="0">
                <a:tc>
                  <a:txBody>
                    <a:bodyPr/>
                    <a:lstStyle/>
                    <a:p>
                      <a:pPr lvl="0" indent="0" marL="0">
                        <a:buNone/>
                      </a:pPr>
                      <a:r>
                        <a:rPr/>
                        <a:t>Row 3 Cell</a:t>
                      </a:r>
                    </a:p>
                  </a:txBody>
                </a:tc>
                <a:tc>
                  <a:txBody>
                    <a:bodyPr/>
                    <a:lstStyle/>
                    <a:p>
                      <a:pPr lvl="0" indent="0" marL="0">
                        <a:buNone/>
                      </a:pPr>
                      <a:r>
                        <a:rPr/>
                        <a:t>Row 3 Cell</a:t>
                      </a:r>
                    </a:p>
                  </a:txBody>
                </a:tc>
                <a:tc>
                  <a:txBody>
                    <a:bodyPr/>
                    <a:lstStyle/>
                    <a:p>
                      <a:pPr lvl="0" indent="0" marL="0">
                        <a:buNone/>
                      </a:pPr>
                      <a:r>
                        <a:rPr/>
                        <a:t>Row 3 Cell</a:t>
                      </a:r>
                    </a:p>
                  </a:txBody>
                </a:tc>
              </a:tr>
              <a:tr h="0">
                <a:tc>
                  <a:txBody>
                    <a:bodyPr/>
                    <a:lstStyle/>
                    <a:p>
                      <a:pPr lvl="0" indent="0" marL="0">
                        <a:buNone/>
                      </a:pPr>
                      <a:r>
                        <a:rPr/>
                        <a:t>Row 4 Cell</a:t>
                      </a:r>
                    </a:p>
                  </a:txBody>
                </a:tc>
                <a:tc>
                  <a:txBody>
                    <a:bodyPr/>
                    <a:lstStyle/>
                    <a:p>
                      <a:pPr lvl="0" indent="0" marL="0">
                        <a:buNone/>
                      </a:pPr>
                      <a:r>
                        <a:rPr/>
                        <a:t>Row 4 Cell</a:t>
                      </a:r>
                    </a:p>
                  </a:txBody>
                </a:tc>
                <a:tc>
                  <a:txBody>
                    <a:bodyPr/>
                    <a:lstStyle/>
                    <a:p>
                      <a:pPr lvl="0" indent="0" marL="0">
                        <a:buNone/>
                      </a:pPr>
                      <a:r>
                        <a:rPr/>
                        <a:t>Row 4 Cell</a:t>
                      </a:r>
                    </a:p>
                  </a:txBody>
                </a:tc>
              </a:tr>
            </a:tbl>
          </a:graphicData>
        </a:graphic>
      </p:graphicFrame>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Task list</a:t>
            </a:r>
          </a:p>
          <a:p>
            <a:pPr lvl="0"/>
            <a:r>
              <a:rPr/>
              <a:t>☒ Done</a:t>
            </a:r>
          </a:p>
          <a:p>
            <a:pPr lvl="0"/>
            <a:r>
              <a:rPr/>
              <a:t>☐ To do</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Embedding videos</a:t>
            </a:r>
          </a:p>
          <a:p>
            <a:pPr lvl="0" indent="0" marL="0">
              <a:buNone/>
            </a:pPr>
            <a:r>
              <a:rPr/>
              <a:t> </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Code blocks</a:t>
            </a:r>
          </a:p>
          <a:p>
            <a:pPr lvl="0" indent="0">
              <a:buNone/>
            </a:pPr>
            <a:r>
              <a:rPr>
                <a:solidFill>
                  <a:srgbClr val="5E5E5E"/>
                </a:solidFill>
                <a:latin typeface="Courier"/>
              </a:rPr>
              <a:t># A basic R code chunk</a:t>
            </a:r>
            <a:br/>
            <a:r>
              <a:rPr>
                <a:solidFill>
                  <a:srgbClr val="003B4F"/>
                </a:solidFill>
                <a:latin typeface="Courier"/>
              </a:rPr>
              <a:t>x &lt;- </a:t>
            </a:r>
            <a:r>
              <a:rPr>
                <a:solidFill>
                  <a:srgbClr val="AD0000"/>
                </a:solidFill>
                <a:latin typeface="Courier"/>
              </a:rPr>
              <a:t>1</a:t>
            </a:r>
            <a:r>
              <a:rPr>
                <a:solidFill>
                  <a:srgbClr val="5E5E5E"/>
                </a:solidFill>
                <a:latin typeface="Courier"/>
              </a:rPr>
              <a:t>:</a:t>
            </a:r>
            <a:r>
              <a:rPr>
                <a:solidFill>
                  <a:srgbClr val="AD0000"/>
                </a:solidFill>
                <a:latin typeface="Courier"/>
              </a:rPr>
              <a:t>10</a:t>
            </a:r>
            <a:br/>
            <a:r>
              <a:rPr>
                <a:solidFill>
                  <a:srgbClr val="4758AB"/>
                </a:solidFill>
                <a:latin typeface="Courier"/>
              </a:rPr>
              <a:t>mean</a:t>
            </a:r>
            <a:r>
              <a:rPr>
                <a:solidFill>
                  <a:srgbClr val="003B4F"/>
                </a:solidFill>
                <a:latin typeface="Courier"/>
              </a:rPr>
              <a:t>(x)</a:t>
            </a:r>
          </a:p>
          <a:p>
            <a:pPr lvl="0" indent="0">
              <a:buNone/>
            </a:pPr>
            <a:r>
              <a:rPr>
                <a:latin typeface="Courier"/>
              </a:rPr>
              <a:t>[1] 5.5</a:t>
            </a:r>
          </a:p>
          <a:p>
            <a:pPr lvl="0" indent="0">
              <a:buNone/>
            </a:pPr>
            <a:r>
              <a:rPr>
                <a:solidFill>
                  <a:srgbClr val="5E5E5E"/>
                </a:solidFill>
                <a:latin typeface="Courier"/>
              </a:rPr>
              <a:t># A simple plot</a:t>
            </a:r>
            <a:br/>
            <a:r>
              <a:rPr>
                <a:solidFill>
                  <a:srgbClr val="4758AB"/>
                </a:solidFill>
                <a:latin typeface="Courier"/>
              </a:rPr>
              <a:t>hist</a:t>
            </a:r>
            <a:r>
              <a:rPr>
                <a:solidFill>
                  <a:srgbClr val="003B4F"/>
                </a:solidFill>
                <a:latin typeface="Courier"/>
              </a:rPr>
              <a:t>(</a:t>
            </a:r>
            <a:r>
              <a:rPr>
                <a:solidFill>
                  <a:srgbClr val="4758AB"/>
                </a:solidFill>
                <a:latin typeface="Courier"/>
              </a:rPr>
              <a:t>rnorm</a:t>
            </a:r>
            <a:r>
              <a:rPr>
                <a:solidFill>
                  <a:srgbClr val="003B4F"/>
                </a:solidFill>
                <a:latin typeface="Courier"/>
              </a:rPr>
              <a:t>(</a:t>
            </a:r>
            <a:r>
              <a:rPr>
                <a:solidFill>
                  <a:srgbClr val="AD0000"/>
                </a:solidFill>
                <a:latin typeface="Courier"/>
              </a:rPr>
              <a:t>100</a:t>
            </a:r>
            <a:r>
              <a:rPr>
                <a:solidFill>
                  <a:srgbClr val="003B4F"/>
                </a:solidFill>
                <a:latin typeface="Courier"/>
              </a:rPr>
              <a:t>), </a:t>
            </a:r>
            <a:r>
              <a:rPr>
                <a:solidFill>
                  <a:srgbClr val="657422"/>
                </a:solidFill>
                <a:latin typeface="Courier"/>
              </a:rPr>
              <a:t>main =</a:t>
            </a:r>
            <a:r>
              <a:rPr>
                <a:solidFill>
                  <a:srgbClr val="003B4F"/>
                </a:solidFill>
                <a:latin typeface="Courier"/>
              </a:rPr>
              <a:t> </a:t>
            </a:r>
            <a:r>
              <a:rPr>
                <a:solidFill>
                  <a:srgbClr val="20794D"/>
                </a:solidFill>
                <a:latin typeface="Courier"/>
              </a:rPr>
              <a:t>"Histogram of Random Normals"</a:t>
            </a:r>
            <a:r>
              <a:rPr>
                <a:solidFill>
                  <a:srgbClr val="003B4F"/>
                </a:solidFill>
                <a:latin typeface="Courier"/>
              </a:rPr>
              <a:t>)</a:t>
            </a:r>
          </a:p>
        </p:txBody>
      </p:sp>
      <p:pic>
        <p:nvPicPr>
          <p:cNvPr descr="PMM-M1-S1-Constructive-Alignment-slides_files/figure-pptx/unnamed-chunk-1-1.png" id="0" name="Picture 1"/>
          <p:cNvPicPr>
            <a:picLocks noGrp="1" noChangeAspect="1"/>
          </p:cNvPicPr>
          <p:nvPr/>
        </p:nvPicPr>
        <p:blipFill>
          <a:blip r:embed="rId2"/>
          <a:stretch>
            <a:fillRect/>
          </a:stretch>
        </p:blipFill>
        <p:spPr bwMode="auto">
          <a:xfrm>
            <a:off x="3568700" y="1117600"/>
            <a:ext cx="5105400" cy="2552700"/>
          </a:xfrm>
          <a:prstGeom prst="rect">
            <a:avLst/>
          </a:prstGeom>
          <a:noFill/>
          <a:ln w="9525">
            <a:noFill/>
            <a:headEnd/>
            <a:tailEnd/>
          </a:ln>
        </p:spPr>
      </p:pic>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Attribution and license details</a:t>
            </a:r>
          </a:p>
          <a:p>
            <a:pPr lvl="0"/>
            <a:r>
              <a:rPr/>
              <a:t>This slide should contain information about the license and attribution details of this current set of slides.</a:t>
            </a:r>
          </a:p>
          <a:p>
            <a:pPr lvl="0"/>
            <a:r>
              <a:rPr/>
              <a:t>The default for the created materials is </a:t>
            </a:r>
            <a:r>
              <a:rPr>
                <a:hlinkClick r:id="rId2"/>
              </a:rPr>
              <a:t>CC-BY-SA 4.0</a:t>
            </a:r>
          </a:p>
          <a:p>
            <a:pPr lvl="1"/>
            <a:r>
              <a:rPr/>
              <a:t>= Creative Commons license that allows others to </a:t>
            </a:r>
            <a:r>
              <a:rPr b="1"/>
              <a:t>share, adapt, and build upon</a:t>
            </a:r>
            <a:r>
              <a:rPr/>
              <a:t> the original work</a:t>
            </a:r>
          </a:p>
          <a:p>
            <a:pPr lvl="1"/>
            <a:r>
              <a:rPr b="1"/>
              <a:t>only</a:t>
            </a:r>
            <a:r>
              <a:rPr/>
              <a:t> if they attribute the creator and also share their new work under the </a:t>
            </a:r>
            <a:r>
              <a:rPr b="1"/>
              <a:t>same terms</a:t>
            </a:r>
          </a:p>
          <a:p>
            <a:pPr lvl="1"/>
            <a:r>
              <a:rPr/>
              <a:t>allows for both </a:t>
            </a:r>
            <a:r>
              <a:rPr b="1"/>
              <a:t>commercial and non-commercial</a:t>
            </a:r>
            <a:r>
              <a:rPr/>
              <a:t> use of the licensed material</a:t>
            </a:r>
          </a:p>
          <a:p>
            <a:pPr lvl="0"/>
            <a:r>
              <a:rPr/>
              <a:t>Components of attributions:</a:t>
            </a:r>
          </a:p>
          <a:p>
            <a:pPr lvl="1"/>
            <a:r>
              <a:rPr>
                <a:latin typeface="Courier"/>
              </a:rPr>
              <a:t>Title</a:t>
            </a:r>
          </a:p>
          <a:p>
            <a:pPr lvl="1"/>
            <a:r>
              <a:rPr>
                <a:latin typeface="Courier"/>
              </a:rPr>
              <a:t>Author</a:t>
            </a:r>
          </a:p>
          <a:p>
            <a:pPr lvl="1"/>
            <a:r>
              <a:rPr>
                <a:latin typeface="Courier"/>
              </a:rPr>
              <a:t>Source</a:t>
            </a:r>
          </a:p>
          <a:p>
            <a:pPr lvl="1"/>
            <a:r>
              <a:rPr>
                <a:latin typeface="Courier"/>
              </a:rPr>
              <a:t>License</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Example attribution (for previous slide)</a:t>
            </a:r>
          </a:p>
          <a:p>
            <a:pPr lvl="0" indent="0" marL="0">
              <a:buNone/>
            </a:pPr>
            <a:r>
              <a:rPr/>
              <a:t>“</a:t>
            </a:r>
            <a:r>
              <a:rPr>
                <a:hlinkClick r:id="rId2"/>
              </a:rPr>
              <a:t>Tutorial template for student track</a:t>
            </a:r>
            <a:r>
              <a:rPr/>
              <a:t>” by Sarah von Grebmer is licensed under </a:t>
            </a:r>
            <a:r>
              <a:rPr>
                <a:hlinkClick r:id="rId3"/>
              </a:rPr>
              <a:t>CC-BY-SA 4.0</a:t>
            </a:r>
            <a:r>
              <a:rPr/>
              <a: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Constructional Alignment and Learning Goals</dc:title>
  <dc:creator>Sarah von Grebmer</dc:creator>
  <cp:keywords/>
  <dcterms:created xsi:type="dcterms:W3CDTF">2025-08-20T14:25:50Z</dcterms:created>
  <dcterms:modified xsi:type="dcterms:W3CDTF">2025-08-20T14:25:50Z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20/08/2025</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