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notesMaster" Target="notesMasters/notesMaster1.xml" /><Relationship Id="rId75" Type="http://schemas.openxmlformats.org/officeDocument/2006/relationships/viewProps" Target="viewProps.xml" /><Relationship Id="rId74" Type="http://schemas.openxmlformats.org/officeDocument/2006/relationships/presProps" Target="presProps.xml" /><Relationship Id="rId1" Type="http://schemas.openxmlformats.org/officeDocument/2006/relationships/slideMaster" Target="slideMasters/slideMaster1.xml" /><Relationship Id="rId77" Type="http://schemas.openxmlformats.org/officeDocument/2006/relationships/tableStyles" Target="tableStyles.xml" /><Relationship Id="rId7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teaching experience they have.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experiences. Involve your audience as early as possible, so that they pay attention in case they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they think about didactics.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didactic thinking processes.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the audiences are they already train or teach. For online participants: Ask them to indicate their target audience size on the screen. Pick out two different people to discuss their repsectie target audiences.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of interactive white board/ interactive document.  Collect interactively: Which factors were important for your learnng process during your lest workshop/seminar/course? When do you learn worst?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what this could mean for the audience concretely. Call out specific names of audience members.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if someone in your audience has already heard about this concept. Ask to provide examples. ‘In constructive alignment, we start with the outcomes we intend students to learn, and align teaching and assessment to those outcomes. The outcome statements contain a learning activity, a verb, [that] verb says what the relevant learning activities are that the students need to undertake in order to attain the intended learning outcome. Learning is constructed by what activities the students carry out; learning is about what they do, not about what we teachers do. Likewise, assessment is about how well they achieve the intended outcomes, not about how well they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Example: Learning objective = conducting an anamnestic interview with a patient. Teaching activites = role plays. Assessment task = Anamnestic interview with fake/real patient.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Pick a learning goal from previous examples or collect learning goals interactively. Examine learning goals more closely in the group and discuss what could be a suitable learning goal and why/why not. Focus on what verbs are being used.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do you think are key aspects of a positive attitude towards your audience? Collect on papers and then try to sort into verbally, body language and methods.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Collect examples for each one of the bullet points and what they could mean - add to the existing papers.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Interactively ask participants to provide feedback on the selected method, delivery and improvement points.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Base yourself on conceptual change theory and examine exisiting concepts in relation to some key terms.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 90-minute lesson, the instructor should try to “lecture” for only 20 minutes, students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vonGrebmer/Template-Slides-Students" TargetMode="External" /><Relationship Id="rId3" Type="http://schemas.openxmlformats.org/officeDocument/2006/relationships/hyperlink" Target="https://creativecommons.org/licenses/by/4.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Constructional Alignment and Learning Goals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Sarah von Grebmer</a:t>
            </a:r>
          </a:p>
        </p:txBody>
      </p:sp>
      <p:sp>
        <p:nvSpPr>
          <p:cNvPr id="4" name="Date Placeholder 3"/>
          <p:cNvSpPr>
            <a:spLocks noGrp="1"/>
          </p:cNvSpPr>
          <p:nvPr>
            <p:ph idx="10" sz="half" type="dt"/>
          </p:nvPr>
        </p:nvSpPr>
        <p:spPr/>
        <p:txBody>
          <a:bodyPr/>
          <a:lstStyle/>
          <a:p>
            <a:pPr lvl="0" indent="0" marL="0">
              <a:buNone/>
            </a:pPr>
            <a:r>
              <a:rPr/>
              <a:t>13/08/2025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sumodule’s topic.</a:t>
            </a:r>
          </a:p>
          <a:p>
            <a:pPr lvl="0"/>
            <a:r>
              <a:rPr/>
              <a:t>Use free survey software such as or other survey software (particify,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a:r>
              <a:rPr b="1"/>
              <a:t>Aim</a:t>
            </a:r>
            <a:r>
              <a:rPr/>
              <a:t>: Place the topic of the current submodule within a broader context.</a:t>
            </a:r>
          </a:p>
          <a:p>
            <a:pPr lvl="0"/>
            <a:r>
              <a:rPr/>
              <a:t>Remind students what you are working towards and what the bigger picture is.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in this session</a:t>
            </a:r>
          </a:p>
          <a:p>
            <a:pPr lvl="0"/>
            <a:r>
              <a:rPr b="1"/>
              <a:t>Aim</a:t>
            </a:r>
            <a:r>
              <a:rPr/>
              <a:t>: This slides serves as an overview of the topics that are discussed, presented as bullet point:</a:t>
            </a:r>
          </a:p>
          <a:p>
            <a:pPr lvl="0" indent="0" marL="0">
              <a:buNone/>
            </a:pPr>
            <a:r>
              <a:rPr b="1"/>
              <a:t>(for now copied from Didactis2 go, use as basis only)</a:t>
            </a:r>
          </a:p>
          <a:p>
            <a:pPr lvl="0"/>
            <a:r>
              <a:rPr/>
              <a:t>Constructivism</a:t>
            </a:r>
          </a:p>
          <a:p>
            <a:pPr lvl="0"/>
            <a:r>
              <a:rPr/>
              <a:t>Constructive alignment</a:t>
            </a:r>
          </a:p>
          <a:p>
            <a:pPr lvl="0"/>
            <a:r>
              <a:rPr/>
              <a:t>Setting learning goals</a:t>
            </a:r>
          </a:p>
          <a:p>
            <a:pPr lvl="0"/>
            <a:r>
              <a:rPr/>
              <a:t>AVIVA-Schema</a:t>
            </a:r>
          </a:p>
          <a:p>
            <a:pPr lvl="0"/>
            <a:r>
              <a:rPr/>
              <a:t>Activation methods</a:t>
            </a:r>
          </a:p>
          <a:p>
            <a:pPr lvl="0"/>
            <a:r>
              <a:rPr/>
              <a:t>Reflection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teaching experience do you have?</a:t>
            </a:r>
          </a:p>
          <a:p>
            <a:pPr lvl="0"/>
            <a:r>
              <a:rPr/>
              <a:t>e.g., workshops, peer training, (guest) lectures etc.</a:t>
            </a:r>
          </a:p>
          <a:p>
            <a:pPr lvl="0" indent="0" marL="0">
              <a:buNone/>
            </a:pPr>
            <a:r>
              <a:rPr/>
              <a:t> </a:t>
            </a:r>
          </a:p>
        </p:txBody>
      </p:sp>
      <p:pic>
        <p:nvPicPr>
          <p:cNvPr descr="images/experience-spectrum.png" id="0" name="Picture 1"/>
          <p:cNvPicPr>
            <a:picLocks noGrp="1" noChangeAspect="1"/>
          </p:cNvPicPr>
          <p:nvPr/>
        </p:nvPicPr>
        <p:blipFill>
          <a:blip r:embed="rId3"/>
          <a:stretch>
            <a:fillRect/>
          </a:stretch>
        </p:blipFill>
        <p:spPr bwMode="auto">
          <a:xfrm>
            <a:off x="3568700" y="1866900"/>
            <a:ext cx="5105400" cy="10541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have you already thought about didactics?</a:t>
            </a:r>
          </a:p>
          <a:p>
            <a:pPr lvl="0" indent="0" marL="0">
              <a:buNone/>
            </a:pPr>
            <a:r>
              <a:rPr/>
              <a:t>  </a:t>
            </a:r>
          </a:p>
        </p:txBody>
      </p:sp>
      <p:pic>
        <p:nvPicPr>
          <p:cNvPr descr="images/didactics-thoughts-spectrum.png" id="0" name="Picture 1"/>
          <p:cNvPicPr>
            <a:picLocks noGrp="1" noChangeAspect="1"/>
          </p:cNvPicPr>
          <p:nvPr/>
        </p:nvPicPr>
        <p:blipFill>
          <a:blip r:embed="rId3"/>
          <a:stretch>
            <a:fillRect/>
          </a:stretch>
        </p:blipFill>
        <p:spPr bwMode="auto">
          <a:xfrm>
            <a:off x="3568700" y="1854200"/>
            <a:ext cx="5105400" cy="1079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big are your teaching/training audiences?</a:t>
            </a:r>
          </a:p>
          <a:p>
            <a:pPr lvl="0" indent="0" marL="0">
              <a:buNone/>
            </a:pPr>
            <a:r>
              <a:rPr/>
              <a:t>  </a:t>
            </a:r>
          </a:p>
        </p:txBody>
      </p:sp>
      <p:pic>
        <p:nvPicPr>
          <p:cNvPr descr="images/audience.png" id="0" name="Picture 1"/>
          <p:cNvPicPr>
            <a:picLocks noGrp="1" noChangeAspect="1"/>
          </p:cNvPicPr>
          <p:nvPr/>
        </p:nvPicPr>
        <p:blipFill>
          <a:blip r:embed="rId3"/>
          <a:stretch>
            <a:fillRect/>
          </a:stretch>
        </p:blipFill>
        <p:spPr bwMode="auto">
          <a:xfrm>
            <a:off x="3568700" y="2057400"/>
            <a:ext cx="5105400" cy="6731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in learning</a:t>
            </a:r>
          </a:p>
          <a:p>
            <a:pPr lvl="0" indent="0" marL="0">
              <a:buNone/>
            </a:pPr>
            <a:r>
              <a:rPr/>
              <a:t>As a process, learning is …</a:t>
            </a:r>
          </a:p>
          <a:p>
            <a:pPr lvl="0"/>
            <a:r>
              <a:rPr/>
              <a:t>active and self-controlled</a:t>
            </a:r>
          </a:p>
          <a:p>
            <a:pPr lvl="0"/>
            <a:r>
              <a:rPr/>
              <a:t>student-centered</a:t>
            </a:r>
          </a:p>
          <a:p>
            <a:pPr lvl="0"/>
            <a:r>
              <a:rPr/>
              <a:t>integrated in a broader context and a positive learning atmosphere</a:t>
            </a:r>
          </a:p>
          <a:p>
            <a:pPr lvl="0"/>
            <a:r>
              <a:rPr/>
              <a:t>social and emotional</a:t>
            </a:r>
          </a:p>
          <a:p>
            <a:pPr lvl="0" indent="0" marL="0">
              <a:buNone/>
            </a:pPr>
            <a:r>
              <a:rPr/>
              <a:t>Efgivia et al., 2021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Core aspects</a:t>
            </a:r>
          </a:p>
          <a:p>
            <a:pPr lvl="0"/>
            <a:r>
              <a:rPr/>
              <a:t>Knowledge is actively constructed by the learner, not imposed</a:t>
            </a:r>
          </a:p>
          <a:p>
            <a:pPr lvl="0"/>
            <a:r>
              <a:rPr/>
              <a:t>Learners bring exisiting concepts to learning situations</a:t>
            </a:r>
          </a:p>
          <a:p>
            <a:pPr lvl="1"/>
            <a:r>
              <a:rPr/>
              <a:t>Existing ideas need to be incroporated into teaching in order to challenge/change these</a:t>
            </a:r>
          </a:p>
          <a:p>
            <a:pPr lvl="0"/>
            <a:r>
              <a:rPr/>
              <a:t>Learners construct knowledge through interaction with physical world/ social settings and within specific cultural/linguistic environments</a:t>
            </a:r>
          </a:p>
          <a:p>
            <a:pPr lvl="0"/>
            <a:r>
              <a:rPr/>
              <a:t>Learning environment is integrated into the learning process</a:t>
            </a:r>
          </a:p>
          <a:p>
            <a:pPr lvl="0" indent="0" marL="0">
              <a:buNone/>
            </a:pPr>
            <a:r>
              <a:rPr/>
              <a:t>Sjoberg, 2010; Tauber, 2006</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Constructional alignment</a:t>
            </a:r>
          </a:p>
          <a:p>
            <a:pPr lvl="0" indent="0" marL="0">
              <a:buNone/>
            </a:pPr>
            <a:r>
              <a:rPr/>
              <a:t>Focus here on learning objectives: what do we want (our audience) to achieve?</a:t>
            </a:r>
          </a:p>
        </p:txBody>
      </p:sp>
      <p:pic>
        <p:nvPicPr>
          <p:cNvPr descr="images/constructional-alignment.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“Hierarchy” learning objectives</a:t>
            </a:r>
          </a:p>
          <a:p>
            <a:pPr lvl="0"/>
            <a:r>
              <a:rPr/>
              <a:t>What is the general objective of this course?</a:t>
            </a:r>
          </a:p>
          <a:p>
            <a:pPr lvl="0"/>
            <a:r>
              <a:rPr/>
              <a:t>What are specific individual learning objectives?</a:t>
            </a:r>
          </a:p>
        </p:txBody>
      </p:sp>
      <p:pic>
        <p:nvPicPr>
          <p:cNvPr descr="images/objectives-hierarchy.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Bloom’s taxonomy</a:t>
            </a:r>
          </a:p>
          <a:p>
            <a:pPr lvl="0"/>
            <a:r>
              <a:rPr/>
              <a:t>Three learning domains: cognitive, affective, psychomotor (https://teaching.uic.edu/cate-teaching-guides/syllabus-course-design/blooms-taxonomy-of-educational-objectives/)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psychomotoric</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characterising</a:t>
                      </a:r>
                    </a:p>
                  </a:txBody>
                </a:tc>
                <a:tc>
                  <a:txBody>
                    <a:bodyPr/>
                    <a:lstStyle/>
                    <a:p>
                      <a:pPr lvl="0" indent="0" marL="0" algn="ctr">
                        <a:buNone/>
                      </a:pPr>
                      <a:r>
                        <a:rPr/>
                        <a:t>complex overt response</a:t>
                      </a:r>
                    </a:p>
                  </a:txBody>
                </a:tc>
              </a:tr>
              <a:tr h="0">
                <a:tc>
                  <a:txBody>
                    <a:bodyPr/>
                    <a:lstStyle/>
                    <a:p>
                      <a:pPr lvl="0" indent="0" marL="0" algn="ctr">
                        <a:buNone/>
                      </a:pPr>
                      <a:r>
                        <a:rPr/>
                        <a:t>analyse</a:t>
                      </a:r>
                    </a:p>
                  </a:txBody>
                </a:tc>
                <a:tc>
                  <a:txBody>
                    <a:bodyPr/>
                    <a:lstStyle/>
                    <a:p>
                      <a:pPr lvl="0" indent="0" marL="0" algn="ctr">
                        <a:buNone/>
                      </a:pPr>
                      <a:r>
                        <a:rPr/>
                        <a:t>organising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slides on learning goals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Examples</a:t>
            </a:r>
          </a:p>
          <a:p>
            <a:pPr lvl="0" indent="0" marL="0">
              <a:buNone/>
            </a:pPr>
            <a:r>
              <a:rPr/>
              <a:t>Can you think of examples from your own experience on what aligned learning outcomes, assessment tasks and teaching activities could look like in practise?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Formulating learning objectives</a:t>
            </a:r>
          </a:p>
        </p:txBody>
      </p:sp>
      <p:pic>
        <p:nvPicPr>
          <p:cNvPr descr="images/formulating-learning-objectives.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Example: Formulate one learning objective for your own seminar.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Structuring your course</a:t>
            </a:r>
          </a:p>
          <a:p>
            <a:pPr lvl="0"/>
            <a:r>
              <a:rPr/>
              <a:t>Check your working conditions: how much time do I have? How long are the sessions? Mielstones?</a:t>
            </a:r>
          </a:p>
          <a:p>
            <a:pPr lvl="0"/>
            <a:r>
              <a:rPr/>
              <a:t>Plan time for orientation during first and last session: who is who? What is happening? What is expected? What remains unclear?</a:t>
            </a:r>
          </a:p>
          <a:p>
            <a:pPr lvl="0"/>
            <a:r>
              <a:rPr/>
              <a:t>Formulate learning objectives for course</a:t>
            </a:r>
          </a:p>
          <a:p>
            <a:pPr lvl="0"/>
            <a:r>
              <a:rPr/>
              <a:t>Formulate learning objectives for each session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 towards your audience</a:t>
            </a:r>
          </a:p>
          <a:p>
            <a:pPr lvl="0" indent="0" marL="0">
              <a:buNone/>
            </a:pPr>
            <a:r>
              <a:rPr/>
              <a:t>What can you do to create a positive learning environment?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Verbal</a:t>
            </a:r>
          </a:p>
          <a:p>
            <a:pPr lvl="0"/>
            <a:r>
              <a:rPr/>
              <a:t>Small-talk (yes, it is important)</a:t>
            </a:r>
          </a:p>
          <a:p>
            <a:pPr lvl="0"/>
            <a:r>
              <a:rPr/>
              <a:t>Call by name</a:t>
            </a:r>
          </a:p>
          <a:p>
            <a:pPr lvl="0"/>
            <a:r>
              <a:rPr/>
              <a:t>Validate and show appreciation</a:t>
            </a:r>
          </a:p>
          <a:p>
            <a:pPr lvl="0"/>
            <a:r>
              <a:rPr/>
              <a:t>Paraphrase what audience members express</a:t>
            </a:r>
          </a:p>
          <a:p>
            <a:pPr lvl="0"/>
            <a:r>
              <a:rPr/>
              <a:t>Give tangible examples</a:t>
            </a:r>
          </a:p>
          <a:p>
            <a:pPr lvl="0"/>
            <a:r>
              <a:rPr/>
              <a:t>Ask open questions</a:t>
            </a:r>
          </a:p>
          <a:p>
            <a:pPr lvl="0"/>
            <a:r>
              <a:rPr/>
              <a:t>Accept silences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body language</a:t>
            </a:r>
          </a:p>
          <a:p>
            <a:pPr lvl="0"/>
            <a:r>
              <a:rPr/>
              <a:t>Maintain eye contact with students</a:t>
            </a:r>
          </a:p>
          <a:p>
            <a:pPr lvl="0"/>
            <a:r>
              <a:rPr/>
              <a:t>Use non-verbal communication (shake head, use hands)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methods</a:t>
            </a:r>
          </a:p>
          <a:p>
            <a:pPr lvl="0"/>
            <a:r>
              <a:rPr/>
              <a:t>Have introductory round</a:t>
            </a:r>
          </a:p>
          <a:p>
            <a:pPr lvl="0"/>
            <a:r>
              <a:rPr/>
              <a:t>Motivate audience to get involved as early as possible</a:t>
            </a:r>
          </a:p>
          <a:p>
            <a:pPr lvl="0"/>
            <a:r>
              <a:rPr/>
              <a:t>Observe the room</a:t>
            </a:r>
          </a:p>
          <a:p>
            <a:pPr lvl="0"/>
            <a:r>
              <a:rPr/>
              <a:t>Use different visualisation methods/tools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Interactive teaching methods</a:t>
            </a:r>
          </a:p>
          <a:p>
            <a:pPr lvl="0" indent="0" marL="0">
              <a:buNone/>
            </a:pPr>
            <a:r>
              <a:rPr/>
              <a:t>transition to activation method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a:t>
            </a:r>
          </a:p>
          <a:p>
            <a:pPr lvl="0" indent="0" marL="0">
              <a:buNone/>
            </a:pPr>
            <a:r>
              <a:rPr/>
              <a:t>Take 20 minutes in pairs to practise an activation method of your choice in the context of a topic of your choice. Each pair demonstrates the activity in “class”, with the rest acting as audience.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Literature</a:t>
            </a:r>
          </a:p>
          <a:p>
            <a:pPr lvl="0"/>
            <a:r>
              <a:rPr/>
              <a:t>Antosch-Bardohn, J. (2018): Nicht-intentionale Lernprozesse im Alltag von Studierenden. Logos Verlag.</a:t>
            </a:r>
          </a:p>
          <a:p>
            <a:pPr lvl="0"/>
            <a:r>
              <a:rPr/>
              <a:t>Antosch-Bardohn, J., Beege, B., &amp; Primus, N. (2019). In die Lehre starten. UTB GmbH.</a:t>
            </a:r>
          </a:p>
          <a:p>
            <a:pPr lvl="0"/>
            <a:r>
              <a:rPr/>
              <a:t>Antosch-Bardohn, J. (2019): “Für mein Thema brennen die Studis” - Lernmotivation in der Hochschullehre. In: Neues Handbuch Hochschullehre. Nummer 89, S. 1-18.</a:t>
            </a:r>
          </a:p>
          <a:p>
            <a:pPr lvl="0"/>
            <a:r>
              <a:rPr/>
              <a:t>Hofmann, E. &amp; Löhle, M. (2004). Erfolgreich lernen. Hogrefe Verlag.</a:t>
            </a:r>
          </a:p>
          <a:p>
            <a:pPr lvl="0"/>
            <a:r>
              <a:rPr/>
              <a:t>Kergel, D. &amp; Heidkamp-Kergel, B. (2020). E-Learning, EDidaktik und digitales Lernen. Springer VS.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indent="0" marL="0">
              <a:spcBef>
                <a:spcPts val="3000"/>
              </a:spcBef>
              <a:buNone/>
            </a:pPr>
            <a:r>
              <a:rPr b="1"/>
              <a:t>Use free survey software such as or other survey software (particify, formR) to establish the following questions (shown on separate slides):</a:t>
            </a:r>
          </a:p>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or other survey software (particify, formR) to establish the following questions (shown on separate slides):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M1-S1-Constructive-Alignment-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Attribution and license details</a:t>
            </a:r>
          </a:p>
          <a:p>
            <a:pPr lvl="0"/>
            <a:r>
              <a:rPr/>
              <a:t>This slide should contain information about the license and attribution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attribution (for previous slide)</a:t>
            </a:r>
          </a:p>
          <a:p>
            <a:pPr lvl="0" indent="0" marL="0">
              <a:buNone/>
            </a:pPr>
            <a:r>
              <a:rPr/>
              <a:t>“</a:t>
            </a:r>
            <a:r>
              <a:rPr>
                <a:hlinkClick r:id="rId2"/>
              </a:rPr>
              <a:t>Tutorial template for student track</a:t>
            </a:r>
            <a:r>
              <a:rPr/>
              <a:t>” by Sarah von Grebmer is licensed under </a:t>
            </a:r>
            <a:r>
              <a:rPr>
                <a:hlinkClick r:id="rId3"/>
              </a:rPr>
              <a:t>CC-BY-SA 4.0</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Constructional Alignment and Learning Goals</dc:title>
  <dc:creator>Sarah von Grebmer</dc:creator>
  <cp:keywords/>
  <dcterms:created xsi:type="dcterms:W3CDTF">2025-08-13T15:15:33Z</dcterms:created>
  <dcterms:modified xsi:type="dcterms:W3CDTF">2025-08-13T15:15:33Z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13/08/2025</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